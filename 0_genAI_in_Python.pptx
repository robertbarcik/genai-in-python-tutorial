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3" r:id="rId5"/>
    <p:sldMasterId id="2147483684" r:id="rId6"/>
    <p:sldMasterId id="2147483685" r:id="rId7"/>
    <p:sldMasterId id="2147483686"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Lst>
  <p:sldSz cy="5143500" cx="9144000"/>
  <p:notesSz cx="6858000" cy="9144000"/>
  <p:embeddedFontLst>
    <p:embeddedFont>
      <p:font typeface="Nunito"/>
      <p:regular r:id="rId27"/>
      <p:bold r:id="rId28"/>
      <p:italic r:id="rId29"/>
      <p:boldItalic r:id="rId30"/>
    </p:embeddedFont>
    <p:embeddedFont>
      <p:font typeface="Didact Gothic"/>
      <p:regular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F5F7565-FBF9-4DA3-B52B-1F9675019F4E}">
  <a:tblStyle styleId="{9F5F7565-FBF9-4DA3-B52B-1F9675019F4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1.xml"/><Relationship Id="rId22" Type="http://schemas.openxmlformats.org/officeDocument/2006/relationships/slide" Target="slides/slide13.xml"/><Relationship Id="rId21" Type="http://schemas.openxmlformats.org/officeDocument/2006/relationships/slide" Target="slides/slide12.xml"/><Relationship Id="rId24" Type="http://schemas.openxmlformats.org/officeDocument/2006/relationships/slide" Target="slides/slide15.xml"/><Relationship Id="rId23" Type="http://schemas.openxmlformats.org/officeDocument/2006/relationships/slide" Target="slides/slide14.xml"/><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notesMaster" Target="notesMasters/notesMaster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font" Target="fonts/Nunito-bold.fntdata"/><Relationship Id="rId27" Type="http://schemas.openxmlformats.org/officeDocument/2006/relationships/font" Target="fonts/Nunito-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29" Type="http://schemas.openxmlformats.org/officeDocument/2006/relationships/font" Target="fonts/Nunito-italic.fntdata"/><Relationship Id="rId7" Type="http://schemas.openxmlformats.org/officeDocument/2006/relationships/slideMaster" Target="slideMasters/slideMaster3.xml"/><Relationship Id="rId8" Type="http://schemas.openxmlformats.org/officeDocument/2006/relationships/slideMaster" Target="slideMasters/slideMaster4.xml"/><Relationship Id="rId31" Type="http://schemas.openxmlformats.org/officeDocument/2006/relationships/font" Target="fonts/DidactGothic-regular.fntdata"/><Relationship Id="rId30" Type="http://schemas.openxmlformats.org/officeDocument/2006/relationships/font" Target="fonts/Nunito-boldItalic.fntdata"/><Relationship Id="rId11" Type="http://schemas.openxmlformats.org/officeDocument/2006/relationships/slide" Target="slides/slide2.xml"/><Relationship Id="rId10" Type="http://schemas.openxmlformats.org/officeDocument/2006/relationships/slide" Target="slides/slide1.xml"/><Relationship Id="rId13" Type="http://schemas.openxmlformats.org/officeDocument/2006/relationships/slide" Target="slides/slide4.xml"/><Relationship Id="rId12" Type="http://schemas.openxmlformats.org/officeDocument/2006/relationships/slide" Target="slides/slide3.xml"/><Relationship Id="rId15" Type="http://schemas.openxmlformats.org/officeDocument/2006/relationships/slide" Target="slides/slide6.xml"/><Relationship Id="rId14" Type="http://schemas.openxmlformats.org/officeDocument/2006/relationships/slide" Target="slides/slide5.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8be3ed08d4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1" name="Google Shape;151;g38be3ed08d4_0_2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SzPts val="1100"/>
              <a:buNone/>
            </a:pPr>
            <a:r>
              <a:t/>
            </a:r>
            <a:endParaRPr>
              <a:latin typeface="Nunito"/>
              <a:ea typeface="Nunito"/>
              <a:cs typeface="Nunito"/>
              <a:sym typeface="Nunito"/>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3cb034fe8a8_0_3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g3cb034fe8a8_0_3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8" name="Google Shape;168;g3cb034fe8a8_0_3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8be3ed08d4_0_2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2" name="Google Shape;202;g38be3ed08d4_0_26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8be7ec647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3" name="Google Shape;223;g38be7ec647f_0_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3cabf92fcd6_0_34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g3cabf92fcd6_0_34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6" name="Google Shape;246;g3cabf92fcd6_0_34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cabf92fcd6_0_35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g3cabf92fcd6_0_356: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g3cabf92fcd6_0_356: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cabf92fcd6_0_37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cabf92fcd6_0_37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9" name="Google Shape;279;g3cabf92fcd6_0_37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cabf92fcd6_0_42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 name="Google Shape;328;g3cabf92fcd6_0_42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9" name="Google Shape;329;g3cabf92fcd6_0_42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cabf92fcd6_0_44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 name="Google Shape;352;g3cabf92fcd6_0_44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3" name="Google Shape;353;g3cabf92fcd6_0_44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cabf92fcd6_0_47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0" name="Google Shape;380;g3cabf92fcd6_0_47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1" name="Google Shape;381;g3cabf92fcd6_0_47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3cabf92fcd6_0_51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g3cabf92fcd6_0_516: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4" name="Google Shape;424;g3cabf92fcd6_0_516: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3cabf92fcd6_0_53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g3cabf92fcd6_0_53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6" name="Google Shape;446;g3cabf92fcd6_0_53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3cabf92fcd6_0_56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 name="Google Shape;470;g3cabf92fcd6_0_561: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1" name="Google Shape;471;g3cabf92fcd6_0_561: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g3cabf92fcd6_0_58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5" name="Google Shape;495;g3cabf92fcd6_0_58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6" name="Google Shape;496;g3cabf92fcd6_0_58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g3cabf92fcd6_0_60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g3cabf92fcd6_0_601: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3" name="Google Shape;513;g3cabf92fcd6_0_601: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g3cabf92fcd6_0_63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4" name="Google Shape;544;g3cabf92fcd6_0_63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5" name="Google Shape;545;g3cabf92fcd6_0_63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g3cabf92fcd6_0_65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0" name="Google Shape;570;g3cabf92fcd6_0_65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1" name="Google Shape;571;g3cabf92fcd6_0_65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4" name="Shape 54"/>
        <p:cNvGrpSpPr/>
        <p:nvPr/>
      </p:nvGrpSpPr>
      <p:grpSpPr>
        <a:xfrm>
          <a:off x="0" y="0"/>
          <a:ext cx="0" cy="0"/>
          <a:chOff x="0" y="0"/>
          <a:chExt cx="0" cy="0"/>
        </a:xfrm>
      </p:grpSpPr>
      <p:sp>
        <p:nvSpPr>
          <p:cNvPr id="55" name="Google Shape;55;p1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56" name="Google Shape;56;p1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57" name="Google Shape;57;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8" name="Shape 58"/>
        <p:cNvGrpSpPr/>
        <p:nvPr/>
      </p:nvGrpSpPr>
      <p:grpSpPr>
        <a:xfrm>
          <a:off x="0" y="0"/>
          <a:ext cx="0" cy="0"/>
          <a:chOff x="0" y="0"/>
          <a:chExt cx="0" cy="0"/>
        </a:xfrm>
      </p:grpSpPr>
      <p:sp>
        <p:nvSpPr>
          <p:cNvPr id="59" name="Google Shape;59;p15"/>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60" name="Google Shape;60;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1" name="Shape 61"/>
        <p:cNvGrpSpPr/>
        <p:nvPr/>
      </p:nvGrpSpPr>
      <p:grpSpPr>
        <a:xfrm>
          <a:off x="0" y="0"/>
          <a:ext cx="0" cy="0"/>
          <a:chOff x="0" y="0"/>
          <a:chExt cx="0" cy="0"/>
        </a:xfrm>
      </p:grpSpPr>
      <p:sp>
        <p:nvSpPr>
          <p:cNvPr id="62" name="Google Shape;62;p1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3" name="Google Shape;63;p1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64" name="Google Shape;64;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5" name="Shape 65"/>
        <p:cNvGrpSpPr/>
        <p:nvPr/>
      </p:nvGrpSpPr>
      <p:grpSpPr>
        <a:xfrm>
          <a:off x="0" y="0"/>
          <a:ext cx="0" cy="0"/>
          <a:chOff x="0" y="0"/>
          <a:chExt cx="0" cy="0"/>
        </a:xfrm>
      </p:grpSpPr>
      <p:sp>
        <p:nvSpPr>
          <p:cNvPr id="66" name="Google Shape;66;p1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7" name="Google Shape;67;p1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68" name="Google Shape;68;p1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69" name="Google Shape;69;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2" name="Google Shape;72;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3" name="Shape 73"/>
        <p:cNvGrpSpPr/>
        <p:nvPr/>
      </p:nvGrpSpPr>
      <p:grpSpPr>
        <a:xfrm>
          <a:off x="0" y="0"/>
          <a:ext cx="0" cy="0"/>
          <a:chOff x="0" y="0"/>
          <a:chExt cx="0" cy="0"/>
        </a:xfrm>
      </p:grpSpPr>
      <p:sp>
        <p:nvSpPr>
          <p:cNvPr id="74" name="Google Shape;74;p1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75" name="Google Shape;75;p1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76" name="Google Shape;76;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7" name="Shape 77"/>
        <p:cNvGrpSpPr/>
        <p:nvPr/>
      </p:nvGrpSpPr>
      <p:grpSpPr>
        <a:xfrm>
          <a:off x="0" y="0"/>
          <a:ext cx="0" cy="0"/>
          <a:chOff x="0" y="0"/>
          <a:chExt cx="0" cy="0"/>
        </a:xfrm>
      </p:grpSpPr>
      <p:sp>
        <p:nvSpPr>
          <p:cNvPr id="78" name="Google Shape;78;p2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79" name="Google Shape;79;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0"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2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83" name="Google Shape;83;p2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84" name="Google Shape;84;p2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85" name="Google Shape;85;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6" name="Shape 86"/>
        <p:cNvGrpSpPr/>
        <p:nvPr/>
      </p:nvGrpSpPr>
      <p:grpSpPr>
        <a:xfrm>
          <a:off x="0" y="0"/>
          <a:ext cx="0" cy="0"/>
          <a:chOff x="0" y="0"/>
          <a:chExt cx="0" cy="0"/>
        </a:xfrm>
      </p:grpSpPr>
      <p:sp>
        <p:nvSpPr>
          <p:cNvPr id="87" name="Google Shape;87;p2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Autofit/>
          </a:bodyPr>
          <a:lstStyle>
            <a:lvl1pPr indent="-228600" lvl="0" marL="457200" algn="l">
              <a:lnSpc>
                <a:spcPct val="100000"/>
              </a:lnSpc>
              <a:spcBef>
                <a:spcPts val="0"/>
              </a:spcBef>
              <a:spcAft>
                <a:spcPts val="0"/>
              </a:spcAft>
              <a:buSzPts val="1800"/>
              <a:buNone/>
              <a:defRPr/>
            </a:lvl1pPr>
          </a:lstStyle>
          <a:p/>
        </p:txBody>
      </p:sp>
      <p:sp>
        <p:nvSpPr>
          <p:cNvPr id="88" name="Google Shape;88;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9" name="Shape 89"/>
        <p:cNvGrpSpPr/>
        <p:nvPr/>
      </p:nvGrpSpPr>
      <p:grpSpPr>
        <a:xfrm>
          <a:off x="0" y="0"/>
          <a:ext cx="0" cy="0"/>
          <a:chOff x="0" y="0"/>
          <a:chExt cx="0" cy="0"/>
        </a:xfrm>
      </p:grpSpPr>
      <p:sp>
        <p:nvSpPr>
          <p:cNvPr id="90" name="Google Shape;90;p2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1" name="Google Shape;91;p2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1600"/>
              </a:spcBef>
              <a:spcAft>
                <a:spcPts val="0"/>
              </a:spcAft>
              <a:buSzPts val="1400"/>
              <a:buChar char="○"/>
              <a:defRPr/>
            </a:lvl2pPr>
            <a:lvl3pPr indent="-317500" lvl="2" marL="1371600" algn="ctr">
              <a:lnSpc>
                <a:spcPct val="115000"/>
              </a:lnSpc>
              <a:spcBef>
                <a:spcPts val="1600"/>
              </a:spcBef>
              <a:spcAft>
                <a:spcPts val="0"/>
              </a:spcAft>
              <a:buSzPts val="1400"/>
              <a:buChar char="■"/>
              <a:defRPr/>
            </a:lvl3pPr>
            <a:lvl4pPr indent="-317500" lvl="3" marL="1828800" algn="ctr">
              <a:lnSpc>
                <a:spcPct val="115000"/>
              </a:lnSpc>
              <a:spcBef>
                <a:spcPts val="1600"/>
              </a:spcBef>
              <a:spcAft>
                <a:spcPts val="0"/>
              </a:spcAft>
              <a:buSzPts val="1400"/>
              <a:buChar char="●"/>
              <a:defRPr/>
            </a:lvl4pPr>
            <a:lvl5pPr indent="-317500" lvl="4" marL="2286000" algn="ctr">
              <a:lnSpc>
                <a:spcPct val="115000"/>
              </a:lnSpc>
              <a:spcBef>
                <a:spcPts val="1600"/>
              </a:spcBef>
              <a:spcAft>
                <a:spcPts val="0"/>
              </a:spcAft>
              <a:buSzPts val="1400"/>
              <a:buChar char="○"/>
              <a:defRPr/>
            </a:lvl5pPr>
            <a:lvl6pPr indent="-317500" lvl="5" marL="2743200" algn="ctr">
              <a:lnSpc>
                <a:spcPct val="115000"/>
              </a:lnSpc>
              <a:spcBef>
                <a:spcPts val="1600"/>
              </a:spcBef>
              <a:spcAft>
                <a:spcPts val="0"/>
              </a:spcAft>
              <a:buSzPts val="1400"/>
              <a:buChar char="■"/>
              <a:defRPr/>
            </a:lvl6pPr>
            <a:lvl7pPr indent="-317500" lvl="6" marL="3200400" algn="ctr">
              <a:lnSpc>
                <a:spcPct val="115000"/>
              </a:lnSpc>
              <a:spcBef>
                <a:spcPts val="1600"/>
              </a:spcBef>
              <a:spcAft>
                <a:spcPts val="0"/>
              </a:spcAft>
              <a:buSzPts val="1400"/>
              <a:buChar char="●"/>
              <a:defRPr/>
            </a:lvl7pPr>
            <a:lvl8pPr indent="-317500" lvl="7" marL="3657600" algn="ctr">
              <a:lnSpc>
                <a:spcPct val="115000"/>
              </a:lnSpc>
              <a:spcBef>
                <a:spcPts val="1600"/>
              </a:spcBef>
              <a:spcAft>
                <a:spcPts val="0"/>
              </a:spcAft>
              <a:buSzPts val="1400"/>
              <a:buChar char="○"/>
              <a:defRPr/>
            </a:lvl8pPr>
            <a:lvl9pPr indent="-317500" lvl="8" marL="4114800" algn="ctr">
              <a:lnSpc>
                <a:spcPct val="115000"/>
              </a:lnSpc>
              <a:spcBef>
                <a:spcPts val="1600"/>
              </a:spcBef>
              <a:spcAft>
                <a:spcPts val="1600"/>
              </a:spcAft>
              <a:buSzPts val="1400"/>
              <a:buChar char="■"/>
              <a:defRPr/>
            </a:lvl9pPr>
          </a:lstStyle>
          <a:p/>
        </p:txBody>
      </p:sp>
      <p:sp>
        <p:nvSpPr>
          <p:cNvPr id="92" name="Google Shape;92;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4_Title and Content 2">
  <p:cSld name="24_Title and Content_2">
    <p:spTree>
      <p:nvGrpSpPr>
        <p:cNvPr id="95" name="Shape 95"/>
        <p:cNvGrpSpPr/>
        <p:nvPr/>
      </p:nvGrpSpPr>
      <p:grpSpPr>
        <a:xfrm>
          <a:off x="0" y="0"/>
          <a:ext cx="0" cy="0"/>
          <a:chOff x="0" y="0"/>
          <a:chExt cx="0" cy="0"/>
        </a:xfrm>
      </p:grpSpPr>
      <p:sp>
        <p:nvSpPr>
          <p:cNvPr id="96" name="Google Shape;96;p2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97" name="Google Shape;97;p2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99" name="Google Shape;99;p25"/>
          <p:cNvPicPr preferRelativeResize="0"/>
          <p:nvPr/>
        </p:nvPicPr>
        <p:blipFill rotWithShape="1">
          <a:blip r:embed="rId2">
            <a:alphaModFix/>
          </a:blip>
          <a:srcRect b="0" l="0" r="0" t="0"/>
          <a:stretch/>
        </p:blipFill>
        <p:spPr>
          <a:xfrm>
            <a:off x="7882318" y="10771"/>
            <a:ext cx="1146696" cy="311131"/>
          </a:xfrm>
          <a:prstGeom prst="rect">
            <a:avLst/>
          </a:prstGeom>
          <a:noFill/>
          <a:ln>
            <a:noFill/>
          </a:ln>
        </p:spPr>
      </p:pic>
      <p:sp>
        <p:nvSpPr>
          <p:cNvPr id="100" name="Google Shape;100;p25"/>
          <p:cNvSpPr txBox="1"/>
          <p:nvPr>
            <p:ph idx="1" type="body"/>
          </p:nvPr>
        </p:nvSpPr>
        <p:spPr>
          <a:xfrm>
            <a:off x="297406" y="472231"/>
            <a:ext cx="8002200" cy="597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SzPts val="1700"/>
              <a:buNone/>
              <a:defRPr sz="1700"/>
            </a:lvl1pPr>
            <a:lvl2pPr indent="-317500" lvl="1" marL="914400" algn="l">
              <a:lnSpc>
                <a:spcPct val="90000"/>
              </a:lnSpc>
              <a:spcBef>
                <a:spcPts val="1600"/>
              </a:spcBef>
              <a:spcAft>
                <a:spcPts val="0"/>
              </a:spcAft>
              <a:buClr>
                <a:schemeClr val="dk1"/>
              </a:buClr>
              <a:buSzPts val="1400"/>
              <a:buChar char="○"/>
              <a:defRPr/>
            </a:lvl2pPr>
            <a:lvl3pPr indent="-317500" lvl="2" marL="1371600" algn="l">
              <a:lnSpc>
                <a:spcPct val="90000"/>
              </a:lnSpc>
              <a:spcBef>
                <a:spcPts val="1600"/>
              </a:spcBef>
              <a:spcAft>
                <a:spcPts val="0"/>
              </a:spcAft>
              <a:buClr>
                <a:schemeClr val="dk1"/>
              </a:buClr>
              <a:buSzPts val="1400"/>
              <a:buChar char="■"/>
              <a:defRPr/>
            </a:lvl3pPr>
            <a:lvl4pPr indent="-317500" lvl="3" marL="1828800" algn="l">
              <a:lnSpc>
                <a:spcPct val="90000"/>
              </a:lnSpc>
              <a:spcBef>
                <a:spcPts val="1600"/>
              </a:spcBef>
              <a:spcAft>
                <a:spcPts val="0"/>
              </a:spcAft>
              <a:buClr>
                <a:schemeClr val="dk1"/>
              </a:buClr>
              <a:buSzPts val="1400"/>
              <a:buChar char="●"/>
              <a:defRPr/>
            </a:lvl4pPr>
            <a:lvl5pPr indent="-317500" lvl="4" marL="2286000" algn="l">
              <a:lnSpc>
                <a:spcPct val="90000"/>
              </a:lnSpc>
              <a:spcBef>
                <a:spcPts val="1600"/>
              </a:spcBef>
              <a:spcAft>
                <a:spcPts val="0"/>
              </a:spcAft>
              <a:buClr>
                <a:schemeClr val="dk1"/>
              </a:buClr>
              <a:buSzPts val="1400"/>
              <a:buChar char="○"/>
              <a:defRPr/>
            </a:lvl5pPr>
            <a:lvl6pPr indent="-317500" lvl="5" marL="2743200" algn="l">
              <a:lnSpc>
                <a:spcPct val="90000"/>
              </a:lnSpc>
              <a:spcBef>
                <a:spcPts val="1600"/>
              </a:spcBef>
              <a:spcAft>
                <a:spcPts val="0"/>
              </a:spcAft>
              <a:buClr>
                <a:schemeClr val="dk1"/>
              </a:buClr>
              <a:buSzPts val="1400"/>
              <a:buChar char="■"/>
              <a:defRPr/>
            </a:lvl6pPr>
            <a:lvl7pPr indent="-317500" lvl="6" marL="3200400" algn="l">
              <a:lnSpc>
                <a:spcPct val="90000"/>
              </a:lnSpc>
              <a:spcBef>
                <a:spcPts val="1600"/>
              </a:spcBef>
              <a:spcAft>
                <a:spcPts val="0"/>
              </a:spcAft>
              <a:buClr>
                <a:schemeClr val="dk1"/>
              </a:buClr>
              <a:buSzPts val="1400"/>
              <a:buChar char="●"/>
              <a:defRPr/>
            </a:lvl7pPr>
            <a:lvl8pPr indent="-317500" lvl="7" marL="3657600" algn="l">
              <a:lnSpc>
                <a:spcPct val="90000"/>
              </a:lnSpc>
              <a:spcBef>
                <a:spcPts val="1600"/>
              </a:spcBef>
              <a:spcAft>
                <a:spcPts val="0"/>
              </a:spcAft>
              <a:buClr>
                <a:schemeClr val="dk1"/>
              </a:buClr>
              <a:buSzPts val="1400"/>
              <a:buChar char="○"/>
              <a:defRPr/>
            </a:lvl8pPr>
            <a:lvl9pPr indent="-317500" lvl="8" marL="4114800" algn="l">
              <a:lnSpc>
                <a:spcPct val="90000"/>
              </a:lnSpc>
              <a:spcBef>
                <a:spcPts val="1600"/>
              </a:spcBef>
              <a:spcAft>
                <a:spcPts val="1600"/>
              </a:spcAft>
              <a:buClr>
                <a:schemeClr val="dk1"/>
              </a:buClr>
              <a:buSzPts val="1400"/>
              <a:buChar char="■"/>
              <a:defRPr/>
            </a:lvl9pPr>
          </a:lstStyle>
          <a:p/>
        </p:txBody>
      </p:sp>
      <p:sp>
        <p:nvSpPr>
          <p:cNvPr id="101" name="Google Shape;101;p25"/>
          <p:cNvSpPr txBox="1"/>
          <p:nvPr>
            <p:ph idx="2" type="body"/>
          </p:nvPr>
        </p:nvSpPr>
        <p:spPr>
          <a:xfrm>
            <a:off x="754754" y="1276807"/>
            <a:ext cx="7545000" cy="2991900"/>
          </a:xfrm>
          <a:prstGeom prst="rect">
            <a:avLst/>
          </a:prstGeom>
          <a:noFill/>
          <a:ln>
            <a:noFill/>
          </a:ln>
        </p:spPr>
        <p:txBody>
          <a:bodyPr anchorCtr="0" anchor="t" bIns="34275" lIns="68575" spcFirstLastPara="1" rIns="68575" wrap="square" tIns="34275">
            <a:normAutofit/>
          </a:bodyPr>
          <a:lstStyle>
            <a:lvl1pPr indent="-228600" lvl="0" marL="457200" marR="0" algn="l">
              <a:lnSpc>
                <a:spcPct val="90000"/>
              </a:lnSpc>
              <a:spcBef>
                <a:spcPts val="800"/>
              </a:spcBef>
              <a:spcAft>
                <a:spcPts val="0"/>
              </a:spcAft>
              <a:buClr>
                <a:srgbClr val="9AE4CE"/>
              </a:buClr>
              <a:buSzPts val="1100"/>
              <a:buFont typeface="Arial"/>
              <a:buNone/>
              <a:defRPr sz="1100"/>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1600"/>
              </a:spcBef>
              <a:spcAft>
                <a:spcPts val="0"/>
              </a:spcAft>
              <a:buClr>
                <a:schemeClr val="dk1"/>
              </a:buClr>
              <a:buSzPts val="1400"/>
              <a:buChar char="■"/>
              <a:defRPr/>
            </a:lvl3pPr>
            <a:lvl4pPr indent="-317500" lvl="3" marL="1828800" algn="l">
              <a:lnSpc>
                <a:spcPct val="90000"/>
              </a:lnSpc>
              <a:spcBef>
                <a:spcPts val="1600"/>
              </a:spcBef>
              <a:spcAft>
                <a:spcPts val="0"/>
              </a:spcAft>
              <a:buClr>
                <a:schemeClr val="dk1"/>
              </a:buClr>
              <a:buSzPts val="1400"/>
              <a:buChar char="●"/>
              <a:defRPr/>
            </a:lvl4pPr>
            <a:lvl5pPr indent="-317500" lvl="4" marL="2286000" algn="l">
              <a:lnSpc>
                <a:spcPct val="90000"/>
              </a:lnSpc>
              <a:spcBef>
                <a:spcPts val="1600"/>
              </a:spcBef>
              <a:spcAft>
                <a:spcPts val="0"/>
              </a:spcAft>
              <a:buClr>
                <a:schemeClr val="dk1"/>
              </a:buClr>
              <a:buSzPts val="1400"/>
              <a:buChar char="○"/>
              <a:defRPr/>
            </a:lvl5pPr>
            <a:lvl6pPr indent="-317500" lvl="5" marL="2743200" algn="l">
              <a:lnSpc>
                <a:spcPct val="90000"/>
              </a:lnSpc>
              <a:spcBef>
                <a:spcPts val="1600"/>
              </a:spcBef>
              <a:spcAft>
                <a:spcPts val="0"/>
              </a:spcAft>
              <a:buClr>
                <a:schemeClr val="dk1"/>
              </a:buClr>
              <a:buSzPts val="1400"/>
              <a:buChar char="■"/>
              <a:defRPr/>
            </a:lvl6pPr>
            <a:lvl7pPr indent="-317500" lvl="6" marL="3200400" algn="l">
              <a:lnSpc>
                <a:spcPct val="90000"/>
              </a:lnSpc>
              <a:spcBef>
                <a:spcPts val="1600"/>
              </a:spcBef>
              <a:spcAft>
                <a:spcPts val="0"/>
              </a:spcAft>
              <a:buClr>
                <a:schemeClr val="dk1"/>
              </a:buClr>
              <a:buSzPts val="1400"/>
              <a:buChar char="●"/>
              <a:defRPr/>
            </a:lvl7pPr>
            <a:lvl8pPr indent="-317500" lvl="7" marL="3657600" algn="l">
              <a:lnSpc>
                <a:spcPct val="90000"/>
              </a:lnSpc>
              <a:spcBef>
                <a:spcPts val="1600"/>
              </a:spcBef>
              <a:spcAft>
                <a:spcPts val="0"/>
              </a:spcAft>
              <a:buClr>
                <a:schemeClr val="dk1"/>
              </a:buClr>
              <a:buSzPts val="1400"/>
              <a:buChar char="○"/>
              <a:defRPr/>
            </a:lvl8pPr>
            <a:lvl9pPr indent="-317500" lvl="8" marL="4114800" algn="l">
              <a:lnSpc>
                <a:spcPct val="90000"/>
              </a:lnSpc>
              <a:spcBef>
                <a:spcPts val="1600"/>
              </a:spcBef>
              <a:spcAft>
                <a:spcPts val="1600"/>
              </a:spcAft>
              <a:buClr>
                <a:schemeClr val="dk1"/>
              </a:buClr>
              <a:buSzPts val="1400"/>
              <a:buChar char="■"/>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6" name="Shape 106"/>
        <p:cNvGrpSpPr/>
        <p:nvPr/>
      </p:nvGrpSpPr>
      <p:grpSpPr>
        <a:xfrm>
          <a:off x="0" y="0"/>
          <a:ext cx="0" cy="0"/>
          <a:chOff x="0" y="0"/>
          <a:chExt cx="0" cy="0"/>
        </a:xfrm>
      </p:grpSpPr>
      <p:sp>
        <p:nvSpPr>
          <p:cNvPr id="107" name="Google Shape;107;p2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08" name="Google Shape;108;p2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09" name="Google Shape;109;p2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0" name="Shape 110"/>
        <p:cNvGrpSpPr/>
        <p:nvPr/>
      </p:nvGrpSpPr>
      <p:grpSpPr>
        <a:xfrm>
          <a:off x="0" y="0"/>
          <a:ext cx="0" cy="0"/>
          <a:chOff x="0" y="0"/>
          <a:chExt cx="0" cy="0"/>
        </a:xfrm>
      </p:grpSpPr>
      <p:sp>
        <p:nvSpPr>
          <p:cNvPr id="111" name="Google Shape;111;p28"/>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2" name="Google Shape;112;p28"/>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13" name="Google Shape;113;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14" name="Shape 114"/>
        <p:cNvGrpSpPr/>
        <p:nvPr/>
      </p:nvGrpSpPr>
      <p:grpSpPr>
        <a:xfrm>
          <a:off x="0" y="0"/>
          <a:ext cx="0" cy="0"/>
          <a:chOff x="0" y="0"/>
          <a:chExt cx="0" cy="0"/>
        </a:xfrm>
      </p:grpSpPr>
      <p:sp>
        <p:nvSpPr>
          <p:cNvPr id="115" name="Google Shape;115;p29"/>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16" name="Google Shape;116;p2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17" name="Shape 117"/>
        <p:cNvGrpSpPr/>
        <p:nvPr/>
      </p:nvGrpSpPr>
      <p:grpSpPr>
        <a:xfrm>
          <a:off x="0" y="0"/>
          <a:ext cx="0" cy="0"/>
          <a:chOff x="0" y="0"/>
          <a:chExt cx="0" cy="0"/>
        </a:xfrm>
      </p:grpSpPr>
      <p:sp>
        <p:nvSpPr>
          <p:cNvPr id="118" name="Google Shape;118;p3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9" name="Google Shape;119;p30"/>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20" name="Google Shape;120;p30"/>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21" name="Google Shape;121;p3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2" name="Shape 122"/>
        <p:cNvGrpSpPr/>
        <p:nvPr/>
      </p:nvGrpSpPr>
      <p:grpSpPr>
        <a:xfrm>
          <a:off x="0" y="0"/>
          <a:ext cx="0" cy="0"/>
          <a:chOff x="0" y="0"/>
          <a:chExt cx="0" cy="0"/>
        </a:xfrm>
      </p:grpSpPr>
      <p:sp>
        <p:nvSpPr>
          <p:cNvPr id="123" name="Google Shape;123;p3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4" name="Google Shape;124;p3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25" name="Shape 125"/>
        <p:cNvGrpSpPr/>
        <p:nvPr/>
      </p:nvGrpSpPr>
      <p:grpSpPr>
        <a:xfrm>
          <a:off x="0" y="0"/>
          <a:ext cx="0" cy="0"/>
          <a:chOff x="0" y="0"/>
          <a:chExt cx="0" cy="0"/>
        </a:xfrm>
      </p:grpSpPr>
      <p:sp>
        <p:nvSpPr>
          <p:cNvPr id="126" name="Google Shape;126;p32"/>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27" name="Google Shape;127;p32"/>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28" name="Google Shape;128;p3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29" name="Shape 129"/>
        <p:cNvGrpSpPr/>
        <p:nvPr/>
      </p:nvGrpSpPr>
      <p:grpSpPr>
        <a:xfrm>
          <a:off x="0" y="0"/>
          <a:ext cx="0" cy="0"/>
          <a:chOff x="0" y="0"/>
          <a:chExt cx="0" cy="0"/>
        </a:xfrm>
      </p:grpSpPr>
      <p:sp>
        <p:nvSpPr>
          <p:cNvPr id="130" name="Google Shape;130;p33"/>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131" name="Google Shape;131;p3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32" name="Shape 132"/>
        <p:cNvGrpSpPr/>
        <p:nvPr/>
      </p:nvGrpSpPr>
      <p:grpSpPr>
        <a:xfrm>
          <a:off x="0" y="0"/>
          <a:ext cx="0" cy="0"/>
          <a:chOff x="0" y="0"/>
          <a:chExt cx="0" cy="0"/>
        </a:xfrm>
      </p:grpSpPr>
      <p:sp>
        <p:nvSpPr>
          <p:cNvPr id="133" name="Google Shape;133;p34"/>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 name="Google Shape;134;p34"/>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135" name="Google Shape;135;p34"/>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36" name="Google Shape;136;p34"/>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37" name="Google Shape;137;p3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8" name="Shape 138"/>
        <p:cNvGrpSpPr/>
        <p:nvPr/>
      </p:nvGrpSpPr>
      <p:grpSpPr>
        <a:xfrm>
          <a:off x="0" y="0"/>
          <a:ext cx="0" cy="0"/>
          <a:chOff x="0" y="0"/>
          <a:chExt cx="0" cy="0"/>
        </a:xfrm>
      </p:grpSpPr>
      <p:sp>
        <p:nvSpPr>
          <p:cNvPr id="139" name="Google Shape;139;p35"/>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40" name="Google Shape;140;p3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41" name="Shape 141"/>
        <p:cNvGrpSpPr/>
        <p:nvPr/>
      </p:nvGrpSpPr>
      <p:grpSpPr>
        <a:xfrm>
          <a:off x="0" y="0"/>
          <a:ext cx="0" cy="0"/>
          <a:chOff x="0" y="0"/>
          <a:chExt cx="0" cy="0"/>
        </a:xfrm>
      </p:grpSpPr>
      <p:sp>
        <p:nvSpPr>
          <p:cNvPr id="142" name="Google Shape;142;p36"/>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43" name="Google Shape;143;p36"/>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144" name="Google Shape;144;p3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5" name="Shape 145"/>
        <p:cNvGrpSpPr/>
        <p:nvPr/>
      </p:nvGrpSpPr>
      <p:grpSpPr>
        <a:xfrm>
          <a:off x="0" y="0"/>
          <a:ext cx="0" cy="0"/>
          <a:chOff x="0" y="0"/>
          <a:chExt cx="0" cy="0"/>
        </a:xfrm>
      </p:grpSpPr>
      <p:sp>
        <p:nvSpPr>
          <p:cNvPr id="146" name="Google Shape;146;p3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8" name="Shape 14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5.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theme" Target="../theme/theme3.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4.xml"/><Relationship Id="rId10" Type="http://schemas.openxmlformats.org/officeDocument/2006/relationships/slideLayout" Target="../slideLayouts/slideLayout33.xml"/><Relationship Id="rId12" Type="http://schemas.openxmlformats.org/officeDocument/2006/relationships/theme" Target="../theme/theme4.xml"/><Relationship Id="rId1" Type="http://schemas.openxmlformats.org/officeDocument/2006/relationships/slideLayout" Target="../slideLayouts/slideLayout24.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9" Type="http://schemas.openxmlformats.org/officeDocument/2006/relationships/slideLayout" Target="../slideLayouts/slideLayout32.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52" name="Google Shape;52;p1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marR="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algn="l">
              <a:lnSpc>
                <a:spcPct val="115000"/>
              </a:lnSpc>
              <a:spcBef>
                <a:spcPts val="1600"/>
              </a:spcBef>
              <a:spcAft>
                <a:spcPts val="160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53" name="Google Shape;5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Lst>
  <p:transition>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02" name="Shape 102"/>
        <p:cNvGrpSpPr/>
        <p:nvPr/>
      </p:nvGrpSpPr>
      <p:grpSpPr>
        <a:xfrm>
          <a:off x="0" y="0"/>
          <a:ext cx="0" cy="0"/>
          <a:chOff x="0" y="0"/>
          <a:chExt cx="0" cy="0"/>
        </a:xfrm>
      </p:grpSpPr>
      <p:sp>
        <p:nvSpPr>
          <p:cNvPr id="103" name="Google Shape;103;p2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04" name="Google Shape;104;p2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05" name="Google Shape;105;p2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transition>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82"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7.png"/><Relationship Id="rId5"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9"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21.png"/><Relationship Id="rId7" Type="http://schemas.openxmlformats.org/officeDocument/2006/relationships/image" Target="../media/image9.png"/><Relationship Id="rId8"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5.xml"/><Relationship Id="rId3"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7.xml"/><Relationship Id="rId3"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40"/>
          <p:cNvSpPr txBox="1"/>
          <p:nvPr/>
        </p:nvSpPr>
        <p:spPr>
          <a:xfrm>
            <a:off x="386875" y="572175"/>
            <a:ext cx="8249400" cy="876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3500"/>
              <a:buFont typeface="Arial"/>
              <a:buNone/>
            </a:pPr>
            <a:r>
              <a:rPr b="1" lang="en" sz="3500">
                <a:solidFill>
                  <a:srgbClr val="1155CC"/>
                </a:solidFill>
                <a:latin typeface="Didact Gothic"/>
                <a:ea typeface="Didact Gothic"/>
                <a:cs typeface="Didact Gothic"/>
                <a:sym typeface="Didact Gothic"/>
              </a:rPr>
              <a:t>Introduction to Generative AI in Python</a:t>
            </a:r>
            <a:endParaRPr b="1" i="0" sz="3500" u="none" cap="none" strike="noStrike">
              <a:solidFill>
                <a:srgbClr val="1155CC"/>
              </a:solidFill>
              <a:latin typeface="Didact Gothic"/>
              <a:ea typeface="Didact Gothic"/>
              <a:cs typeface="Didact Gothic"/>
              <a:sym typeface="Didact Gothic"/>
            </a:endParaRPr>
          </a:p>
        </p:txBody>
      </p:sp>
      <p:sp>
        <p:nvSpPr>
          <p:cNvPr id="154" name="Google Shape;154;p40"/>
          <p:cNvSpPr txBox="1"/>
          <p:nvPr/>
        </p:nvSpPr>
        <p:spPr>
          <a:xfrm>
            <a:off x="514525" y="1534483"/>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01</a:t>
            </a:r>
            <a:endParaRPr b="1" i="0" sz="2200" u="none" cap="none" strike="noStrike">
              <a:solidFill>
                <a:srgbClr val="1155CC"/>
              </a:solidFill>
              <a:latin typeface="Didact Gothic"/>
              <a:ea typeface="Didact Gothic"/>
              <a:cs typeface="Didact Gothic"/>
              <a:sym typeface="Didact Gothic"/>
            </a:endParaRPr>
          </a:p>
        </p:txBody>
      </p:sp>
      <p:sp>
        <p:nvSpPr>
          <p:cNvPr id="155" name="Google Shape;155;p40"/>
          <p:cNvSpPr txBox="1"/>
          <p:nvPr/>
        </p:nvSpPr>
        <p:spPr>
          <a:xfrm>
            <a:off x="1124725" y="1534495"/>
            <a:ext cx="6174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lang="en" sz="2200">
                <a:solidFill>
                  <a:srgbClr val="A64D79"/>
                </a:solidFill>
                <a:latin typeface="Didact Gothic"/>
                <a:ea typeface="Didact Gothic"/>
                <a:cs typeface="Didact Gothic"/>
                <a:sym typeface="Didact Gothic"/>
              </a:rPr>
              <a:t>Absolute Python Essentials</a:t>
            </a:r>
            <a:endParaRPr b="0" i="0" sz="2200" u="none" cap="none" strike="noStrike">
              <a:solidFill>
                <a:srgbClr val="A64D79"/>
              </a:solidFill>
              <a:latin typeface="Didact Gothic"/>
              <a:ea typeface="Didact Gothic"/>
              <a:cs typeface="Didact Gothic"/>
              <a:sym typeface="Didact Gothic"/>
            </a:endParaRPr>
          </a:p>
        </p:txBody>
      </p:sp>
      <p:sp>
        <p:nvSpPr>
          <p:cNvPr id="156" name="Google Shape;156;p40"/>
          <p:cNvSpPr/>
          <p:nvPr/>
        </p:nvSpPr>
        <p:spPr>
          <a:xfrm>
            <a:off x="0" y="0"/>
            <a:ext cx="9144000" cy="104700"/>
          </a:xfrm>
          <a:prstGeom prst="rect">
            <a:avLst/>
          </a:prstGeom>
          <a:solidFill>
            <a:srgbClr val="EAD1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p40"/>
          <p:cNvSpPr txBox="1"/>
          <p:nvPr/>
        </p:nvSpPr>
        <p:spPr>
          <a:xfrm>
            <a:off x="514525" y="2150659"/>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02</a:t>
            </a:r>
            <a:endParaRPr b="1" i="0" sz="2200" u="none" cap="none" strike="noStrike">
              <a:solidFill>
                <a:srgbClr val="1155CC"/>
              </a:solidFill>
              <a:latin typeface="Didact Gothic"/>
              <a:ea typeface="Didact Gothic"/>
              <a:cs typeface="Didact Gothic"/>
              <a:sym typeface="Didact Gothic"/>
            </a:endParaRPr>
          </a:p>
        </p:txBody>
      </p:sp>
      <p:sp>
        <p:nvSpPr>
          <p:cNvPr id="158" name="Google Shape;158;p40"/>
          <p:cNvSpPr txBox="1"/>
          <p:nvPr/>
        </p:nvSpPr>
        <p:spPr>
          <a:xfrm>
            <a:off x="514525" y="2766835"/>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03</a:t>
            </a:r>
            <a:endParaRPr b="1" i="0" sz="2200" u="none" cap="none" strike="noStrike">
              <a:solidFill>
                <a:srgbClr val="1155CC"/>
              </a:solidFill>
              <a:latin typeface="Didact Gothic"/>
              <a:ea typeface="Didact Gothic"/>
              <a:cs typeface="Didact Gothic"/>
              <a:sym typeface="Didact Gothic"/>
            </a:endParaRPr>
          </a:p>
        </p:txBody>
      </p:sp>
      <p:sp>
        <p:nvSpPr>
          <p:cNvPr id="159" name="Google Shape;159;p40"/>
          <p:cNvSpPr txBox="1"/>
          <p:nvPr/>
        </p:nvSpPr>
        <p:spPr>
          <a:xfrm>
            <a:off x="1124725" y="2150670"/>
            <a:ext cx="66918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lang="en" sz="2200">
                <a:solidFill>
                  <a:srgbClr val="A64D79"/>
                </a:solidFill>
                <a:latin typeface="Didact Gothic"/>
                <a:ea typeface="Didact Gothic"/>
                <a:cs typeface="Didact Gothic"/>
                <a:sym typeface="Didact Gothic"/>
              </a:rPr>
              <a:t>Commercial API Platform &amp; </a:t>
            </a:r>
            <a:r>
              <a:rPr lang="en" sz="2200">
                <a:solidFill>
                  <a:srgbClr val="A64D79"/>
                </a:solidFill>
                <a:latin typeface="Didact Gothic"/>
                <a:ea typeface="Didact Gothic"/>
                <a:cs typeface="Didact Gothic"/>
                <a:sym typeface="Didact Gothic"/>
              </a:rPr>
              <a:t>HuggingFace</a:t>
            </a:r>
            <a:r>
              <a:rPr lang="en" sz="2200">
                <a:solidFill>
                  <a:srgbClr val="A64D79"/>
                </a:solidFill>
                <a:latin typeface="Didact Gothic"/>
                <a:ea typeface="Didact Gothic"/>
                <a:cs typeface="Didact Gothic"/>
                <a:sym typeface="Didact Gothic"/>
              </a:rPr>
              <a:t> Basics</a:t>
            </a:r>
            <a:endParaRPr b="0" i="0" sz="2200" u="none" cap="none" strike="noStrike">
              <a:solidFill>
                <a:srgbClr val="A64D79"/>
              </a:solidFill>
              <a:latin typeface="Didact Gothic"/>
              <a:ea typeface="Didact Gothic"/>
              <a:cs typeface="Didact Gothic"/>
              <a:sym typeface="Didact Gothic"/>
            </a:endParaRPr>
          </a:p>
        </p:txBody>
      </p:sp>
      <p:sp>
        <p:nvSpPr>
          <p:cNvPr id="160" name="Google Shape;160;p40"/>
          <p:cNvSpPr txBox="1"/>
          <p:nvPr/>
        </p:nvSpPr>
        <p:spPr>
          <a:xfrm>
            <a:off x="1124725" y="2766845"/>
            <a:ext cx="51381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lang="en" sz="2200">
                <a:solidFill>
                  <a:srgbClr val="A64D79"/>
                </a:solidFill>
                <a:latin typeface="Didact Gothic"/>
                <a:ea typeface="Didact Gothic"/>
                <a:cs typeface="Didact Gothic"/>
                <a:sym typeface="Didact Gothic"/>
              </a:rPr>
              <a:t>Basic Model Usage</a:t>
            </a:r>
            <a:endParaRPr b="0" i="0" sz="2200" u="none" cap="none" strike="noStrike">
              <a:solidFill>
                <a:srgbClr val="A64D79"/>
              </a:solidFill>
              <a:latin typeface="Didact Gothic"/>
              <a:ea typeface="Didact Gothic"/>
              <a:cs typeface="Didact Gothic"/>
              <a:sym typeface="Didact Gothic"/>
            </a:endParaRPr>
          </a:p>
        </p:txBody>
      </p:sp>
      <p:sp>
        <p:nvSpPr>
          <p:cNvPr id="161" name="Google Shape;161;p40"/>
          <p:cNvSpPr txBox="1"/>
          <p:nvPr/>
        </p:nvSpPr>
        <p:spPr>
          <a:xfrm>
            <a:off x="514525" y="3383010"/>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04</a:t>
            </a:r>
            <a:endParaRPr b="1" i="0" sz="2200" u="none" cap="none" strike="noStrike">
              <a:solidFill>
                <a:srgbClr val="1155CC"/>
              </a:solidFill>
              <a:latin typeface="Didact Gothic"/>
              <a:ea typeface="Didact Gothic"/>
              <a:cs typeface="Didact Gothic"/>
              <a:sym typeface="Didact Gothic"/>
            </a:endParaRPr>
          </a:p>
        </p:txBody>
      </p:sp>
      <p:sp>
        <p:nvSpPr>
          <p:cNvPr id="162" name="Google Shape;162;p40"/>
          <p:cNvSpPr txBox="1"/>
          <p:nvPr/>
        </p:nvSpPr>
        <p:spPr>
          <a:xfrm>
            <a:off x="1124725" y="3383020"/>
            <a:ext cx="51381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lang="en" sz="2200">
                <a:solidFill>
                  <a:srgbClr val="A64D79"/>
                </a:solidFill>
                <a:latin typeface="Didact Gothic"/>
                <a:ea typeface="Didact Gothic"/>
                <a:cs typeface="Didact Gothic"/>
                <a:sym typeface="Didact Gothic"/>
              </a:rPr>
              <a:t>Simple App Examples</a:t>
            </a:r>
            <a:endParaRPr b="0" i="0" sz="2200" u="none" cap="none" strike="noStrike">
              <a:solidFill>
                <a:srgbClr val="A64D79"/>
              </a:solidFill>
              <a:latin typeface="Didact Gothic"/>
              <a:ea typeface="Didact Gothic"/>
              <a:cs typeface="Didact Gothic"/>
              <a:sym typeface="Didact Gothic"/>
            </a:endParaRPr>
          </a:p>
        </p:txBody>
      </p:sp>
      <p:sp>
        <p:nvSpPr>
          <p:cNvPr id="163" name="Google Shape;163;p40"/>
          <p:cNvSpPr txBox="1"/>
          <p:nvPr/>
        </p:nvSpPr>
        <p:spPr>
          <a:xfrm>
            <a:off x="514525" y="3999183"/>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a:t>
            </a:r>
            <a:r>
              <a:rPr b="1" lang="en" sz="2200">
                <a:solidFill>
                  <a:srgbClr val="1155CC"/>
                </a:solidFill>
                <a:latin typeface="Didact Gothic"/>
                <a:ea typeface="Didact Gothic"/>
                <a:cs typeface="Didact Gothic"/>
                <a:sym typeface="Didact Gothic"/>
              </a:rPr>
              <a:t>5</a:t>
            </a:r>
            <a:endParaRPr b="1" i="0" sz="2200" u="none" cap="none" strike="noStrike">
              <a:solidFill>
                <a:srgbClr val="1155CC"/>
              </a:solidFill>
              <a:latin typeface="Didact Gothic"/>
              <a:ea typeface="Didact Gothic"/>
              <a:cs typeface="Didact Gothic"/>
              <a:sym typeface="Didact Gothic"/>
            </a:endParaRPr>
          </a:p>
        </p:txBody>
      </p:sp>
      <p:sp>
        <p:nvSpPr>
          <p:cNvPr id="164" name="Google Shape;164;p40"/>
          <p:cNvSpPr txBox="1"/>
          <p:nvPr/>
        </p:nvSpPr>
        <p:spPr>
          <a:xfrm>
            <a:off x="1124725" y="3999195"/>
            <a:ext cx="51381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lang="en" sz="2200">
                <a:solidFill>
                  <a:srgbClr val="A64D79"/>
                </a:solidFill>
                <a:latin typeface="Didact Gothic"/>
                <a:ea typeface="Didact Gothic"/>
                <a:cs typeface="Didact Gothic"/>
                <a:sym typeface="Didact Gothic"/>
              </a:rPr>
              <a:t>Advanced Concepts (RAG, fine-tuning, ….)</a:t>
            </a:r>
            <a:endParaRPr b="0" i="0" sz="2200" u="none" cap="none" strike="noStrike">
              <a:solidFill>
                <a:srgbClr val="A64D79"/>
              </a:solidFill>
              <a:latin typeface="Didact Gothic"/>
              <a:ea typeface="Didact Gothic"/>
              <a:cs typeface="Didact Gothic"/>
              <a:sym typeface="Didact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9FC"/>
        </a:solidFill>
      </p:bgPr>
    </p:bg>
    <p:spTree>
      <p:nvGrpSpPr>
        <p:cNvPr id="169" name="Shape 169"/>
        <p:cNvGrpSpPr/>
        <p:nvPr/>
      </p:nvGrpSpPr>
      <p:grpSpPr>
        <a:xfrm>
          <a:off x="0" y="0"/>
          <a:ext cx="0" cy="0"/>
          <a:chOff x="0" y="0"/>
          <a:chExt cx="0" cy="0"/>
        </a:xfrm>
      </p:grpSpPr>
      <p:sp>
        <p:nvSpPr>
          <p:cNvPr id="170" name="Google Shape;170;p41"/>
          <p:cNvSpPr/>
          <p:nvPr/>
        </p:nvSpPr>
        <p:spPr>
          <a:xfrm>
            <a:off x="350950" y="3718100"/>
            <a:ext cx="37059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744"/>
              </a:buClr>
              <a:buSzPts val="2800"/>
              <a:buFont typeface="Trebuchet MS"/>
              <a:buNone/>
            </a:pPr>
            <a:r>
              <a:rPr b="1" i="0" lang="en" sz="2800" u="none" cap="none" strike="noStrike">
                <a:solidFill>
                  <a:srgbClr val="1A2744"/>
                </a:solidFill>
                <a:latin typeface="Trebuchet MS"/>
                <a:ea typeface="Trebuchet MS"/>
                <a:cs typeface="Trebuchet MS"/>
                <a:sym typeface="Trebuchet MS"/>
              </a:rPr>
              <a:t>The GenAI Landscape</a:t>
            </a:r>
            <a:endParaRPr b="0" i="0" sz="2800" u="none" cap="none" strike="noStrike">
              <a:solidFill>
                <a:schemeClr val="dk1"/>
              </a:solidFill>
              <a:latin typeface="Calibri"/>
              <a:ea typeface="Calibri"/>
              <a:cs typeface="Calibri"/>
              <a:sym typeface="Calibri"/>
            </a:endParaRPr>
          </a:p>
        </p:txBody>
      </p:sp>
      <p:sp>
        <p:nvSpPr>
          <p:cNvPr id="171" name="Google Shape;171;p41"/>
          <p:cNvSpPr/>
          <p:nvPr/>
        </p:nvSpPr>
        <p:spPr>
          <a:xfrm>
            <a:off x="350950" y="193175"/>
            <a:ext cx="6217800" cy="1005900"/>
          </a:xfrm>
          <a:prstGeom prst="rect">
            <a:avLst/>
          </a:prstGeom>
          <a:solidFill>
            <a:srgbClr val="FFFFFF"/>
          </a:solidFill>
          <a:ln>
            <a:noFill/>
          </a:ln>
          <a:effectLst>
            <a:outerShdw blurRad="50800" rotWithShape="0" algn="bl" dir="8100000" dist="127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41"/>
          <p:cNvSpPr/>
          <p:nvPr/>
        </p:nvSpPr>
        <p:spPr>
          <a:xfrm>
            <a:off x="579550" y="467495"/>
            <a:ext cx="457200" cy="457200"/>
          </a:xfrm>
          <a:prstGeom prst="ellipse">
            <a:avLst/>
          </a:prstGeom>
          <a:solidFill>
            <a:srgbClr val="1A27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3" name="Google Shape;173;p41"/>
          <p:cNvPicPr preferRelativeResize="0"/>
          <p:nvPr/>
        </p:nvPicPr>
        <p:blipFill rotWithShape="1">
          <a:blip r:embed="rId3">
            <a:alphaModFix/>
          </a:blip>
          <a:srcRect b="0" l="0" r="0" t="0"/>
          <a:stretch/>
        </p:blipFill>
        <p:spPr>
          <a:xfrm>
            <a:off x="670990" y="558935"/>
            <a:ext cx="274320" cy="274320"/>
          </a:xfrm>
          <a:prstGeom prst="rect">
            <a:avLst/>
          </a:prstGeom>
          <a:noFill/>
          <a:ln>
            <a:noFill/>
          </a:ln>
        </p:spPr>
      </p:pic>
      <p:sp>
        <p:nvSpPr>
          <p:cNvPr id="174" name="Google Shape;174;p41"/>
          <p:cNvSpPr/>
          <p:nvPr/>
        </p:nvSpPr>
        <p:spPr>
          <a:xfrm>
            <a:off x="1265350" y="330335"/>
            <a:ext cx="27432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744"/>
              </a:buClr>
              <a:buSzPts val="1600"/>
              <a:buFont typeface="Trebuchet MS"/>
              <a:buNone/>
            </a:pPr>
            <a:r>
              <a:rPr b="1" i="0" lang="en" sz="1600" u="none" cap="none" strike="noStrike">
                <a:solidFill>
                  <a:srgbClr val="1A2744"/>
                </a:solidFill>
                <a:latin typeface="Trebuchet MS"/>
                <a:ea typeface="Trebuchet MS"/>
                <a:cs typeface="Trebuchet MS"/>
                <a:sym typeface="Trebuchet MS"/>
              </a:rPr>
              <a:t>Raw Layer</a:t>
            </a:r>
            <a:endParaRPr b="0" i="0" sz="1600" u="none" cap="none" strike="noStrike">
              <a:solidFill>
                <a:schemeClr val="dk1"/>
              </a:solidFill>
              <a:latin typeface="Calibri"/>
              <a:ea typeface="Calibri"/>
              <a:cs typeface="Calibri"/>
              <a:sym typeface="Calibri"/>
            </a:endParaRPr>
          </a:p>
        </p:txBody>
      </p:sp>
      <p:sp>
        <p:nvSpPr>
          <p:cNvPr id="175" name="Google Shape;175;p41"/>
          <p:cNvSpPr/>
          <p:nvPr/>
        </p:nvSpPr>
        <p:spPr>
          <a:xfrm>
            <a:off x="1265350" y="632087"/>
            <a:ext cx="25602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APIs &amp; open-source models.</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You build everything yourself.</a:t>
            </a:r>
            <a:endParaRPr b="0" i="0" sz="1000" u="none" cap="none" strike="noStrike">
              <a:solidFill>
                <a:schemeClr val="dk1"/>
              </a:solidFill>
              <a:latin typeface="Calibri"/>
              <a:ea typeface="Calibri"/>
              <a:cs typeface="Calibri"/>
              <a:sym typeface="Calibri"/>
            </a:endParaRPr>
          </a:p>
        </p:txBody>
      </p:sp>
      <p:sp>
        <p:nvSpPr>
          <p:cNvPr id="176" name="Google Shape;176;p41"/>
          <p:cNvSpPr/>
          <p:nvPr/>
        </p:nvSpPr>
        <p:spPr>
          <a:xfrm>
            <a:off x="4008550" y="330335"/>
            <a:ext cx="23775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OpenAI API, Anthropic API,</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Vertex AI, Hugging Face,</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self-hosted models</a:t>
            </a:r>
            <a:endParaRPr b="0" i="0" sz="1000" u="none" cap="none" strike="noStrike">
              <a:solidFill>
                <a:schemeClr val="dk1"/>
              </a:solidFill>
              <a:latin typeface="Calibri"/>
              <a:ea typeface="Calibri"/>
              <a:cs typeface="Calibri"/>
              <a:sym typeface="Calibri"/>
            </a:endParaRPr>
          </a:p>
        </p:txBody>
      </p:sp>
      <p:sp>
        <p:nvSpPr>
          <p:cNvPr id="177" name="Google Shape;177;p41"/>
          <p:cNvSpPr/>
          <p:nvPr/>
        </p:nvSpPr>
        <p:spPr>
          <a:xfrm>
            <a:off x="350950" y="1336175"/>
            <a:ext cx="6217800" cy="1005900"/>
          </a:xfrm>
          <a:prstGeom prst="rect">
            <a:avLst/>
          </a:prstGeom>
          <a:solidFill>
            <a:srgbClr val="FFFFFF"/>
          </a:solidFill>
          <a:ln>
            <a:noFill/>
          </a:ln>
          <a:effectLst>
            <a:outerShdw blurRad="50800" rotWithShape="0" algn="bl" dir="8100000" dist="127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41"/>
          <p:cNvSpPr/>
          <p:nvPr/>
        </p:nvSpPr>
        <p:spPr>
          <a:xfrm>
            <a:off x="579550" y="1610495"/>
            <a:ext cx="457200" cy="457200"/>
          </a:xfrm>
          <a:prstGeom prst="ellipse">
            <a:avLst/>
          </a:prstGeom>
          <a:solidFill>
            <a:srgbClr val="1A27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9" name="Google Shape;179;p41"/>
          <p:cNvPicPr preferRelativeResize="0"/>
          <p:nvPr/>
        </p:nvPicPr>
        <p:blipFill rotWithShape="1">
          <a:blip r:embed="rId4">
            <a:alphaModFix/>
          </a:blip>
          <a:srcRect b="0" l="0" r="0" t="0"/>
          <a:stretch/>
        </p:blipFill>
        <p:spPr>
          <a:xfrm>
            <a:off x="670990" y="1701935"/>
            <a:ext cx="274320" cy="274320"/>
          </a:xfrm>
          <a:prstGeom prst="rect">
            <a:avLst/>
          </a:prstGeom>
          <a:noFill/>
          <a:ln>
            <a:noFill/>
          </a:ln>
        </p:spPr>
      </p:pic>
      <p:sp>
        <p:nvSpPr>
          <p:cNvPr id="180" name="Google Shape;180;p41"/>
          <p:cNvSpPr/>
          <p:nvPr/>
        </p:nvSpPr>
        <p:spPr>
          <a:xfrm>
            <a:off x="1265350" y="1473335"/>
            <a:ext cx="27432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744"/>
              </a:buClr>
              <a:buSzPts val="1600"/>
              <a:buFont typeface="Trebuchet MS"/>
              <a:buNone/>
            </a:pPr>
            <a:r>
              <a:rPr b="1" i="0" lang="en" sz="1600" u="none" cap="none" strike="noStrike">
                <a:solidFill>
                  <a:srgbClr val="1A2744"/>
                </a:solidFill>
                <a:latin typeface="Trebuchet MS"/>
                <a:ea typeface="Trebuchet MS"/>
                <a:cs typeface="Trebuchet MS"/>
                <a:sym typeface="Trebuchet MS"/>
              </a:rPr>
              <a:t>Conversational Layer</a:t>
            </a:r>
            <a:endParaRPr b="0" i="0" sz="1600" u="none" cap="none" strike="noStrike">
              <a:solidFill>
                <a:schemeClr val="dk1"/>
              </a:solidFill>
              <a:latin typeface="Calibri"/>
              <a:ea typeface="Calibri"/>
              <a:cs typeface="Calibri"/>
              <a:sym typeface="Calibri"/>
            </a:endParaRPr>
          </a:p>
        </p:txBody>
      </p:sp>
      <p:sp>
        <p:nvSpPr>
          <p:cNvPr id="181" name="Google Shape;181;p41"/>
          <p:cNvSpPr/>
          <p:nvPr/>
        </p:nvSpPr>
        <p:spPr>
          <a:xfrm>
            <a:off x="1265350" y="1775087"/>
            <a:ext cx="25602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General-purpose chat interfaces.</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The default mental model for most people.</a:t>
            </a:r>
            <a:endParaRPr b="0" i="0" sz="1000" u="none" cap="none" strike="noStrike">
              <a:solidFill>
                <a:schemeClr val="dk1"/>
              </a:solidFill>
              <a:latin typeface="Calibri"/>
              <a:ea typeface="Calibri"/>
              <a:cs typeface="Calibri"/>
              <a:sym typeface="Calibri"/>
            </a:endParaRPr>
          </a:p>
        </p:txBody>
      </p:sp>
      <p:sp>
        <p:nvSpPr>
          <p:cNvPr id="182" name="Google Shape;182;p41"/>
          <p:cNvSpPr/>
          <p:nvPr/>
        </p:nvSpPr>
        <p:spPr>
          <a:xfrm>
            <a:off x="4008550" y="1473335"/>
            <a:ext cx="23775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ChatGPT, Claude, Gemini,</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Copilot, Perplexity</a:t>
            </a:r>
            <a:endParaRPr b="0" i="0" sz="1000" u="none" cap="none" strike="noStrike">
              <a:solidFill>
                <a:schemeClr val="dk1"/>
              </a:solidFill>
              <a:latin typeface="Calibri"/>
              <a:ea typeface="Calibri"/>
              <a:cs typeface="Calibri"/>
              <a:sym typeface="Calibri"/>
            </a:endParaRPr>
          </a:p>
        </p:txBody>
      </p:sp>
      <p:sp>
        <p:nvSpPr>
          <p:cNvPr id="183" name="Google Shape;183;p41"/>
          <p:cNvSpPr/>
          <p:nvPr/>
        </p:nvSpPr>
        <p:spPr>
          <a:xfrm>
            <a:off x="350950" y="2479175"/>
            <a:ext cx="6217800" cy="1005900"/>
          </a:xfrm>
          <a:prstGeom prst="rect">
            <a:avLst/>
          </a:prstGeom>
          <a:solidFill>
            <a:srgbClr val="FFFFFF"/>
          </a:solidFill>
          <a:ln>
            <a:noFill/>
          </a:ln>
          <a:effectLst>
            <a:outerShdw blurRad="50800" rotWithShape="0" algn="bl" dir="8100000" dist="127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41"/>
          <p:cNvSpPr/>
          <p:nvPr/>
        </p:nvSpPr>
        <p:spPr>
          <a:xfrm>
            <a:off x="579550" y="2753495"/>
            <a:ext cx="457200" cy="457200"/>
          </a:xfrm>
          <a:prstGeom prst="ellipse">
            <a:avLst/>
          </a:prstGeom>
          <a:solidFill>
            <a:srgbClr val="1A27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85" name="Google Shape;185;p41"/>
          <p:cNvPicPr preferRelativeResize="0"/>
          <p:nvPr/>
        </p:nvPicPr>
        <p:blipFill rotWithShape="1">
          <a:blip r:embed="rId5">
            <a:alphaModFix/>
          </a:blip>
          <a:srcRect b="0" l="0" r="0" t="0"/>
          <a:stretch/>
        </p:blipFill>
        <p:spPr>
          <a:xfrm>
            <a:off x="670990" y="2844935"/>
            <a:ext cx="274320" cy="274320"/>
          </a:xfrm>
          <a:prstGeom prst="rect">
            <a:avLst/>
          </a:prstGeom>
          <a:noFill/>
          <a:ln>
            <a:noFill/>
          </a:ln>
        </p:spPr>
      </p:pic>
      <p:sp>
        <p:nvSpPr>
          <p:cNvPr id="186" name="Google Shape;186;p41"/>
          <p:cNvSpPr/>
          <p:nvPr/>
        </p:nvSpPr>
        <p:spPr>
          <a:xfrm>
            <a:off x="1265350" y="2616335"/>
            <a:ext cx="27432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744"/>
              </a:buClr>
              <a:buSzPts val="1600"/>
              <a:buFont typeface="Trebuchet MS"/>
              <a:buNone/>
            </a:pPr>
            <a:r>
              <a:rPr b="1" i="0" lang="en" sz="1600" u="none" cap="none" strike="noStrike">
                <a:solidFill>
                  <a:srgbClr val="1A2744"/>
                </a:solidFill>
                <a:latin typeface="Trebuchet MS"/>
                <a:ea typeface="Trebuchet MS"/>
                <a:cs typeface="Trebuchet MS"/>
                <a:sym typeface="Trebuchet MS"/>
              </a:rPr>
              <a:t>Agentic Layer</a:t>
            </a:r>
            <a:endParaRPr b="0" i="0" sz="1600" u="none" cap="none" strike="noStrike">
              <a:solidFill>
                <a:schemeClr val="dk1"/>
              </a:solidFill>
              <a:latin typeface="Calibri"/>
              <a:ea typeface="Calibri"/>
              <a:cs typeface="Calibri"/>
              <a:sym typeface="Calibri"/>
            </a:endParaRPr>
          </a:p>
        </p:txBody>
      </p:sp>
      <p:sp>
        <p:nvSpPr>
          <p:cNvPr id="187" name="Google Shape;187;p41"/>
          <p:cNvSpPr/>
          <p:nvPr/>
        </p:nvSpPr>
        <p:spPr>
          <a:xfrm>
            <a:off x="1265350" y="2918087"/>
            <a:ext cx="25602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Autonomous multi-step execution.</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The model uses tools &amp; acts on your behalf.</a:t>
            </a:r>
            <a:endParaRPr b="0" i="0" sz="1000" u="none" cap="none" strike="noStrike">
              <a:solidFill>
                <a:schemeClr val="dk1"/>
              </a:solidFill>
              <a:latin typeface="Calibri"/>
              <a:ea typeface="Calibri"/>
              <a:cs typeface="Calibri"/>
              <a:sym typeface="Calibri"/>
            </a:endParaRPr>
          </a:p>
        </p:txBody>
      </p:sp>
      <p:sp>
        <p:nvSpPr>
          <p:cNvPr id="188" name="Google Shape;188;p41"/>
          <p:cNvSpPr/>
          <p:nvPr/>
        </p:nvSpPr>
        <p:spPr>
          <a:xfrm>
            <a:off x="4008550" y="2616335"/>
            <a:ext cx="23775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Deep Research, Computer Use,</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Claude Code, Copilot Agents,</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Cursor, Devin</a:t>
            </a:r>
            <a:endParaRPr b="0" i="0" sz="1000" u="none" cap="none" strike="noStrike">
              <a:solidFill>
                <a:schemeClr val="dk1"/>
              </a:solidFill>
              <a:latin typeface="Calibri"/>
              <a:ea typeface="Calibri"/>
              <a:cs typeface="Calibri"/>
              <a:sym typeface="Calibri"/>
            </a:endParaRPr>
          </a:p>
        </p:txBody>
      </p:sp>
      <p:sp>
        <p:nvSpPr>
          <p:cNvPr id="189" name="Google Shape;189;p41"/>
          <p:cNvSpPr/>
          <p:nvPr/>
        </p:nvSpPr>
        <p:spPr>
          <a:xfrm>
            <a:off x="789862" y="1199015"/>
            <a:ext cx="73200" cy="137100"/>
          </a:xfrm>
          <a:prstGeom prst="rect">
            <a:avLst/>
          </a:prstGeom>
          <a:solidFill>
            <a:srgbClr val="C0D6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41"/>
          <p:cNvSpPr/>
          <p:nvPr/>
        </p:nvSpPr>
        <p:spPr>
          <a:xfrm>
            <a:off x="789862" y="2342015"/>
            <a:ext cx="73200" cy="137100"/>
          </a:xfrm>
          <a:prstGeom prst="rect">
            <a:avLst/>
          </a:prstGeom>
          <a:solidFill>
            <a:srgbClr val="C0D6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41"/>
          <p:cNvSpPr/>
          <p:nvPr/>
        </p:nvSpPr>
        <p:spPr>
          <a:xfrm>
            <a:off x="6888900" y="386375"/>
            <a:ext cx="1828800" cy="2777100"/>
          </a:xfrm>
          <a:prstGeom prst="roundRect">
            <a:avLst>
              <a:gd fmla="val 5000" name="adj"/>
            </a:avLst>
          </a:prstGeom>
          <a:solidFill>
            <a:srgbClr val="FDF0E6"/>
          </a:solidFill>
          <a:ln cap="flat" cmpd="sng" w="19050">
            <a:solidFill>
              <a:srgbClr val="E07B39"/>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41"/>
          <p:cNvSpPr/>
          <p:nvPr/>
        </p:nvSpPr>
        <p:spPr>
          <a:xfrm>
            <a:off x="7597445" y="490330"/>
            <a:ext cx="411600" cy="411600"/>
          </a:xfrm>
          <a:prstGeom prst="ellipse">
            <a:avLst/>
          </a:prstGeom>
          <a:solidFill>
            <a:srgbClr val="E07B3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93" name="Google Shape;193;p41"/>
          <p:cNvPicPr preferRelativeResize="0"/>
          <p:nvPr/>
        </p:nvPicPr>
        <p:blipFill rotWithShape="1">
          <a:blip r:embed="rId6">
            <a:alphaModFix/>
          </a:blip>
          <a:srcRect b="0" l="0" r="0" t="0"/>
          <a:stretch/>
        </p:blipFill>
        <p:spPr>
          <a:xfrm>
            <a:off x="7670597" y="563482"/>
            <a:ext cx="265176" cy="265176"/>
          </a:xfrm>
          <a:prstGeom prst="rect">
            <a:avLst/>
          </a:prstGeom>
          <a:noFill/>
          <a:ln>
            <a:noFill/>
          </a:ln>
        </p:spPr>
      </p:pic>
      <p:sp>
        <p:nvSpPr>
          <p:cNvPr id="194" name="Google Shape;194;p41"/>
          <p:cNvSpPr/>
          <p:nvPr/>
        </p:nvSpPr>
        <p:spPr>
          <a:xfrm>
            <a:off x="6980350" y="878975"/>
            <a:ext cx="1645800" cy="274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07B39"/>
              </a:buClr>
              <a:buSzPts val="1400"/>
              <a:buFont typeface="Trebuchet MS"/>
              <a:buNone/>
            </a:pPr>
            <a:r>
              <a:rPr b="1" i="0" lang="en" sz="1400" u="none" cap="none" strike="noStrike">
                <a:solidFill>
                  <a:srgbClr val="E07B39"/>
                </a:solidFill>
                <a:latin typeface="Trebuchet MS"/>
                <a:ea typeface="Trebuchet MS"/>
                <a:cs typeface="Trebuchet MS"/>
                <a:sym typeface="Trebuchet MS"/>
              </a:rPr>
              <a:t>Customization</a:t>
            </a:r>
            <a:endParaRPr b="0" i="0" sz="1400" u="none" cap="none" strike="noStrike">
              <a:solidFill>
                <a:schemeClr val="dk1"/>
              </a:solidFill>
              <a:latin typeface="Calibri"/>
              <a:ea typeface="Calibri"/>
              <a:cs typeface="Calibri"/>
              <a:sym typeface="Calibri"/>
            </a:endParaRPr>
          </a:p>
        </p:txBody>
      </p:sp>
      <p:sp>
        <p:nvSpPr>
          <p:cNvPr id="195" name="Google Shape;195;p41"/>
          <p:cNvSpPr/>
          <p:nvPr/>
        </p:nvSpPr>
        <p:spPr>
          <a:xfrm>
            <a:off x="6980350" y="1125863"/>
            <a:ext cx="16458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5568"/>
              </a:buClr>
              <a:buSzPts val="900"/>
              <a:buFont typeface="Calibri"/>
              <a:buNone/>
            </a:pPr>
            <a:r>
              <a:rPr b="0" i="1" lang="en" sz="900" u="none" cap="none" strike="noStrike">
                <a:solidFill>
                  <a:srgbClr val="4A5568"/>
                </a:solidFill>
                <a:latin typeface="Calibri"/>
                <a:ea typeface="Calibri"/>
                <a:cs typeface="Calibri"/>
                <a:sym typeface="Calibri"/>
              </a:rPr>
              <a:t>Applies across layers</a:t>
            </a:r>
            <a:endParaRPr b="0" i="0" sz="900" u="none" cap="none" strike="noStrike">
              <a:solidFill>
                <a:schemeClr val="dk1"/>
              </a:solidFill>
              <a:latin typeface="Calibri"/>
              <a:ea typeface="Calibri"/>
              <a:cs typeface="Calibri"/>
              <a:sym typeface="Calibri"/>
            </a:endParaRPr>
          </a:p>
        </p:txBody>
      </p:sp>
      <p:sp>
        <p:nvSpPr>
          <p:cNvPr id="196" name="Google Shape;196;p41"/>
          <p:cNvSpPr/>
          <p:nvPr/>
        </p:nvSpPr>
        <p:spPr>
          <a:xfrm>
            <a:off x="7071790" y="1427615"/>
            <a:ext cx="1463100" cy="1463100"/>
          </a:xfrm>
          <a:prstGeom prst="rect">
            <a:avLst/>
          </a:prstGeom>
          <a:noFill/>
          <a:ln>
            <a:noFill/>
          </a:ln>
        </p:spPr>
        <p:txBody>
          <a:bodyPr anchorCtr="0" anchor="ctr" bIns="0" lIns="0" spcFirstLastPara="1" rIns="0" wrap="square" tIns="0">
            <a:noAutofit/>
          </a:bodyPr>
          <a:lstStyle/>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System prompts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Projects / Gems / GPTs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MCP integrations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RAG pipelines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Fine-tuning</a:t>
            </a:r>
            <a:endParaRPr b="0" i="0" sz="1000" u="none" cap="none" strike="noStrike">
              <a:solidFill>
                <a:schemeClr val="dk1"/>
              </a:solidFill>
              <a:latin typeface="Calibri"/>
              <a:ea typeface="Calibri"/>
              <a:cs typeface="Calibri"/>
              <a:sym typeface="Calibri"/>
            </a:endParaRPr>
          </a:p>
        </p:txBody>
      </p:sp>
      <p:cxnSp>
        <p:nvCxnSpPr>
          <p:cNvPr id="197" name="Google Shape;197;p41"/>
          <p:cNvCxnSpPr/>
          <p:nvPr/>
        </p:nvCxnSpPr>
        <p:spPr>
          <a:xfrm>
            <a:off x="6568870" y="696095"/>
            <a:ext cx="320100" cy="0"/>
          </a:xfrm>
          <a:prstGeom prst="straightConnector1">
            <a:avLst/>
          </a:prstGeom>
          <a:noFill/>
          <a:ln cap="flat" cmpd="sng" w="10150">
            <a:solidFill>
              <a:srgbClr val="E07B39"/>
            </a:solidFill>
            <a:prstDash val="dash"/>
            <a:round/>
            <a:headEnd len="sm" w="sm" type="none"/>
            <a:tailEnd len="sm" w="sm" type="none"/>
          </a:ln>
        </p:spPr>
      </p:cxnSp>
      <p:cxnSp>
        <p:nvCxnSpPr>
          <p:cNvPr id="198" name="Google Shape;198;p41"/>
          <p:cNvCxnSpPr/>
          <p:nvPr/>
        </p:nvCxnSpPr>
        <p:spPr>
          <a:xfrm>
            <a:off x="6568870" y="1839095"/>
            <a:ext cx="320100" cy="0"/>
          </a:xfrm>
          <a:prstGeom prst="straightConnector1">
            <a:avLst/>
          </a:prstGeom>
          <a:noFill/>
          <a:ln cap="flat" cmpd="sng" w="10150">
            <a:solidFill>
              <a:srgbClr val="E07B39"/>
            </a:solidFill>
            <a:prstDash val="dash"/>
            <a:round/>
            <a:headEnd len="sm" w="sm" type="none"/>
            <a:tailEnd len="sm" w="sm" type="none"/>
          </a:ln>
        </p:spPr>
      </p:cxnSp>
      <p:cxnSp>
        <p:nvCxnSpPr>
          <p:cNvPr id="199" name="Google Shape;199;p41"/>
          <p:cNvCxnSpPr/>
          <p:nvPr/>
        </p:nvCxnSpPr>
        <p:spPr>
          <a:xfrm>
            <a:off x="6568870" y="2982095"/>
            <a:ext cx="320100" cy="0"/>
          </a:xfrm>
          <a:prstGeom prst="straightConnector1">
            <a:avLst/>
          </a:prstGeom>
          <a:noFill/>
          <a:ln cap="flat" cmpd="sng" w="10150">
            <a:solidFill>
              <a:srgbClr val="E07B39"/>
            </a:solidFill>
            <a:prstDash val="dash"/>
            <a:round/>
            <a:headEnd len="sm" w="sm" type="none"/>
            <a:tailEnd len="sm" w="sm" type="none"/>
          </a:ln>
        </p:spPr>
      </p:cxn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42"/>
          <p:cNvSpPr/>
          <p:nvPr/>
        </p:nvSpPr>
        <p:spPr>
          <a:xfrm>
            <a:off x="0" y="0"/>
            <a:ext cx="9144000" cy="104700"/>
          </a:xfrm>
          <a:prstGeom prst="rect">
            <a:avLst/>
          </a:prstGeom>
          <a:solidFill>
            <a:srgbClr val="EAD1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42"/>
          <p:cNvSpPr/>
          <p:nvPr/>
        </p:nvSpPr>
        <p:spPr>
          <a:xfrm>
            <a:off x="415175" y="3352500"/>
            <a:ext cx="43662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42"/>
          <p:cNvSpPr/>
          <p:nvPr/>
        </p:nvSpPr>
        <p:spPr>
          <a:xfrm>
            <a:off x="253550" y="454050"/>
            <a:ext cx="6263700" cy="1326900"/>
          </a:xfrm>
          <a:prstGeom prst="roundRect">
            <a:avLst>
              <a:gd fmla="val 16667" name="adj"/>
            </a:avLst>
          </a:prstGeom>
          <a:solidFill>
            <a:srgbClr val="FCE5C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42"/>
          <p:cNvSpPr txBox="1"/>
          <p:nvPr/>
        </p:nvSpPr>
        <p:spPr>
          <a:xfrm>
            <a:off x="415175" y="575925"/>
            <a:ext cx="25452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 sz="1500" cap="none" strike="noStrike">
                <a:latin typeface="Nunito"/>
                <a:ea typeface="Nunito"/>
                <a:cs typeface="Nunito"/>
                <a:sym typeface="Nunito"/>
              </a:rPr>
              <a:t>platform.openai.com</a:t>
            </a:r>
            <a:endParaRPr b="1"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lang="en" sz="1500">
                <a:solidFill>
                  <a:schemeClr val="dk1"/>
                </a:solidFill>
                <a:latin typeface="Nunito"/>
                <a:ea typeface="Nunito"/>
                <a:cs typeface="Nunito"/>
                <a:sym typeface="Nunito"/>
              </a:rPr>
              <a:t>Account + budget</a:t>
            </a:r>
            <a:endParaRPr sz="1500">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lang="en" sz="1500">
                <a:solidFill>
                  <a:schemeClr val="dk1"/>
                </a:solidFill>
                <a:latin typeface="Nunito"/>
                <a:ea typeface="Nunito"/>
                <a:cs typeface="Nunito"/>
                <a:sym typeface="Nunito"/>
              </a:rPr>
              <a:t>Test in dashboard</a:t>
            </a:r>
            <a:endParaRPr sz="1500">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lang="en" sz="1500">
                <a:solidFill>
                  <a:schemeClr val="dk1"/>
                </a:solidFill>
                <a:latin typeface="Nunito"/>
                <a:ea typeface="Nunito"/>
                <a:cs typeface="Nunito"/>
                <a:sym typeface="Nunito"/>
              </a:rPr>
              <a:t>Generate API key</a:t>
            </a:r>
            <a:endParaRPr sz="1500">
              <a:solidFill>
                <a:schemeClr val="dk1"/>
              </a:solidFill>
              <a:latin typeface="Nunito"/>
              <a:ea typeface="Nunito"/>
              <a:cs typeface="Nunito"/>
              <a:sym typeface="Nunito"/>
            </a:endParaRPr>
          </a:p>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Nunito"/>
              <a:ea typeface="Nunito"/>
              <a:cs typeface="Nunito"/>
              <a:sym typeface="Nunito"/>
            </a:endParaRPr>
          </a:p>
        </p:txBody>
      </p:sp>
      <p:pic>
        <p:nvPicPr>
          <p:cNvPr id="208" name="Google Shape;208;p42"/>
          <p:cNvPicPr preferRelativeResize="0"/>
          <p:nvPr/>
        </p:nvPicPr>
        <p:blipFill rotWithShape="1">
          <a:blip r:embed="rId3">
            <a:alphaModFix/>
          </a:blip>
          <a:srcRect b="0" l="21220" r="19507" t="0"/>
          <a:stretch/>
        </p:blipFill>
        <p:spPr>
          <a:xfrm>
            <a:off x="3101050" y="618525"/>
            <a:ext cx="568704" cy="539700"/>
          </a:xfrm>
          <a:prstGeom prst="rect">
            <a:avLst/>
          </a:prstGeom>
          <a:noFill/>
          <a:ln>
            <a:noFill/>
          </a:ln>
        </p:spPr>
      </p:pic>
      <p:sp>
        <p:nvSpPr>
          <p:cNvPr id="209" name="Google Shape;209;p42"/>
          <p:cNvSpPr txBox="1"/>
          <p:nvPr/>
        </p:nvSpPr>
        <p:spPr>
          <a:xfrm>
            <a:off x="3652550" y="574800"/>
            <a:ext cx="2917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lang="en" sz="1500">
                <a:solidFill>
                  <a:schemeClr val="dk1"/>
                </a:solidFill>
                <a:latin typeface="Nunito"/>
                <a:ea typeface="Nunito"/>
                <a:cs typeface="Nunito"/>
                <a:sym typeface="Nunito"/>
              </a:rPr>
              <a:t>The same models which are behind ChatGPT are accessible in raw form via API.</a:t>
            </a:r>
            <a:endParaRPr b="0" i="0" sz="1500" u="none" cap="none" strike="noStrike">
              <a:solidFill>
                <a:schemeClr val="dk1"/>
              </a:solidFill>
              <a:latin typeface="Nunito"/>
              <a:ea typeface="Nunito"/>
              <a:cs typeface="Nunito"/>
              <a:sym typeface="Nunito"/>
            </a:endParaRPr>
          </a:p>
        </p:txBody>
      </p:sp>
      <p:pic>
        <p:nvPicPr>
          <p:cNvPr id="210" name="Google Shape;210;p42" title="laptop-icon.png"/>
          <p:cNvPicPr preferRelativeResize="0"/>
          <p:nvPr/>
        </p:nvPicPr>
        <p:blipFill>
          <a:blip r:embed="rId4">
            <a:alphaModFix/>
          </a:blip>
          <a:stretch>
            <a:fillRect/>
          </a:stretch>
        </p:blipFill>
        <p:spPr>
          <a:xfrm>
            <a:off x="523350" y="3441750"/>
            <a:ext cx="899850" cy="899850"/>
          </a:xfrm>
          <a:prstGeom prst="rect">
            <a:avLst/>
          </a:prstGeom>
          <a:noFill/>
          <a:ln>
            <a:noFill/>
          </a:ln>
        </p:spPr>
      </p:pic>
      <p:sp>
        <p:nvSpPr>
          <p:cNvPr id="211" name="Google Shape;211;p42"/>
          <p:cNvSpPr txBox="1"/>
          <p:nvPr/>
        </p:nvSpPr>
        <p:spPr>
          <a:xfrm>
            <a:off x="1423200" y="3556200"/>
            <a:ext cx="2917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lang="en" sz="1500">
                <a:solidFill>
                  <a:schemeClr val="dk1"/>
                </a:solidFill>
                <a:latin typeface="Nunito"/>
                <a:ea typeface="Nunito"/>
                <a:cs typeface="Nunito"/>
                <a:sym typeface="Nunito"/>
              </a:rPr>
              <a:t>Our </a:t>
            </a:r>
            <a:r>
              <a:rPr b="1" lang="en" sz="1500">
                <a:solidFill>
                  <a:schemeClr val="dk1"/>
                </a:solidFill>
                <a:latin typeface="Nunito"/>
                <a:ea typeface="Nunito"/>
                <a:cs typeface="Nunito"/>
                <a:sym typeface="Nunito"/>
              </a:rPr>
              <a:t>compute</a:t>
            </a:r>
            <a:r>
              <a:rPr lang="en" sz="1500">
                <a:solidFill>
                  <a:schemeClr val="dk1"/>
                </a:solidFill>
                <a:latin typeface="Nunito"/>
                <a:ea typeface="Nunito"/>
                <a:cs typeface="Nunito"/>
                <a:sym typeface="Nunito"/>
              </a:rPr>
              <a:t> (laptop, server, Colab instance). We will call API via Python thanks to having the API key. </a:t>
            </a:r>
            <a:endParaRPr b="0" i="0" sz="1500" u="none" cap="none" strike="noStrike">
              <a:solidFill>
                <a:schemeClr val="dk1"/>
              </a:solidFill>
              <a:latin typeface="Nunito"/>
              <a:ea typeface="Nunito"/>
              <a:cs typeface="Nunito"/>
              <a:sym typeface="Nunito"/>
            </a:endParaRPr>
          </a:p>
        </p:txBody>
      </p:sp>
      <p:sp>
        <p:nvSpPr>
          <p:cNvPr id="212" name="Google Shape;212;p42"/>
          <p:cNvSpPr/>
          <p:nvPr/>
        </p:nvSpPr>
        <p:spPr>
          <a:xfrm>
            <a:off x="1215804" y="1884875"/>
            <a:ext cx="338950" cy="1416325"/>
          </a:xfrm>
          <a:custGeom>
            <a:rect b="b" l="l" r="r" t="t"/>
            <a:pathLst>
              <a:path extrusionOk="0" h="56653" w="13558">
                <a:moveTo>
                  <a:pt x="354" y="0"/>
                </a:moveTo>
                <a:cubicBezTo>
                  <a:pt x="354" y="14642"/>
                  <a:pt x="-1061" y="29668"/>
                  <a:pt x="2484" y="43875"/>
                </a:cubicBezTo>
                <a:cubicBezTo>
                  <a:pt x="3849" y="49344"/>
                  <a:pt x="9571" y="52670"/>
                  <a:pt x="13559" y="56653"/>
                </a:cubicBezTo>
              </a:path>
            </a:pathLst>
          </a:custGeom>
          <a:noFill/>
          <a:ln cap="flat" cmpd="sng" w="38100">
            <a:solidFill>
              <a:schemeClr val="dk2"/>
            </a:solidFill>
            <a:prstDash val="solid"/>
            <a:round/>
            <a:headEnd len="med" w="med" type="none"/>
            <a:tailEnd len="med" w="med" type="triangle"/>
          </a:ln>
        </p:spPr>
      </p:sp>
      <p:sp>
        <p:nvSpPr>
          <p:cNvPr id="213" name="Google Shape;213;p42"/>
          <p:cNvSpPr txBox="1"/>
          <p:nvPr/>
        </p:nvSpPr>
        <p:spPr>
          <a:xfrm>
            <a:off x="1150075" y="2353125"/>
            <a:ext cx="1546200" cy="42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i="1" lang="en" sz="1500">
                <a:solidFill>
                  <a:schemeClr val="dk1"/>
                </a:solidFill>
                <a:latin typeface="Nunito"/>
                <a:ea typeface="Nunito"/>
                <a:cs typeface="Nunito"/>
                <a:sym typeface="Nunito"/>
              </a:rPr>
              <a:t>Bring API key.</a:t>
            </a:r>
            <a:endParaRPr b="0" i="1" sz="1500" u="none" cap="none" strike="noStrike">
              <a:solidFill>
                <a:schemeClr val="dk1"/>
              </a:solidFill>
              <a:latin typeface="Nunito"/>
              <a:ea typeface="Nunito"/>
              <a:cs typeface="Nunito"/>
              <a:sym typeface="Nunito"/>
            </a:endParaRPr>
          </a:p>
        </p:txBody>
      </p:sp>
      <p:sp>
        <p:nvSpPr>
          <p:cNvPr id="214" name="Google Shape;214;p42"/>
          <p:cNvSpPr/>
          <p:nvPr/>
        </p:nvSpPr>
        <p:spPr>
          <a:xfrm>
            <a:off x="2779400" y="1869213"/>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med" w="med" type="none"/>
            <a:tailEnd len="med" w="med" type="triangle"/>
          </a:ln>
        </p:spPr>
      </p:sp>
      <p:sp>
        <p:nvSpPr>
          <p:cNvPr id="215" name="Google Shape;215;p42"/>
          <p:cNvSpPr txBox="1"/>
          <p:nvPr/>
        </p:nvSpPr>
        <p:spPr>
          <a:xfrm>
            <a:off x="2960375" y="248185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i="1" lang="en" sz="1500">
                <a:solidFill>
                  <a:schemeClr val="dk1"/>
                </a:solidFill>
                <a:latin typeface="Nunito"/>
                <a:ea typeface="Nunito"/>
                <a:cs typeface="Nunito"/>
                <a:sym typeface="Nunito"/>
              </a:rPr>
              <a:t>Call model with text prompt like: “Hey what are you?”</a:t>
            </a:r>
            <a:endParaRPr b="0" i="1" sz="1500" u="none" cap="none" strike="noStrike">
              <a:solidFill>
                <a:schemeClr val="dk1"/>
              </a:solidFill>
              <a:latin typeface="Nunito"/>
              <a:ea typeface="Nunito"/>
              <a:cs typeface="Nunito"/>
              <a:sym typeface="Nunito"/>
            </a:endParaRPr>
          </a:p>
        </p:txBody>
      </p:sp>
      <p:sp>
        <p:nvSpPr>
          <p:cNvPr id="216" name="Google Shape;216;p42"/>
          <p:cNvSpPr/>
          <p:nvPr/>
        </p:nvSpPr>
        <p:spPr>
          <a:xfrm rot="10800000">
            <a:off x="4781375" y="1869200"/>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med" w="med" type="none"/>
            <a:tailEnd len="med" w="med" type="triangle"/>
          </a:ln>
        </p:spPr>
      </p:sp>
      <p:sp>
        <p:nvSpPr>
          <p:cNvPr id="217" name="Google Shape;217;p42"/>
          <p:cNvSpPr txBox="1"/>
          <p:nvPr/>
        </p:nvSpPr>
        <p:spPr>
          <a:xfrm>
            <a:off x="5924150" y="193140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i="1" lang="en" sz="1500">
                <a:solidFill>
                  <a:schemeClr val="dk1"/>
                </a:solidFill>
                <a:latin typeface="Nunito"/>
                <a:ea typeface="Nunito"/>
                <a:cs typeface="Nunito"/>
                <a:sym typeface="Nunito"/>
              </a:rPr>
              <a:t>Receive response like: “I am an LLM built by OpenAI…”</a:t>
            </a:r>
            <a:endParaRPr b="0" i="1" sz="1500" u="none" cap="none" strike="noStrike">
              <a:solidFill>
                <a:schemeClr val="dk1"/>
              </a:solidFill>
              <a:latin typeface="Nunito"/>
              <a:ea typeface="Nunito"/>
              <a:cs typeface="Nunito"/>
              <a:sym typeface="Nunito"/>
            </a:endParaRPr>
          </a:p>
        </p:txBody>
      </p:sp>
      <p:sp>
        <p:nvSpPr>
          <p:cNvPr id="218" name="Google Shape;218;p42"/>
          <p:cNvSpPr/>
          <p:nvPr/>
        </p:nvSpPr>
        <p:spPr>
          <a:xfrm>
            <a:off x="4781375" y="3352475"/>
            <a:ext cx="42843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42"/>
          <p:cNvSpPr txBox="1"/>
          <p:nvPr/>
        </p:nvSpPr>
        <p:spPr>
          <a:xfrm>
            <a:off x="5100950" y="3397050"/>
            <a:ext cx="3716400" cy="1244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lang="en" sz="1500">
                <a:solidFill>
                  <a:schemeClr val="dk1"/>
                </a:solidFill>
                <a:latin typeface="Nunito"/>
                <a:ea typeface="Nunito"/>
                <a:cs typeface="Nunito"/>
                <a:sym typeface="Nunito"/>
              </a:rPr>
              <a:t>Thanks to this raw and programmatic access, we have much more freedom with these models! Custom functions, access to other systems, loops and much more gives us the power to build apps.  </a:t>
            </a:r>
            <a:endParaRPr b="0" i="0" sz="1500" u="none" cap="none" strike="noStrike">
              <a:solidFill>
                <a:schemeClr val="dk1"/>
              </a:solidFill>
              <a:latin typeface="Nunito"/>
              <a:ea typeface="Nunito"/>
              <a:cs typeface="Nunito"/>
              <a:sym typeface="Nunito"/>
            </a:endParaRPr>
          </a:p>
        </p:txBody>
      </p:sp>
      <p:sp>
        <p:nvSpPr>
          <p:cNvPr id="220" name="Google Shape;220;p42"/>
          <p:cNvSpPr txBox="1"/>
          <p:nvPr/>
        </p:nvSpPr>
        <p:spPr>
          <a:xfrm>
            <a:off x="6772800" y="454050"/>
            <a:ext cx="2186400" cy="635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lang="en" sz="1500">
                <a:solidFill>
                  <a:schemeClr val="dk1"/>
                </a:solidFill>
                <a:latin typeface="Nunito"/>
                <a:ea typeface="Nunito"/>
                <a:cs typeface="Nunito"/>
                <a:sym typeface="Nunito"/>
              </a:rPr>
              <a:t>Billed per token, not monthly subscription.</a:t>
            </a:r>
            <a:endParaRPr b="1" sz="1500" u="none" cap="none" strike="noStrike">
              <a:solidFill>
                <a:schemeClr val="dk1"/>
              </a:solidFill>
              <a:latin typeface="Nunito"/>
              <a:ea typeface="Nunito"/>
              <a:cs typeface="Nunito"/>
              <a:sym typeface="Nuni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43"/>
          <p:cNvSpPr/>
          <p:nvPr/>
        </p:nvSpPr>
        <p:spPr>
          <a:xfrm>
            <a:off x="0" y="0"/>
            <a:ext cx="9144000" cy="104700"/>
          </a:xfrm>
          <a:prstGeom prst="rect">
            <a:avLst/>
          </a:prstGeom>
          <a:solidFill>
            <a:srgbClr val="EAD1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43"/>
          <p:cNvSpPr/>
          <p:nvPr/>
        </p:nvSpPr>
        <p:spPr>
          <a:xfrm>
            <a:off x="415175" y="3352500"/>
            <a:ext cx="43662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 name="Google Shape;227;p43"/>
          <p:cNvSpPr/>
          <p:nvPr/>
        </p:nvSpPr>
        <p:spPr>
          <a:xfrm>
            <a:off x="253550" y="454050"/>
            <a:ext cx="6263700" cy="1326900"/>
          </a:xfrm>
          <a:prstGeom prst="roundRect">
            <a:avLst>
              <a:gd fmla="val 16667" name="adj"/>
            </a:avLst>
          </a:prstGeom>
          <a:solidFill>
            <a:srgbClr val="FCE5C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43"/>
          <p:cNvSpPr txBox="1"/>
          <p:nvPr/>
        </p:nvSpPr>
        <p:spPr>
          <a:xfrm>
            <a:off x="415175" y="575925"/>
            <a:ext cx="25452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t/>
            </a:r>
            <a:endParaRPr sz="1500">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lang="en" sz="1500">
                <a:solidFill>
                  <a:schemeClr val="dk1"/>
                </a:solidFill>
                <a:latin typeface="Nunito"/>
                <a:ea typeface="Nunito"/>
                <a:cs typeface="Nunito"/>
                <a:sym typeface="Nunito"/>
              </a:rPr>
              <a:t>Account</a:t>
            </a:r>
            <a:endParaRPr sz="1500">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lang="en" sz="1500">
                <a:solidFill>
                  <a:schemeClr val="dk1"/>
                </a:solidFill>
                <a:latin typeface="Nunito"/>
                <a:ea typeface="Nunito"/>
                <a:cs typeface="Nunito"/>
                <a:sym typeface="Nunito"/>
              </a:rPr>
              <a:t>Test in Spaces</a:t>
            </a:r>
            <a:endParaRPr sz="1500">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lang="en" sz="1500">
                <a:solidFill>
                  <a:schemeClr val="dk1"/>
                </a:solidFill>
                <a:latin typeface="Nunito"/>
                <a:ea typeface="Nunito"/>
                <a:cs typeface="Nunito"/>
                <a:sym typeface="Nunito"/>
              </a:rPr>
              <a:t>Generate API key</a:t>
            </a:r>
            <a:endParaRPr sz="1500">
              <a:solidFill>
                <a:schemeClr val="dk1"/>
              </a:solidFill>
              <a:latin typeface="Nunito"/>
              <a:ea typeface="Nunito"/>
              <a:cs typeface="Nunito"/>
              <a:sym typeface="Nunito"/>
            </a:endParaRPr>
          </a:p>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Nunito"/>
              <a:ea typeface="Nunito"/>
              <a:cs typeface="Nunito"/>
              <a:sym typeface="Nunito"/>
            </a:endParaRPr>
          </a:p>
        </p:txBody>
      </p:sp>
      <p:pic>
        <p:nvPicPr>
          <p:cNvPr id="229" name="Google Shape;229;p43"/>
          <p:cNvPicPr preferRelativeResize="0"/>
          <p:nvPr/>
        </p:nvPicPr>
        <p:blipFill rotWithShape="1">
          <a:blip r:embed="rId3">
            <a:alphaModFix/>
          </a:blip>
          <a:srcRect b="0" l="21220" r="19507" t="0"/>
          <a:stretch/>
        </p:blipFill>
        <p:spPr>
          <a:xfrm>
            <a:off x="3101050" y="618525"/>
            <a:ext cx="450156" cy="427199"/>
          </a:xfrm>
          <a:prstGeom prst="rect">
            <a:avLst/>
          </a:prstGeom>
          <a:noFill/>
          <a:ln>
            <a:noFill/>
          </a:ln>
        </p:spPr>
      </p:pic>
      <p:sp>
        <p:nvSpPr>
          <p:cNvPr id="230" name="Google Shape;230;p43"/>
          <p:cNvSpPr txBox="1"/>
          <p:nvPr/>
        </p:nvSpPr>
        <p:spPr>
          <a:xfrm>
            <a:off x="3652550" y="574800"/>
            <a:ext cx="2917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lang="en" sz="1500">
                <a:solidFill>
                  <a:schemeClr val="dk1"/>
                </a:solidFill>
                <a:latin typeface="Nunito"/>
                <a:ea typeface="Nunito"/>
                <a:cs typeface="Nunito"/>
                <a:sym typeface="Nunito"/>
              </a:rPr>
              <a:t>OpenAI and other vendors are publishing open-weights versions of their models that we can freely work with.</a:t>
            </a:r>
            <a:endParaRPr b="0" i="0" sz="1500" u="none" cap="none" strike="noStrike">
              <a:solidFill>
                <a:schemeClr val="dk1"/>
              </a:solidFill>
              <a:latin typeface="Nunito"/>
              <a:ea typeface="Nunito"/>
              <a:cs typeface="Nunito"/>
              <a:sym typeface="Nunito"/>
            </a:endParaRPr>
          </a:p>
        </p:txBody>
      </p:sp>
      <p:pic>
        <p:nvPicPr>
          <p:cNvPr id="231" name="Google Shape;231;p43" title="laptop-icon.png"/>
          <p:cNvPicPr preferRelativeResize="0"/>
          <p:nvPr/>
        </p:nvPicPr>
        <p:blipFill>
          <a:blip r:embed="rId4">
            <a:alphaModFix/>
          </a:blip>
          <a:stretch>
            <a:fillRect/>
          </a:stretch>
        </p:blipFill>
        <p:spPr>
          <a:xfrm>
            <a:off x="523350" y="3441750"/>
            <a:ext cx="899850" cy="899850"/>
          </a:xfrm>
          <a:prstGeom prst="rect">
            <a:avLst/>
          </a:prstGeom>
          <a:noFill/>
          <a:ln>
            <a:noFill/>
          </a:ln>
        </p:spPr>
      </p:pic>
      <p:sp>
        <p:nvSpPr>
          <p:cNvPr id="232" name="Google Shape;232;p43"/>
          <p:cNvSpPr txBox="1"/>
          <p:nvPr/>
        </p:nvSpPr>
        <p:spPr>
          <a:xfrm>
            <a:off x="1423200" y="3556200"/>
            <a:ext cx="3148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lang="en" sz="1500">
                <a:solidFill>
                  <a:schemeClr val="dk1"/>
                </a:solidFill>
                <a:latin typeface="Nunito"/>
                <a:ea typeface="Nunito"/>
                <a:cs typeface="Nunito"/>
                <a:sym typeface="Nunito"/>
              </a:rPr>
              <a:t>Our </a:t>
            </a:r>
            <a:r>
              <a:rPr b="1" lang="en" sz="1500">
                <a:solidFill>
                  <a:schemeClr val="dk1"/>
                </a:solidFill>
                <a:latin typeface="Nunito"/>
                <a:ea typeface="Nunito"/>
                <a:cs typeface="Nunito"/>
                <a:sym typeface="Nunito"/>
              </a:rPr>
              <a:t>compute</a:t>
            </a:r>
            <a:r>
              <a:rPr lang="en" sz="1500">
                <a:solidFill>
                  <a:schemeClr val="dk1"/>
                </a:solidFill>
                <a:latin typeface="Nunito"/>
                <a:ea typeface="Nunito"/>
                <a:cs typeface="Nunito"/>
                <a:sym typeface="Nunito"/>
              </a:rPr>
              <a:t> (laptop, server, Colab instance). We will host both the model and (optionally) also the app that we want to </a:t>
            </a:r>
            <a:r>
              <a:rPr lang="en" sz="1500">
                <a:solidFill>
                  <a:schemeClr val="dk1"/>
                </a:solidFill>
                <a:latin typeface="Nunito"/>
                <a:ea typeface="Nunito"/>
                <a:cs typeface="Nunito"/>
                <a:sym typeface="Nunito"/>
              </a:rPr>
              <a:t>build.</a:t>
            </a:r>
            <a:endParaRPr b="0" i="0" sz="1500" u="none" cap="none" strike="noStrike">
              <a:solidFill>
                <a:schemeClr val="dk1"/>
              </a:solidFill>
              <a:latin typeface="Nunito"/>
              <a:ea typeface="Nunito"/>
              <a:cs typeface="Nunito"/>
              <a:sym typeface="Nunito"/>
            </a:endParaRPr>
          </a:p>
        </p:txBody>
      </p:sp>
      <p:sp>
        <p:nvSpPr>
          <p:cNvPr id="233" name="Google Shape;233;p43"/>
          <p:cNvSpPr/>
          <p:nvPr/>
        </p:nvSpPr>
        <p:spPr>
          <a:xfrm>
            <a:off x="1215804" y="1884875"/>
            <a:ext cx="338950" cy="1416325"/>
          </a:xfrm>
          <a:custGeom>
            <a:rect b="b" l="l" r="r" t="t"/>
            <a:pathLst>
              <a:path extrusionOk="0" h="56653" w="13558">
                <a:moveTo>
                  <a:pt x="354" y="0"/>
                </a:moveTo>
                <a:cubicBezTo>
                  <a:pt x="354" y="14642"/>
                  <a:pt x="-1061" y="29668"/>
                  <a:pt x="2484" y="43875"/>
                </a:cubicBezTo>
                <a:cubicBezTo>
                  <a:pt x="3849" y="49344"/>
                  <a:pt x="9571" y="52670"/>
                  <a:pt x="13559" y="56653"/>
                </a:cubicBezTo>
              </a:path>
            </a:pathLst>
          </a:custGeom>
          <a:noFill/>
          <a:ln cap="flat" cmpd="sng" w="38100">
            <a:solidFill>
              <a:schemeClr val="dk2"/>
            </a:solidFill>
            <a:prstDash val="solid"/>
            <a:round/>
            <a:headEnd len="med" w="med" type="none"/>
            <a:tailEnd len="med" w="med" type="triangle"/>
          </a:ln>
        </p:spPr>
      </p:sp>
      <p:sp>
        <p:nvSpPr>
          <p:cNvPr id="234" name="Google Shape;234;p43"/>
          <p:cNvSpPr txBox="1"/>
          <p:nvPr/>
        </p:nvSpPr>
        <p:spPr>
          <a:xfrm>
            <a:off x="1150075" y="2353125"/>
            <a:ext cx="1546200" cy="42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i="1" lang="en" sz="1500">
                <a:solidFill>
                  <a:schemeClr val="dk1"/>
                </a:solidFill>
                <a:latin typeface="Nunito"/>
                <a:ea typeface="Nunito"/>
                <a:cs typeface="Nunito"/>
                <a:sym typeface="Nunito"/>
              </a:rPr>
              <a:t>Bring API key.</a:t>
            </a:r>
            <a:endParaRPr b="0" i="1" sz="1500" u="none" cap="none" strike="noStrike">
              <a:solidFill>
                <a:schemeClr val="dk1"/>
              </a:solidFill>
              <a:latin typeface="Nunito"/>
              <a:ea typeface="Nunito"/>
              <a:cs typeface="Nunito"/>
              <a:sym typeface="Nunito"/>
            </a:endParaRPr>
          </a:p>
        </p:txBody>
      </p:sp>
      <p:sp>
        <p:nvSpPr>
          <p:cNvPr id="235" name="Google Shape;235;p43"/>
          <p:cNvSpPr/>
          <p:nvPr/>
        </p:nvSpPr>
        <p:spPr>
          <a:xfrm>
            <a:off x="2779400" y="1869213"/>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med" w="med" type="none"/>
            <a:tailEnd len="med" w="med" type="triangle"/>
          </a:ln>
        </p:spPr>
      </p:sp>
      <p:sp>
        <p:nvSpPr>
          <p:cNvPr id="236" name="Google Shape;236;p43"/>
          <p:cNvSpPr txBox="1"/>
          <p:nvPr/>
        </p:nvSpPr>
        <p:spPr>
          <a:xfrm>
            <a:off x="2960375" y="248185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i="1" lang="en" sz="1500">
                <a:solidFill>
                  <a:schemeClr val="dk1"/>
                </a:solidFill>
                <a:latin typeface="Nunito"/>
                <a:ea typeface="Nunito"/>
                <a:cs typeface="Nunito"/>
                <a:sym typeface="Nunito"/>
              </a:rPr>
              <a:t>Download model gpt-oss-20b</a:t>
            </a:r>
            <a:endParaRPr b="0" i="1" sz="1500" u="none" cap="none" strike="noStrike">
              <a:solidFill>
                <a:schemeClr val="dk1"/>
              </a:solidFill>
              <a:latin typeface="Nunito"/>
              <a:ea typeface="Nunito"/>
              <a:cs typeface="Nunito"/>
              <a:sym typeface="Nunito"/>
            </a:endParaRPr>
          </a:p>
        </p:txBody>
      </p:sp>
      <p:sp>
        <p:nvSpPr>
          <p:cNvPr id="237" name="Google Shape;237;p43"/>
          <p:cNvSpPr/>
          <p:nvPr/>
        </p:nvSpPr>
        <p:spPr>
          <a:xfrm rot="10800000">
            <a:off x="4781375" y="1869200"/>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med" w="med" type="none"/>
            <a:tailEnd len="med" w="med" type="triangle"/>
          </a:ln>
        </p:spPr>
      </p:sp>
      <p:sp>
        <p:nvSpPr>
          <p:cNvPr id="238" name="Google Shape;238;p43"/>
          <p:cNvSpPr txBox="1"/>
          <p:nvPr/>
        </p:nvSpPr>
        <p:spPr>
          <a:xfrm>
            <a:off x="5924150" y="193140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i="1" lang="en" sz="1500">
                <a:solidFill>
                  <a:schemeClr val="dk1"/>
                </a:solidFill>
                <a:latin typeface="Nunito"/>
                <a:ea typeface="Nunito"/>
                <a:cs typeface="Nunito"/>
                <a:sym typeface="Nunito"/>
              </a:rPr>
              <a:t>Download the model (e.g. 20GB s)</a:t>
            </a:r>
            <a:endParaRPr b="0" i="1" sz="1500" u="none" cap="none" strike="noStrike">
              <a:solidFill>
                <a:schemeClr val="dk1"/>
              </a:solidFill>
              <a:latin typeface="Nunito"/>
              <a:ea typeface="Nunito"/>
              <a:cs typeface="Nunito"/>
              <a:sym typeface="Nunito"/>
            </a:endParaRPr>
          </a:p>
        </p:txBody>
      </p:sp>
      <p:sp>
        <p:nvSpPr>
          <p:cNvPr id="239" name="Google Shape;239;p43"/>
          <p:cNvSpPr/>
          <p:nvPr/>
        </p:nvSpPr>
        <p:spPr>
          <a:xfrm>
            <a:off x="4781375" y="3352475"/>
            <a:ext cx="42843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43"/>
          <p:cNvSpPr txBox="1"/>
          <p:nvPr/>
        </p:nvSpPr>
        <p:spPr>
          <a:xfrm>
            <a:off x="5100950" y="3397050"/>
            <a:ext cx="3716400" cy="1244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lang="en" sz="1500">
                <a:solidFill>
                  <a:schemeClr val="dk1"/>
                </a:solidFill>
                <a:latin typeface="Nunito"/>
                <a:ea typeface="Nunito"/>
                <a:cs typeface="Nunito"/>
                <a:sym typeface="Nunito"/>
              </a:rPr>
              <a:t>We have all the freedom! Once the download is finished, our data don't have to leave our machine!</a:t>
            </a:r>
            <a:endParaRPr b="0" i="0" sz="1500" u="none" cap="none" strike="noStrike">
              <a:solidFill>
                <a:schemeClr val="dk1"/>
              </a:solidFill>
              <a:latin typeface="Nunito"/>
              <a:ea typeface="Nunito"/>
              <a:cs typeface="Nunito"/>
              <a:sym typeface="Nunito"/>
            </a:endParaRPr>
          </a:p>
        </p:txBody>
      </p:sp>
      <p:sp>
        <p:nvSpPr>
          <p:cNvPr id="241" name="Google Shape;241;p43"/>
          <p:cNvSpPr txBox="1"/>
          <p:nvPr/>
        </p:nvSpPr>
        <p:spPr>
          <a:xfrm>
            <a:off x="6772800" y="454050"/>
            <a:ext cx="2186400" cy="635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lang="en" sz="1500">
                <a:solidFill>
                  <a:schemeClr val="dk1"/>
                </a:solidFill>
                <a:latin typeface="Nunito"/>
                <a:ea typeface="Nunito"/>
                <a:cs typeface="Nunito"/>
                <a:sym typeface="Nunito"/>
              </a:rPr>
              <a:t>The cost is in the necessary hardware for our compute.</a:t>
            </a:r>
            <a:endParaRPr b="1" sz="1500" u="none" cap="none" strike="noStrike">
              <a:solidFill>
                <a:schemeClr val="dk1"/>
              </a:solidFill>
              <a:latin typeface="Nunito"/>
              <a:ea typeface="Nunito"/>
              <a:cs typeface="Nunito"/>
              <a:sym typeface="Nunito"/>
            </a:endParaRPr>
          </a:p>
        </p:txBody>
      </p:sp>
      <p:pic>
        <p:nvPicPr>
          <p:cNvPr id="242" name="Google Shape;242;p43"/>
          <p:cNvPicPr preferRelativeResize="0"/>
          <p:nvPr/>
        </p:nvPicPr>
        <p:blipFill rotWithShape="1">
          <a:blip r:embed="rId5">
            <a:alphaModFix/>
          </a:blip>
          <a:srcRect b="0" l="0" r="0" t="0"/>
          <a:stretch/>
        </p:blipFill>
        <p:spPr>
          <a:xfrm>
            <a:off x="626350" y="454050"/>
            <a:ext cx="1607001" cy="4272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 name="Shape 247"/>
        <p:cNvGrpSpPr/>
        <p:nvPr/>
      </p:nvGrpSpPr>
      <p:grpSpPr>
        <a:xfrm>
          <a:off x="0" y="0"/>
          <a:ext cx="0" cy="0"/>
          <a:chOff x="0" y="0"/>
          <a:chExt cx="0" cy="0"/>
        </a:xfrm>
      </p:grpSpPr>
      <p:sp>
        <p:nvSpPr>
          <p:cNvPr id="248" name="Google Shape;248;p44"/>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44"/>
          <p:cNvSpPr/>
          <p:nvPr/>
        </p:nvSpPr>
        <p:spPr>
          <a:xfrm>
            <a:off x="731520" y="914400"/>
            <a:ext cx="7680900" cy="18288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A4A"/>
              </a:buClr>
              <a:buSzPts val="3800"/>
              <a:buFont typeface="Georgia"/>
              <a:buNone/>
            </a:pPr>
            <a:r>
              <a:rPr b="1" i="0" lang="en" sz="3800" u="none" cap="none" strike="noStrike">
                <a:solidFill>
                  <a:srgbClr val="1B2A4A"/>
                </a:solidFill>
                <a:latin typeface="Georgia"/>
                <a:ea typeface="Georgia"/>
                <a:cs typeface="Georgia"/>
                <a:sym typeface="Georgia"/>
              </a:rPr>
              <a:t>How Open-Source GenAI</a:t>
            </a:r>
            <a:endParaRPr b="0" i="0" sz="3800" u="none" cap="none" strike="noStrike">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1B2A4A"/>
              </a:buClr>
              <a:buSzPts val="3800"/>
              <a:buFont typeface="Georgia"/>
              <a:buNone/>
            </a:pPr>
            <a:r>
              <a:rPr b="1" i="0" lang="en" sz="3800" u="none" cap="none" strike="noStrike">
                <a:solidFill>
                  <a:srgbClr val="1B2A4A"/>
                </a:solidFill>
                <a:latin typeface="Georgia"/>
                <a:ea typeface="Georgia"/>
                <a:cs typeface="Georgia"/>
                <a:sym typeface="Georgia"/>
              </a:rPr>
              <a:t>Companies Make Money</a:t>
            </a:r>
            <a:endParaRPr b="0" i="0" sz="3800" u="none" cap="none" strike="noStrike">
              <a:solidFill>
                <a:schemeClr val="dk1"/>
              </a:solidFill>
              <a:latin typeface="Calibri"/>
              <a:ea typeface="Calibri"/>
              <a:cs typeface="Calibri"/>
              <a:sym typeface="Calibri"/>
            </a:endParaRPr>
          </a:p>
        </p:txBody>
      </p:sp>
      <p:sp>
        <p:nvSpPr>
          <p:cNvPr id="250" name="Google Shape;250;p44"/>
          <p:cNvSpPr/>
          <p:nvPr/>
        </p:nvSpPr>
        <p:spPr>
          <a:xfrm>
            <a:off x="731520" y="2743200"/>
            <a:ext cx="76809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600"/>
              <a:buFont typeface="Calibri"/>
              <a:buNone/>
            </a:pPr>
            <a:r>
              <a:rPr b="0" i="0" lang="en" sz="1600" u="none" cap="none" strike="noStrike">
                <a:solidFill>
                  <a:srgbClr val="6B7280"/>
                </a:solidFill>
                <a:latin typeface="Calibri"/>
                <a:ea typeface="Calibri"/>
                <a:cs typeface="Calibri"/>
                <a:sym typeface="Calibri"/>
              </a:rPr>
              <a:t>Monetization Strategies, Revenue Models &amp; Sustainability</a:t>
            </a:r>
            <a:endParaRPr b="0" i="0" sz="1600" u="none" cap="none" strike="noStrike">
              <a:solidFill>
                <a:schemeClr val="dk1"/>
              </a:solidFill>
              <a:latin typeface="Calibri"/>
              <a:ea typeface="Calibri"/>
              <a:cs typeface="Calibri"/>
              <a:sym typeface="Calibri"/>
            </a:endParaRPr>
          </a:p>
        </p:txBody>
      </p:sp>
      <p:sp>
        <p:nvSpPr>
          <p:cNvPr id="251" name="Google Shape;251;p44"/>
          <p:cNvSpPr/>
          <p:nvPr/>
        </p:nvSpPr>
        <p:spPr>
          <a:xfrm>
            <a:off x="731520" y="3383280"/>
            <a:ext cx="1828800" cy="366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44"/>
          <p:cNvSpPr/>
          <p:nvPr/>
        </p:nvSpPr>
        <p:spPr>
          <a:xfrm>
            <a:off x="731520" y="3657600"/>
            <a:ext cx="3657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200"/>
              <a:buFont typeface="Calibri"/>
              <a:buNone/>
            </a:pPr>
            <a:r>
              <a:rPr b="0" i="0" lang="en" sz="1200" u="none" cap="none" strike="noStrike">
                <a:solidFill>
                  <a:srgbClr val="6B7280"/>
                </a:solidFill>
                <a:latin typeface="Calibri"/>
                <a:ea typeface="Calibri"/>
                <a:cs typeface="Calibri"/>
                <a:sym typeface="Calibri"/>
              </a:rPr>
              <a:t>barcik.training  |  2026</a:t>
            </a:r>
            <a:endParaRPr b="0" i="0" sz="1200" u="none" cap="none" strike="noStrike">
              <a:solidFill>
                <a:schemeClr val="dk1"/>
              </a:solidFill>
              <a:latin typeface="Calibri"/>
              <a:ea typeface="Calibri"/>
              <a:cs typeface="Calibri"/>
              <a:sym typeface="Calibri"/>
            </a:endParaRPr>
          </a:p>
        </p:txBody>
      </p:sp>
      <p:pic>
        <p:nvPicPr>
          <p:cNvPr descr="preencoded.png" id="253" name="Google Shape;253;p44"/>
          <p:cNvPicPr preferRelativeResize="0"/>
          <p:nvPr/>
        </p:nvPicPr>
        <p:blipFill rotWithShape="1">
          <a:blip r:embed="rId3">
            <a:alphaModFix/>
          </a:blip>
          <a:srcRect b="0" l="0" r="0" t="0"/>
          <a:stretch/>
        </p:blipFill>
        <p:spPr>
          <a:xfrm>
            <a:off x="6858000" y="3200400"/>
            <a:ext cx="548640" cy="548640"/>
          </a:xfrm>
          <a:prstGeom prst="rect">
            <a:avLst/>
          </a:prstGeom>
          <a:noFill/>
          <a:ln>
            <a:noFill/>
          </a:ln>
        </p:spPr>
      </p:pic>
      <p:pic>
        <p:nvPicPr>
          <p:cNvPr descr="preencoded.png" id="254" name="Google Shape;254;p44"/>
          <p:cNvPicPr preferRelativeResize="0"/>
          <p:nvPr/>
        </p:nvPicPr>
        <p:blipFill rotWithShape="1">
          <a:blip r:embed="rId4">
            <a:alphaModFix/>
          </a:blip>
          <a:srcRect b="0" l="0" r="0" t="0"/>
          <a:stretch/>
        </p:blipFill>
        <p:spPr>
          <a:xfrm>
            <a:off x="7589520" y="3474720"/>
            <a:ext cx="457200" cy="457200"/>
          </a:xfrm>
          <a:prstGeom prst="rect">
            <a:avLst/>
          </a:prstGeom>
          <a:noFill/>
          <a:ln>
            <a:noFill/>
          </a:ln>
        </p:spPr>
      </p:pic>
      <p:pic>
        <p:nvPicPr>
          <p:cNvPr descr="preencoded.png" id="255" name="Google Shape;255;p44"/>
          <p:cNvPicPr preferRelativeResize="0"/>
          <p:nvPr/>
        </p:nvPicPr>
        <p:blipFill rotWithShape="1">
          <a:blip r:embed="rId5">
            <a:alphaModFix/>
          </a:blip>
          <a:srcRect b="0" l="0" r="0" t="0"/>
          <a:stretch/>
        </p:blipFill>
        <p:spPr>
          <a:xfrm>
            <a:off x="8138160" y="3017520"/>
            <a:ext cx="457200" cy="4572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 name="Shape 260"/>
        <p:cNvGrpSpPr/>
        <p:nvPr/>
      </p:nvGrpSpPr>
      <p:grpSpPr>
        <a:xfrm>
          <a:off x="0" y="0"/>
          <a:ext cx="0" cy="0"/>
          <a:chOff x="0" y="0"/>
          <a:chExt cx="0" cy="0"/>
        </a:xfrm>
      </p:grpSpPr>
      <p:sp>
        <p:nvSpPr>
          <p:cNvPr id="261" name="Google Shape;261;p45"/>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62" name="Google Shape;262;p45"/>
          <p:cNvPicPr preferRelativeResize="0"/>
          <p:nvPr/>
        </p:nvPicPr>
        <p:blipFill rotWithShape="1">
          <a:blip r:embed="rId3">
            <a:alphaModFix/>
          </a:blip>
          <a:srcRect b="0" l="0" r="0" t="0"/>
          <a:stretch/>
        </p:blipFill>
        <p:spPr>
          <a:xfrm>
            <a:off x="731520" y="457200"/>
            <a:ext cx="457200" cy="457200"/>
          </a:xfrm>
          <a:prstGeom prst="rect">
            <a:avLst/>
          </a:prstGeom>
          <a:noFill/>
          <a:ln>
            <a:noFill/>
          </a:ln>
        </p:spPr>
      </p:pic>
      <p:sp>
        <p:nvSpPr>
          <p:cNvPr id="263" name="Google Shape;263;p45"/>
          <p:cNvSpPr/>
          <p:nvPr/>
        </p:nvSpPr>
        <p:spPr>
          <a:xfrm>
            <a:off x="1371600" y="41148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800"/>
              <a:buFont typeface="Georgia"/>
              <a:buNone/>
            </a:pPr>
            <a:r>
              <a:rPr b="1" i="0" lang="en" sz="2800" u="none" cap="none" strike="noStrike">
                <a:solidFill>
                  <a:srgbClr val="1B2A4A"/>
                </a:solidFill>
                <a:latin typeface="Georgia"/>
                <a:ea typeface="Georgia"/>
                <a:cs typeface="Georgia"/>
                <a:sym typeface="Georgia"/>
              </a:rPr>
              <a:t>The Student Question</a:t>
            </a:r>
            <a:endParaRPr b="0" i="0" sz="2800" u="none" cap="none" strike="noStrike">
              <a:solidFill>
                <a:schemeClr val="dk1"/>
              </a:solidFill>
              <a:latin typeface="Calibri"/>
              <a:ea typeface="Calibri"/>
              <a:cs typeface="Calibri"/>
              <a:sym typeface="Calibri"/>
            </a:endParaRPr>
          </a:p>
        </p:txBody>
      </p:sp>
      <p:sp>
        <p:nvSpPr>
          <p:cNvPr id="264" name="Google Shape;264;p45"/>
          <p:cNvSpPr/>
          <p:nvPr/>
        </p:nvSpPr>
        <p:spPr>
          <a:xfrm>
            <a:off x="914400" y="1280160"/>
            <a:ext cx="7315200" cy="1463100"/>
          </a:xfrm>
          <a:prstGeom prst="rect">
            <a:avLst/>
          </a:prstGeom>
          <a:solidFill>
            <a:srgbClr val="E8F5F1"/>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45"/>
          <p:cNvSpPr/>
          <p:nvPr/>
        </p:nvSpPr>
        <p:spPr>
          <a:xfrm>
            <a:off x="1097280" y="1371600"/>
            <a:ext cx="6949500" cy="128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2A4A"/>
              </a:buClr>
              <a:buSzPts val="2200"/>
              <a:buFont typeface="Georgia"/>
              <a:buNone/>
            </a:pPr>
            <a:r>
              <a:rPr b="0" i="1" lang="en" sz="2200" u="none" cap="none" strike="noStrike">
                <a:solidFill>
                  <a:srgbClr val="1B2A4A"/>
                </a:solidFill>
                <a:latin typeface="Georgia"/>
                <a:ea typeface="Georgia"/>
                <a:cs typeface="Georgia"/>
                <a:sym typeface="Georgia"/>
              </a:rPr>
              <a:t>"If they give it away for free,</a:t>
            </a:r>
            <a:endParaRPr b="0" i="0" sz="2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1B2A4A"/>
              </a:buClr>
              <a:buSzPts val="2200"/>
              <a:buFont typeface="Georgia"/>
              <a:buNone/>
            </a:pPr>
            <a:r>
              <a:rPr b="0" i="1" lang="en" sz="2200" u="none" cap="none" strike="noStrike">
                <a:solidFill>
                  <a:srgbClr val="1B2A4A"/>
                </a:solidFill>
                <a:latin typeface="Georgia"/>
                <a:ea typeface="Georgia"/>
                <a:cs typeface="Georgia"/>
                <a:sym typeface="Georgia"/>
              </a:rPr>
              <a:t>how do they make money?"</a:t>
            </a:r>
            <a:endParaRPr b="0" i="0" sz="2200" u="none" cap="none" strike="noStrike">
              <a:solidFill>
                <a:schemeClr val="dk1"/>
              </a:solidFill>
              <a:latin typeface="Calibri"/>
              <a:ea typeface="Calibri"/>
              <a:cs typeface="Calibri"/>
              <a:sym typeface="Calibri"/>
            </a:endParaRPr>
          </a:p>
        </p:txBody>
      </p:sp>
      <p:sp>
        <p:nvSpPr>
          <p:cNvPr id="266" name="Google Shape;266;p45"/>
          <p:cNvSpPr/>
          <p:nvPr/>
        </p:nvSpPr>
        <p:spPr>
          <a:xfrm>
            <a:off x="914400" y="3017520"/>
            <a:ext cx="73152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A4A"/>
              </a:buClr>
              <a:buSzPts val="1400"/>
              <a:buFont typeface="Calibri"/>
              <a:buNone/>
            </a:pPr>
            <a:r>
              <a:rPr b="1" i="0" lang="en" sz="1400" u="none" cap="none" strike="noStrike">
                <a:solidFill>
                  <a:srgbClr val="1B2A4A"/>
                </a:solidFill>
                <a:latin typeface="Calibri"/>
                <a:ea typeface="Calibri"/>
                <a:cs typeface="Calibri"/>
                <a:sym typeface="Calibri"/>
              </a:rPr>
              <a:t>Short answer: </a:t>
            </a:r>
            <a:r>
              <a:rPr b="0" i="0" lang="en" sz="1400" u="none" cap="none" strike="noStrike">
                <a:solidFill>
                  <a:srgbClr val="333333"/>
                </a:solidFill>
                <a:latin typeface="Calibri"/>
                <a:ea typeface="Calibri"/>
                <a:cs typeface="Calibri"/>
                <a:sym typeface="Calibri"/>
              </a:rPr>
              <a:t>The model is rarely the product. Companies monetize through cloud infrastructure, API access, enterprise services, hardware demand, and ecosystem control. When the model is free, money flows to everything around it.</a:t>
            </a:r>
            <a:endParaRPr b="0" i="0" sz="1400" u="none" cap="none" strike="noStrike">
              <a:solidFill>
                <a:schemeClr val="dk1"/>
              </a:solidFill>
              <a:latin typeface="Calibri"/>
              <a:ea typeface="Calibri"/>
              <a:cs typeface="Calibri"/>
              <a:sym typeface="Calibri"/>
            </a:endParaRPr>
          </a:p>
        </p:txBody>
      </p:sp>
      <p:sp>
        <p:nvSpPr>
          <p:cNvPr id="267" name="Google Shape;267;p45"/>
          <p:cNvSpPr/>
          <p:nvPr/>
        </p:nvSpPr>
        <p:spPr>
          <a:xfrm>
            <a:off x="914400" y="4114800"/>
            <a:ext cx="2011800" cy="8229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45"/>
          <p:cNvSpPr/>
          <p:nvPr/>
        </p:nvSpPr>
        <p:spPr>
          <a:xfrm>
            <a:off x="914400" y="4114800"/>
            <a:ext cx="2011800" cy="50280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$130.5B</a:t>
            </a:r>
            <a:endParaRPr b="0" i="0" sz="2000" u="none" cap="none" strike="noStrike">
              <a:solidFill>
                <a:schemeClr val="dk1"/>
              </a:solidFill>
              <a:latin typeface="Calibri"/>
              <a:ea typeface="Calibri"/>
              <a:cs typeface="Calibri"/>
              <a:sym typeface="Calibri"/>
            </a:endParaRPr>
          </a:p>
        </p:txBody>
      </p:sp>
      <p:sp>
        <p:nvSpPr>
          <p:cNvPr id="269" name="Google Shape;269;p45"/>
          <p:cNvSpPr/>
          <p:nvPr/>
        </p:nvSpPr>
        <p:spPr>
          <a:xfrm>
            <a:off x="914400" y="4617720"/>
            <a:ext cx="2011800" cy="274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NVIDIA FY2025</a:t>
            </a:r>
            <a:endParaRPr b="0" i="0" sz="1000" u="none" cap="none" strike="noStrike">
              <a:solidFill>
                <a:schemeClr val="dk1"/>
              </a:solidFill>
              <a:latin typeface="Calibri"/>
              <a:ea typeface="Calibri"/>
              <a:cs typeface="Calibri"/>
              <a:sym typeface="Calibri"/>
            </a:endParaRPr>
          </a:p>
        </p:txBody>
      </p:sp>
      <p:sp>
        <p:nvSpPr>
          <p:cNvPr id="270" name="Google Shape;270;p45"/>
          <p:cNvSpPr/>
          <p:nvPr/>
        </p:nvSpPr>
        <p:spPr>
          <a:xfrm>
            <a:off x="3200400" y="4114800"/>
            <a:ext cx="2011800" cy="8229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45"/>
          <p:cNvSpPr/>
          <p:nvPr/>
        </p:nvSpPr>
        <p:spPr>
          <a:xfrm>
            <a:off x="3200400" y="4114800"/>
            <a:ext cx="2011800" cy="50280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€300M</a:t>
            </a:r>
            <a:endParaRPr b="0" i="0" sz="2000" u="none" cap="none" strike="noStrike">
              <a:solidFill>
                <a:schemeClr val="dk1"/>
              </a:solidFill>
              <a:latin typeface="Calibri"/>
              <a:ea typeface="Calibri"/>
              <a:cs typeface="Calibri"/>
              <a:sym typeface="Calibri"/>
            </a:endParaRPr>
          </a:p>
        </p:txBody>
      </p:sp>
      <p:sp>
        <p:nvSpPr>
          <p:cNvPr id="272" name="Google Shape;272;p45"/>
          <p:cNvSpPr/>
          <p:nvPr/>
        </p:nvSpPr>
        <p:spPr>
          <a:xfrm>
            <a:off x="3200400" y="4617720"/>
            <a:ext cx="2011800" cy="274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Mistral ARR</a:t>
            </a:r>
            <a:endParaRPr b="0" i="0" sz="1000" u="none" cap="none" strike="noStrike">
              <a:solidFill>
                <a:schemeClr val="dk1"/>
              </a:solidFill>
              <a:latin typeface="Calibri"/>
              <a:ea typeface="Calibri"/>
              <a:cs typeface="Calibri"/>
              <a:sym typeface="Calibri"/>
            </a:endParaRPr>
          </a:p>
        </p:txBody>
      </p:sp>
      <p:sp>
        <p:nvSpPr>
          <p:cNvPr id="273" name="Google Shape;273;p45"/>
          <p:cNvSpPr/>
          <p:nvPr/>
        </p:nvSpPr>
        <p:spPr>
          <a:xfrm>
            <a:off x="5486400" y="4114800"/>
            <a:ext cx="2011800" cy="8229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45"/>
          <p:cNvSpPr/>
          <p:nvPr/>
        </p:nvSpPr>
        <p:spPr>
          <a:xfrm>
            <a:off x="5486400" y="4114800"/>
            <a:ext cx="2011800" cy="50280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$280M</a:t>
            </a:r>
            <a:endParaRPr b="0" i="0" sz="2000" u="none" cap="none" strike="noStrike">
              <a:solidFill>
                <a:schemeClr val="dk1"/>
              </a:solidFill>
              <a:latin typeface="Calibri"/>
              <a:ea typeface="Calibri"/>
              <a:cs typeface="Calibri"/>
              <a:sym typeface="Calibri"/>
            </a:endParaRPr>
          </a:p>
        </p:txBody>
      </p:sp>
      <p:sp>
        <p:nvSpPr>
          <p:cNvPr id="275" name="Google Shape;275;p45"/>
          <p:cNvSpPr/>
          <p:nvPr/>
        </p:nvSpPr>
        <p:spPr>
          <a:xfrm>
            <a:off x="5486400" y="4617720"/>
            <a:ext cx="2011800" cy="274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Fireworks ARR</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46"/>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46"/>
          <p:cNvSpPr/>
          <p:nvPr/>
        </p:nvSpPr>
        <p:spPr>
          <a:xfrm>
            <a:off x="731520" y="274320"/>
            <a:ext cx="76809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800"/>
              <a:buFont typeface="Georgia"/>
              <a:buNone/>
            </a:pPr>
            <a:r>
              <a:rPr b="1" i="0" lang="en" sz="2800" u="none" cap="none" strike="noStrike">
                <a:solidFill>
                  <a:srgbClr val="1B2A4A"/>
                </a:solidFill>
                <a:latin typeface="Georgia"/>
                <a:ea typeface="Georgia"/>
                <a:cs typeface="Georgia"/>
                <a:sym typeface="Georgia"/>
              </a:rPr>
              <a:t>Seven Monetization Models</a:t>
            </a:r>
            <a:endParaRPr b="0" i="0" sz="2800" u="none" cap="none" strike="noStrike">
              <a:solidFill>
                <a:schemeClr val="dk1"/>
              </a:solidFill>
              <a:latin typeface="Calibri"/>
              <a:ea typeface="Calibri"/>
              <a:cs typeface="Calibri"/>
              <a:sym typeface="Calibri"/>
            </a:endParaRPr>
          </a:p>
        </p:txBody>
      </p:sp>
      <p:sp>
        <p:nvSpPr>
          <p:cNvPr id="283" name="Google Shape;283;p46"/>
          <p:cNvSpPr/>
          <p:nvPr/>
        </p:nvSpPr>
        <p:spPr>
          <a:xfrm>
            <a:off x="640080" y="1097280"/>
            <a:ext cx="1828800" cy="14631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46"/>
          <p:cNvSpPr/>
          <p:nvPr/>
        </p:nvSpPr>
        <p:spPr>
          <a:xfrm>
            <a:off x="77724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46"/>
          <p:cNvSpPr/>
          <p:nvPr/>
        </p:nvSpPr>
        <p:spPr>
          <a:xfrm>
            <a:off x="777240" y="1234440"/>
            <a:ext cx="3201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1</a:t>
            </a:r>
            <a:endParaRPr b="0" i="0" sz="1400" u="none" cap="none" strike="noStrike">
              <a:solidFill>
                <a:schemeClr val="dk1"/>
              </a:solidFill>
              <a:latin typeface="Calibri"/>
              <a:ea typeface="Calibri"/>
              <a:cs typeface="Calibri"/>
              <a:sym typeface="Calibri"/>
            </a:endParaRPr>
          </a:p>
        </p:txBody>
      </p:sp>
      <p:pic>
        <p:nvPicPr>
          <p:cNvPr descr="preencoded.png" id="286" name="Google Shape;286;p46"/>
          <p:cNvPicPr preferRelativeResize="0"/>
          <p:nvPr/>
        </p:nvPicPr>
        <p:blipFill rotWithShape="1">
          <a:blip r:embed="rId3">
            <a:alphaModFix/>
          </a:blip>
          <a:srcRect b="0" l="0" r="0" t="0"/>
          <a:stretch/>
        </p:blipFill>
        <p:spPr>
          <a:xfrm>
            <a:off x="1965960" y="1207008"/>
            <a:ext cx="320040" cy="320040"/>
          </a:xfrm>
          <a:prstGeom prst="rect">
            <a:avLst/>
          </a:prstGeom>
          <a:noFill/>
          <a:ln>
            <a:noFill/>
          </a:ln>
        </p:spPr>
      </p:pic>
      <p:sp>
        <p:nvSpPr>
          <p:cNvPr id="287" name="Google Shape;287;p46"/>
          <p:cNvSpPr/>
          <p:nvPr/>
        </p:nvSpPr>
        <p:spPr>
          <a:xfrm>
            <a:off x="777240" y="1645920"/>
            <a:ext cx="1554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Open Core</a:t>
            </a:r>
            <a:endParaRPr b="0" i="0" sz="1200" u="none" cap="none" strike="noStrike">
              <a:solidFill>
                <a:schemeClr val="dk1"/>
              </a:solidFill>
              <a:latin typeface="Calibri"/>
              <a:ea typeface="Calibri"/>
              <a:cs typeface="Calibri"/>
              <a:sym typeface="Calibri"/>
            </a:endParaRPr>
          </a:p>
        </p:txBody>
      </p:sp>
      <p:sp>
        <p:nvSpPr>
          <p:cNvPr id="288" name="Google Shape;288;p46"/>
          <p:cNvSpPr/>
          <p:nvPr/>
        </p:nvSpPr>
        <p:spPr>
          <a:xfrm>
            <a:off x="777240" y="1965960"/>
            <a:ext cx="155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Free base + paid premium models &amp; API</a:t>
            </a:r>
            <a:endParaRPr b="0" i="0" sz="1000" u="none" cap="none" strike="noStrike">
              <a:solidFill>
                <a:schemeClr val="dk1"/>
              </a:solidFill>
              <a:latin typeface="Calibri"/>
              <a:ea typeface="Calibri"/>
              <a:cs typeface="Calibri"/>
              <a:sym typeface="Calibri"/>
            </a:endParaRPr>
          </a:p>
        </p:txBody>
      </p:sp>
      <p:sp>
        <p:nvSpPr>
          <p:cNvPr id="289" name="Google Shape;289;p46"/>
          <p:cNvSpPr/>
          <p:nvPr/>
        </p:nvSpPr>
        <p:spPr>
          <a:xfrm>
            <a:off x="2651760" y="1097280"/>
            <a:ext cx="1828800" cy="14631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46"/>
          <p:cNvSpPr/>
          <p:nvPr/>
        </p:nvSpPr>
        <p:spPr>
          <a:xfrm>
            <a:off x="278892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46"/>
          <p:cNvSpPr/>
          <p:nvPr/>
        </p:nvSpPr>
        <p:spPr>
          <a:xfrm>
            <a:off x="2788920" y="1234440"/>
            <a:ext cx="3201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2</a:t>
            </a:r>
            <a:endParaRPr b="0" i="0" sz="1400" u="none" cap="none" strike="noStrike">
              <a:solidFill>
                <a:schemeClr val="dk1"/>
              </a:solidFill>
              <a:latin typeface="Calibri"/>
              <a:ea typeface="Calibri"/>
              <a:cs typeface="Calibri"/>
              <a:sym typeface="Calibri"/>
            </a:endParaRPr>
          </a:p>
        </p:txBody>
      </p:sp>
      <p:pic>
        <p:nvPicPr>
          <p:cNvPr descr="preencoded.png" id="292" name="Google Shape;292;p46"/>
          <p:cNvPicPr preferRelativeResize="0"/>
          <p:nvPr/>
        </p:nvPicPr>
        <p:blipFill rotWithShape="1">
          <a:blip r:embed="rId4">
            <a:alphaModFix/>
          </a:blip>
          <a:srcRect b="0" l="0" r="0" t="0"/>
          <a:stretch/>
        </p:blipFill>
        <p:spPr>
          <a:xfrm>
            <a:off x="3977640" y="1207008"/>
            <a:ext cx="320040" cy="320040"/>
          </a:xfrm>
          <a:prstGeom prst="rect">
            <a:avLst/>
          </a:prstGeom>
          <a:noFill/>
          <a:ln>
            <a:noFill/>
          </a:ln>
        </p:spPr>
      </p:pic>
      <p:sp>
        <p:nvSpPr>
          <p:cNvPr id="293" name="Google Shape;293;p46"/>
          <p:cNvSpPr/>
          <p:nvPr/>
        </p:nvSpPr>
        <p:spPr>
          <a:xfrm>
            <a:off x="2788920" y="1645920"/>
            <a:ext cx="1554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Commoditize Complement</a:t>
            </a:r>
            <a:endParaRPr b="0" i="0" sz="1200" u="none" cap="none" strike="noStrike">
              <a:solidFill>
                <a:schemeClr val="dk1"/>
              </a:solidFill>
              <a:latin typeface="Calibri"/>
              <a:ea typeface="Calibri"/>
              <a:cs typeface="Calibri"/>
              <a:sym typeface="Calibri"/>
            </a:endParaRPr>
          </a:p>
        </p:txBody>
      </p:sp>
      <p:sp>
        <p:nvSpPr>
          <p:cNvPr id="294" name="Google Shape;294;p46"/>
          <p:cNvSpPr/>
          <p:nvPr/>
        </p:nvSpPr>
        <p:spPr>
          <a:xfrm>
            <a:off x="2788920" y="1965960"/>
            <a:ext cx="155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Free model boosts real revenue source</a:t>
            </a:r>
            <a:endParaRPr b="0" i="0" sz="1000" u="none" cap="none" strike="noStrike">
              <a:solidFill>
                <a:schemeClr val="dk1"/>
              </a:solidFill>
              <a:latin typeface="Calibri"/>
              <a:ea typeface="Calibri"/>
              <a:cs typeface="Calibri"/>
              <a:sym typeface="Calibri"/>
            </a:endParaRPr>
          </a:p>
        </p:txBody>
      </p:sp>
      <p:sp>
        <p:nvSpPr>
          <p:cNvPr id="295" name="Google Shape;295;p46"/>
          <p:cNvSpPr/>
          <p:nvPr/>
        </p:nvSpPr>
        <p:spPr>
          <a:xfrm>
            <a:off x="4663440" y="1097280"/>
            <a:ext cx="1828800" cy="14631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46"/>
          <p:cNvSpPr/>
          <p:nvPr/>
        </p:nvSpPr>
        <p:spPr>
          <a:xfrm>
            <a:off x="480060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46"/>
          <p:cNvSpPr/>
          <p:nvPr/>
        </p:nvSpPr>
        <p:spPr>
          <a:xfrm>
            <a:off x="4800600" y="1234440"/>
            <a:ext cx="3201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3</a:t>
            </a:r>
            <a:endParaRPr b="0" i="0" sz="1400" u="none" cap="none" strike="noStrike">
              <a:solidFill>
                <a:schemeClr val="dk1"/>
              </a:solidFill>
              <a:latin typeface="Calibri"/>
              <a:ea typeface="Calibri"/>
              <a:cs typeface="Calibri"/>
              <a:sym typeface="Calibri"/>
            </a:endParaRPr>
          </a:p>
        </p:txBody>
      </p:sp>
      <p:pic>
        <p:nvPicPr>
          <p:cNvPr descr="preencoded.png" id="298" name="Google Shape;298;p46"/>
          <p:cNvPicPr preferRelativeResize="0"/>
          <p:nvPr/>
        </p:nvPicPr>
        <p:blipFill rotWithShape="1">
          <a:blip r:embed="rId5">
            <a:alphaModFix/>
          </a:blip>
          <a:srcRect b="0" l="0" r="0" t="0"/>
          <a:stretch/>
        </p:blipFill>
        <p:spPr>
          <a:xfrm>
            <a:off x="5989320" y="1207008"/>
            <a:ext cx="320040" cy="320040"/>
          </a:xfrm>
          <a:prstGeom prst="rect">
            <a:avLst/>
          </a:prstGeom>
          <a:noFill/>
          <a:ln>
            <a:noFill/>
          </a:ln>
        </p:spPr>
      </p:pic>
      <p:sp>
        <p:nvSpPr>
          <p:cNvPr id="299" name="Google Shape;299;p46"/>
          <p:cNvSpPr/>
          <p:nvPr/>
        </p:nvSpPr>
        <p:spPr>
          <a:xfrm>
            <a:off x="4800600" y="1645920"/>
            <a:ext cx="1554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Platform / Marketplace</a:t>
            </a:r>
            <a:endParaRPr b="0" i="0" sz="1200" u="none" cap="none" strike="noStrike">
              <a:solidFill>
                <a:schemeClr val="dk1"/>
              </a:solidFill>
              <a:latin typeface="Calibri"/>
              <a:ea typeface="Calibri"/>
              <a:cs typeface="Calibri"/>
              <a:sym typeface="Calibri"/>
            </a:endParaRPr>
          </a:p>
        </p:txBody>
      </p:sp>
      <p:sp>
        <p:nvSpPr>
          <p:cNvPr id="300" name="Google Shape;300;p46"/>
          <p:cNvSpPr/>
          <p:nvPr/>
        </p:nvSpPr>
        <p:spPr>
          <a:xfrm>
            <a:off x="4800600" y="1965960"/>
            <a:ext cx="155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Monetize ecosystem hosting &amp; tooling</a:t>
            </a:r>
            <a:endParaRPr b="0" i="0" sz="1000" u="none" cap="none" strike="noStrike">
              <a:solidFill>
                <a:schemeClr val="dk1"/>
              </a:solidFill>
              <a:latin typeface="Calibri"/>
              <a:ea typeface="Calibri"/>
              <a:cs typeface="Calibri"/>
              <a:sym typeface="Calibri"/>
            </a:endParaRPr>
          </a:p>
        </p:txBody>
      </p:sp>
      <p:sp>
        <p:nvSpPr>
          <p:cNvPr id="301" name="Google Shape;301;p46"/>
          <p:cNvSpPr/>
          <p:nvPr/>
        </p:nvSpPr>
        <p:spPr>
          <a:xfrm>
            <a:off x="6675120" y="1097280"/>
            <a:ext cx="1828800" cy="14631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46"/>
          <p:cNvSpPr/>
          <p:nvPr/>
        </p:nvSpPr>
        <p:spPr>
          <a:xfrm>
            <a:off x="681228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46"/>
          <p:cNvSpPr/>
          <p:nvPr/>
        </p:nvSpPr>
        <p:spPr>
          <a:xfrm>
            <a:off x="6812280" y="1234440"/>
            <a:ext cx="3201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4</a:t>
            </a:r>
            <a:endParaRPr b="0" i="0" sz="1400" u="none" cap="none" strike="noStrike">
              <a:solidFill>
                <a:schemeClr val="dk1"/>
              </a:solidFill>
              <a:latin typeface="Calibri"/>
              <a:ea typeface="Calibri"/>
              <a:cs typeface="Calibri"/>
              <a:sym typeface="Calibri"/>
            </a:endParaRPr>
          </a:p>
        </p:txBody>
      </p:sp>
      <p:pic>
        <p:nvPicPr>
          <p:cNvPr descr="preencoded.png" id="304" name="Google Shape;304;p46"/>
          <p:cNvPicPr preferRelativeResize="0"/>
          <p:nvPr/>
        </p:nvPicPr>
        <p:blipFill rotWithShape="1">
          <a:blip r:embed="rId6">
            <a:alphaModFix/>
          </a:blip>
          <a:srcRect b="0" l="0" r="0" t="0"/>
          <a:stretch/>
        </p:blipFill>
        <p:spPr>
          <a:xfrm>
            <a:off x="8001000" y="1207008"/>
            <a:ext cx="320040" cy="320040"/>
          </a:xfrm>
          <a:prstGeom prst="rect">
            <a:avLst/>
          </a:prstGeom>
          <a:noFill/>
          <a:ln>
            <a:noFill/>
          </a:ln>
        </p:spPr>
      </p:pic>
      <p:sp>
        <p:nvSpPr>
          <p:cNvPr id="305" name="Google Shape;305;p46"/>
          <p:cNvSpPr/>
          <p:nvPr/>
        </p:nvSpPr>
        <p:spPr>
          <a:xfrm>
            <a:off x="6812280" y="1645920"/>
            <a:ext cx="1554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Cloud Infrastructure</a:t>
            </a:r>
            <a:endParaRPr b="0" i="0" sz="1200" u="none" cap="none" strike="noStrike">
              <a:solidFill>
                <a:schemeClr val="dk1"/>
              </a:solidFill>
              <a:latin typeface="Calibri"/>
              <a:ea typeface="Calibri"/>
              <a:cs typeface="Calibri"/>
              <a:sym typeface="Calibri"/>
            </a:endParaRPr>
          </a:p>
        </p:txBody>
      </p:sp>
      <p:sp>
        <p:nvSpPr>
          <p:cNvPr id="306" name="Google Shape;306;p46"/>
          <p:cNvSpPr/>
          <p:nvPr/>
        </p:nvSpPr>
        <p:spPr>
          <a:xfrm>
            <a:off x="6812280" y="1965960"/>
            <a:ext cx="155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Hyperscalers sell compute under models</a:t>
            </a:r>
            <a:endParaRPr b="0" i="0" sz="1000" u="none" cap="none" strike="noStrike">
              <a:solidFill>
                <a:schemeClr val="dk1"/>
              </a:solidFill>
              <a:latin typeface="Calibri"/>
              <a:ea typeface="Calibri"/>
              <a:cs typeface="Calibri"/>
              <a:sym typeface="Calibri"/>
            </a:endParaRPr>
          </a:p>
        </p:txBody>
      </p:sp>
      <p:sp>
        <p:nvSpPr>
          <p:cNvPr id="307" name="Google Shape;307;p46"/>
          <p:cNvSpPr/>
          <p:nvPr/>
        </p:nvSpPr>
        <p:spPr>
          <a:xfrm>
            <a:off x="1645920" y="2834640"/>
            <a:ext cx="1828800" cy="14631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46"/>
          <p:cNvSpPr/>
          <p:nvPr/>
        </p:nvSpPr>
        <p:spPr>
          <a:xfrm>
            <a:off x="1783080" y="297180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46"/>
          <p:cNvSpPr/>
          <p:nvPr/>
        </p:nvSpPr>
        <p:spPr>
          <a:xfrm>
            <a:off x="1783080" y="2971800"/>
            <a:ext cx="3201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5</a:t>
            </a:r>
            <a:endParaRPr b="0" i="0" sz="1400" u="none" cap="none" strike="noStrike">
              <a:solidFill>
                <a:schemeClr val="dk1"/>
              </a:solidFill>
              <a:latin typeface="Calibri"/>
              <a:ea typeface="Calibri"/>
              <a:cs typeface="Calibri"/>
              <a:sym typeface="Calibri"/>
            </a:endParaRPr>
          </a:p>
        </p:txBody>
      </p:sp>
      <p:pic>
        <p:nvPicPr>
          <p:cNvPr descr="preencoded.png" id="310" name="Google Shape;310;p46"/>
          <p:cNvPicPr preferRelativeResize="0"/>
          <p:nvPr/>
        </p:nvPicPr>
        <p:blipFill rotWithShape="1">
          <a:blip r:embed="rId7">
            <a:alphaModFix/>
          </a:blip>
          <a:srcRect b="0" l="0" r="0" t="0"/>
          <a:stretch/>
        </p:blipFill>
        <p:spPr>
          <a:xfrm>
            <a:off x="2971800" y="2944368"/>
            <a:ext cx="320040" cy="320040"/>
          </a:xfrm>
          <a:prstGeom prst="rect">
            <a:avLst/>
          </a:prstGeom>
          <a:noFill/>
          <a:ln>
            <a:noFill/>
          </a:ln>
        </p:spPr>
      </p:pic>
      <p:sp>
        <p:nvSpPr>
          <p:cNvPr id="311" name="Google Shape;311;p46"/>
          <p:cNvSpPr/>
          <p:nvPr/>
        </p:nvSpPr>
        <p:spPr>
          <a:xfrm>
            <a:off x="1783080" y="3383280"/>
            <a:ext cx="1554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Hardware Demand</a:t>
            </a:r>
            <a:endParaRPr b="0" i="0" sz="1200" u="none" cap="none" strike="noStrike">
              <a:solidFill>
                <a:schemeClr val="dk1"/>
              </a:solidFill>
              <a:latin typeface="Calibri"/>
              <a:ea typeface="Calibri"/>
              <a:cs typeface="Calibri"/>
              <a:sym typeface="Calibri"/>
            </a:endParaRPr>
          </a:p>
        </p:txBody>
      </p:sp>
      <p:sp>
        <p:nvSpPr>
          <p:cNvPr id="312" name="Google Shape;312;p46"/>
          <p:cNvSpPr/>
          <p:nvPr/>
        </p:nvSpPr>
        <p:spPr>
          <a:xfrm>
            <a:off x="1783080" y="3703320"/>
            <a:ext cx="155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Every model runs on someone's GPUs</a:t>
            </a:r>
            <a:endParaRPr b="0" i="0" sz="1000" u="none" cap="none" strike="noStrike">
              <a:solidFill>
                <a:schemeClr val="dk1"/>
              </a:solidFill>
              <a:latin typeface="Calibri"/>
              <a:ea typeface="Calibri"/>
              <a:cs typeface="Calibri"/>
              <a:sym typeface="Calibri"/>
            </a:endParaRPr>
          </a:p>
        </p:txBody>
      </p:sp>
      <p:sp>
        <p:nvSpPr>
          <p:cNvPr id="313" name="Google Shape;313;p46"/>
          <p:cNvSpPr/>
          <p:nvPr/>
        </p:nvSpPr>
        <p:spPr>
          <a:xfrm>
            <a:off x="3657600" y="2834640"/>
            <a:ext cx="1828800" cy="14631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46"/>
          <p:cNvSpPr/>
          <p:nvPr/>
        </p:nvSpPr>
        <p:spPr>
          <a:xfrm>
            <a:off x="3794760" y="297180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46"/>
          <p:cNvSpPr/>
          <p:nvPr/>
        </p:nvSpPr>
        <p:spPr>
          <a:xfrm>
            <a:off x="3794760" y="2971800"/>
            <a:ext cx="3201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6</a:t>
            </a:r>
            <a:endParaRPr b="0" i="0" sz="1400" u="none" cap="none" strike="noStrike">
              <a:solidFill>
                <a:schemeClr val="dk1"/>
              </a:solidFill>
              <a:latin typeface="Calibri"/>
              <a:ea typeface="Calibri"/>
              <a:cs typeface="Calibri"/>
              <a:sym typeface="Calibri"/>
            </a:endParaRPr>
          </a:p>
        </p:txBody>
      </p:sp>
      <p:pic>
        <p:nvPicPr>
          <p:cNvPr descr="preencoded.png" id="316" name="Google Shape;316;p46"/>
          <p:cNvPicPr preferRelativeResize="0"/>
          <p:nvPr/>
        </p:nvPicPr>
        <p:blipFill rotWithShape="1">
          <a:blip r:embed="rId8">
            <a:alphaModFix/>
          </a:blip>
          <a:srcRect b="0" l="0" r="0" t="0"/>
          <a:stretch/>
        </p:blipFill>
        <p:spPr>
          <a:xfrm>
            <a:off x="4983480" y="2944368"/>
            <a:ext cx="320040" cy="320040"/>
          </a:xfrm>
          <a:prstGeom prst="rect">
            <a:avLst/>
          </a:prstGeom>
          <a:noFill/>
          <a:ln>
            <a:noFill/>
          </a:ln>
        </p:spPr>
      </p:pic>
      <p:sp>
        <p:nvSpPr>
          <p:cNvPr id="317" name="Google Shape;317;p46"/>
          <p:cNvSpPr/>
          <p:nvPr/>
        </p:nvSpPr>
        <p:spPr>
          <a:xfrm>
            <a:off x="3794760" y="3383280"/>
            <a:ext cx="1554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Chinese Ecosystem</a:t>
            </a:r>
            <a:endParaRPr b="0" i="0" sz="1200" u="none" cap="none" strike="noStrike">
              <a:solidFill>
                <a:schemeClr val="dk1"/>
              </a:solidFill>
              <a:latin typeface="Calibri"/>
              <a:ea typeface="Calibri"/>
              <a:cs typeface="Calibri"/>
              <a:sym typeface="Calibri"/>
            </a:endParaRPr>
          </a:p>
        </p:txBody>
      </p:sp>
      <p:sp>
        <p:nvSpPr>
          <p:cNvPr id="318" name="Google Shape;318;p46"/>
          <p:cNvSpPr/>
          <p:nvPr/>
        </p:nvSpPr>
        <p:spPr>
          <a:xfrm>
            <a:off x="3794760" y="3703320"/>
            <a:ext cx="155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Govt funding + cloud integration + price war</a:t>
            </a:r>
            <a:endParaRPr b="0" i="0" sz="1000" u="none" cap="none" strike="noStrike">
              <a:solidFill>
                <a:schemeClr val="dk1"/>
              </a:solidFill>
              <a:latin typeface="Calibri"/>
              <a:ea typeface="Calibri"/>
              <a:cs typeface="Calibri"/>
              <a:sym typeface="Calibri"/>
            </a:endParaRPr>
          </a:p>
        </p:txBody>
      </p:sp>
      <p:sp>
        <p:nvSpPr>
          <p:cNvPr id="319" name="Google Shape;319;p46"/>
          <p:cNvSpPr/>
          <p:nvPr/>
        </p:nvSpPr>
        <p:spPr>
          <a:xfrm>
            <a:off x="5669280" y="2834640"/>
            <a:ext cx="1828800" cy="14631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46"/>
          <p:cNvSpPr/>
          <p:nvPr/>
        </p:nvSpPr>
        <p:spPr>
          <a:xfrm>
            <a:off x="5806440" y="297180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46"/>
          <p:cNvSpPr/>
          <p:nvPr/>
        </p:nvSpPr>
        <p:spPr>
          <a:xfrm>
            <a:off x="5806440" y="2971800"/>
            <a:ext cx="3201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7</a:t>
            </a:r>
            <a:endParaRPr b="0" i="0" sz="1400" u="none" cap="none" strike="noStrike">
              <a:solidFill>
                <a:schemeClr val="dk1"/>
              </a:solidFill>
              <a:latin typeface="Calibri"/>
              <a:ea typeface="Calibri"/>
              <a:cs typeface="Calibri"/>
              <a:sym typeface="Calibri"/>
            </a:endParaRPr>
          </a:p>
        </p:txBody>
      </p:sp>
      <p:pic>
        <p:nvPicPr>
          <p:cNvPr descr="preencoded.png" id="322" name="Google Shape;322;p46"/>
          <p:cNvPicPr preferRelativeResize="0"/>
          <p:nvPr/>
        </p:nvPicPr>
        <p:blipFill rotWithShape="1">
          <a:blip r:embed="rId9">
            <a:alphaModFix/>
          </a:blip>
          <a:srcRect b="0" l="0" r="0" t="0"/>
          <a:stretch/>
        </p:blipFill>
        <p:spPr>
          <a:xfrm>
            <a:off x="6995160" y="2944368"/>
            <a:ext cx="320040" cy="320040"/>
          </a:xfrm>
          <a:prstGeom prst="rect">
            <a:avLst/>
          </a:prstGeom>
          <a:noFill/>
          <a:ln>
            <a:noFill/>
          </a:ln>
        </p:spPr>
      </p:pic>
      <p:sp>
        <p:nvSpPr>
          <p:cNvPr id="323" name="Google Shape;323;p46"/>
          <p:cNvSpPr/>
          <p:nvPr/>
        </p:nvSpPr>
        <p:spPr>
          <a:xfrm>
            <a:off x="5806440" y="3383280"/>
            <a:ext cx="1554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Nonprofit / Research</a:t>
            </a:r>
            <a:endParaRPr b="0" i="0" sz="1200" u="none" cap="none" strike="noStrike">
              <a:solidFill>
                <a:schemeClr val="dk1"/>
              </a:solidFill>
              <a:latin typeface="Calibri"/>
              <a:ea typeface="Calibri"/>
              <a:cs typeface="Calibri"/>
              <a:sym typeface="Calibri"/>
            </a:endParaRPr>
          </a:p>
        </p:txBody>
      </p:sp>
      <p:sp>
        <p:nvSpPr>
          <p:cNvPr id="324" name="Google Shape;324;p46"/>
          <p:cNvSpPr/>
          <p:nvPr/>
        </p:nvSpPr>
        <p:spPr>
          <a:xfrm>
            <a:off x="5806440" y="3703320"/>
            <a:ext cx="155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Grants &amp; donations, no market revenue</a:t>
            </a:r>
            <a:endParaRPr b="0" i="0" sz="1000" u="none" cap="none" strike="noStrike">
              <a:solidFill>
                <a:schemeClr val="dk1"/>
              </a:solidFill>
              <a:latin typeface="Calibri"/>
              <a:ea typeface="Calibri"/>
              <a:cs typeface="Calibri"/>
              <a:sym typeface="Calibri"/>
            </a:endParaRPr>
          </a:p>
        </p:txBody>
      </p:sp>
      <p:sp>
        <p:nvSpPr>
          <p:cNvPr id="325" name="Google Shape;325;p46"/>
          <p:cNvSpPr/>
          <p:nvPr/>
        </p:nvSpPr>
        <p:spPr>
          <a:xfrm>
            <a:off x="731520" y="4572000"/>
            <a:ext cx="76809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1100"/>
              <a:buFont typeface="Calibri"/>
              <a:buNone/>
            </a:pPr>
            <a:r>
              <a:rPr b="0" i="1" lang="en" sz="1100" u="none" cap="none" strike="noStrike">
                <a:solidFill>
                  <a:srgbClr val="6B7280"/>
                </a:solidFill>
                <a:latin typeface="Calibri"/>
                <a:ea typeface="Calibri"/>
                <a:cs typeface="Calibri"/>
                <a:sym typeface="Calibri"/>
              </a:rPr>
              <a:t>Each strategy positions the free model differently within a larger revenue architecture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47"/>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47"/>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47"/>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334" name="Google Shape;334;p47"/>
          <p:cNvSpPr/>
          <p:nvPr/>
        </p:nvSpPr>
        <p:spPr>
          <a:xfrm>
            <a:off x="1325880" y="274320"/>
            <a:ext cx="6400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Open Core: Free Base + Paid Premium</a:t>
            </a:r>
            <a:endParaRPr b="0" i="0" sz="2400" u="none" cap="none" strike="noStrike">
              <a:solidFill>
                <a:schemeClr val="dk1"/>
              </a:solidFill>
              <a:latin typeface="Calibri"/>
              <a:ea typeface="Calibri"/>
              <a:cs typeface="Calibri"/>
              <a:sym typeface="Calibri"/>
            </a:endParaRPr>
          </a:p>
        </p:txBody>
      </p:sp>
      <p:sp>
        <p:nvSpPr>
          <p:cNvPr id="335" name="Google Shape;335;p47"/>
          <p:cNvSpPr/>
          <p:nvPr/>
        </p:nvSpPr>
        <p:spPr>
          <a:xfrm>
            <a:off x="731520" y="822960"/>
            <a:ext cx="7680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200"/>
              <a:buFont typeface="Calibri"/>
              <a:buNone/>
            </a:pPr>
            <a:r>
              <a:rPr b="0" i="1" lang="en" sz="1200" u="none" cap="none" strike="noStrike">
                <a:solidFill>
                  <a:srgbClr val="6B7280"/>
                </a:solidFill>
                <a:latin typeface="Calibri"/>
                <a:ea typeface="Calibri"/>
                <a:cs typeface="Calibri"/>
                <a:sym typeface="Calibri"/>
              </a:rPr>
              <a:t>Release capable base models for free → build adoption → sell premium models, API access, and enterprise features</a:t>
            </a:r>
            <a:endParaRPr b="0" i="0" sz="1200" u="none" cap="none" strike="noStrike">
              <a:solidFill>
                <a:schemeClr val="dk1"/>
              </a:solidFill>
              <a:latin typeface="Calibri"/>
              <a:ea typeface="Calibri"/>
              <a:cs typeface="Calibri"/>
              <a:sym typeface="Calibri"/>
            </a:endParaRPr>
          </a:p>
        </p:txBody>
      </p:sp>
      <p:sp>
        <p:nvSpPr>
          <p:cNvPr id="336" name="Google Shape;336;p47"/>
          <p:cNvSpPr/>
          <p:nvPr/>
        </p:nvSpPr>
        <p:spPr>
          <a:xfrm>
            <a:off x="731520" y="1371600"/>
            <a:ext cx="3657600" cy="32004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47"/>
          <p:cNvSpPr/>
          <p:nvPr/>
        </p:nvSpPr>
        <p:spPr>
          <a:xfrm>
            <a:off x="731520" y="1371600"/>
            <a:ext cx="3657600" cy="456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47"/>
          <p:cNvSpPr/>
          <p:nvPr/>
        </p:nvSpPr>
        <p:spPr>
          <a:xfrm>
            <a:off x="914400" y="1508760"/>
            <a:ext cx="3291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Mistral AI</a:t>
            </a:r>
            <a:endParaRPr b="0" i="0" sz="1600" u="none" cap="none" strike="noStrike">
              <a:solidFill>
                <a:schemeClr val="dk1"/>
              </a:solidFill>
              <a:latin typeface="Calibri"/>
              <a:ea typeface="Calibri"/>
              <a:cs typeface="Calibri"/>
              <a:sym typeface="Calibri"/>
            </a:endParaRPr>
          </a:p>
        </p:txBody>
      </p:sp>
      <p:sp>
        <p:nvSpPr>
          <p:cNvPr id="339" name="Google Shape;339;p47"/>
          <p:cNvSpPr/>
          <p:nvPr/>
        </p:nvSpPr>
        <p:spPr>
          <a:xfrm>
            <a:off x="914400" y="1965960"/>
            <a:ext cx="3291900" cy="20118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Free tier: </a:t>
            </a:r>
            <a:r>
              <a:rPr b="0" i="0" lang="en" sz="1100" u="none" cap="none" strike="noStrike">
                <a:solidFill>
                  <a:srgbClr val="333333"/>
                </a:solidFill>
                <a:latin typeface="Calibri"/>
                <a:ea typeface="Calibri"/>
                <a:cs typeface="Calibri"/>
                <a:sym typeface="Calibri"/>
              </a:rPr>
              <a:t>Mistral 7B, Mixtral (Apache 2.0)</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Paid tier: </a:t>
            </a:r>
            <a:r>
              <a:rPr b="0" i="0" lang="en" sz="1100" u="none" cap="none" strike="noStrike">
                <a:solidFill>
                  <a:srgbClr val="333333"/>
                </a:solidFill>
                <a:latin typeface="Calibri"/>
                <a:ea typeface="Calibri"/>
                <a:cs typeface="Calibri"/>
                <a:sym typeface="Calibri"/>
              </a:rPr>
              <a:t>Mistral Large, Medium via API</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Le Chat Pro: </a:t>
            </a:r>
            <a:r>
              <a:rPr b="0" i="0" lang="en" sz="1100" u="none" cap="none" strike="noStrike">
                <a:solidFill>
                  <a:srgbClr val="333333"/>
                </a:solidFill>
                <a:latin typeface="Calibri"/>
                <a:ea typeface="Calibri"/>
                <a:cs typeface="Calibri"/>
                <a:sym typeface="Calibri"/>
              </a:rPr>
              <a:t>$14.99/month consumer product</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Enterprise: </a:t>
            </a:r>
            <a:r>
              <a:rPr b="0" i="0" lang="en" sz="1100" u="none" cap="none" strike="noStrike">
                <a:solidFill>
                  <a:srgbClr val="333333"/>
                </a:solidFill>
                <a:latin typeface="Calibri"/>
                <a:ea typeface="Calibri"/>
                <a:cs typeface="Calibri"/>
                <a:sym typeface="Calibri"/>
              </a:rPr>
              <a:t>BNP Paribas, AXA, military contracts</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Mistral Compute: </a:t>
            </a:r>
            <a:r>
              <a:rPr b="0" i="0" lang="en" sz="1100" u="none" cap="none" strike="noStrike">
                <a:solidFill>
                  <a:srgbClr val="333333"/>
                </a:solidFill>
                <a:latin typeface="Calibri"/>
                <a:ea typeface="Calibri"/>
                <a:cs typeface="Calibri"/>
                <a:sym typeface="Calibri"/>
              </a:rPr>
              <a:t>18,000 NVIDIA chips sovereign infra</a:t>
            </a:r>
            <a:endParaRPr b="0" i="0" sz="1100" u="none" cap="none" strike="noStrike">
              <a:solidFill>
                <a:schemeClr val="dk1"/>
              </a:solidFill>
              <a:latin typeface="Calibri"/>
              <a:ea typeface="Calibri"/>
              <a:cs typeface="Calibri"/>
              <a:sym typeface="Calibri"/>
            </a:endParaRPr>
          </a:p>
        </p:txBody>
      </p:sp>
      <p:sp>
        <p:nvSpPr>
          <p:cNvPr id="340" name="Google Shape;340;p47"/>
          <p:cNvSpPr/>
          <p:nvPr/>
        </p:nvSpPr>
        <p:spPr>
          <a:xfrm>
            <a:off x="914400" y="3840480"/>
            <a:ext cx="1371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€300M</a:t>
            </a:r>
            <a:endParaRPr b="0" i="0" sz="2000" u="none" cap="none" strike="noStrike">
              <a:solidFill>
                <a:schemeClr val="dk1"/>
              </a:solidFill>
              <a:latin typeface="Calibri"/>
              <a:ea typeface="Calibri"/>
              <a:cs typeface="Calibri"/>
              <a:sym typeface="Calibri"/>
            </a:endParaRPr>
          </a:p>
        </p:txBody>
      </p:sp>
      <p:sp>
        <p:nvSpPr>
          <p:cNvPr id="341" name="Google Shape;341;p47"/>
          <p:cNvSpPr/>
          <p:nvPr/>
        </p:nvSpPr>
        <p:spPr>
          <a:xfrm>
            <a:off x="914400" y="4160520"/>
            <a:ext cx="1371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ARR (Sep 2025)</a:t>
            </a:r>
            <a:endParaRPr b="0" i="0" sz="900" u="none" cap="none" strike="noStrike">
              <a:solidFill>
                <a:schemeClr val="dk1"/>
              </a:solidFill>
              <a:latin typeface="Calibri"/>
              <a:ea typeface="Calibri"/>
              <a:cs typeface="Calibri"/>
              <a:sym typeface="Calibri"/>
            </a:endParaRPr>
          </a:p>
        </p:txBody>
      </p:sp>
      <p:sp>
        <p:nvSpPr>
          <p:cNvPr id="342" name="Google Shape;342;p47"/>
          <p:cNvSpPr/>
          <p:nvPr/>
        </p:nvSpPr>
        <p:spPr>
          <a:xfrm>
            <a:off x="2377440" y="3840480"/>
            <a:ext cx="1371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€11.7B</a:t>
            </a:r>
            <a:endParaRPr b="0" i="0" sz="2000" u="none" cap="none" strike="noStrike">
              <a:solidFill>
                <a:schemeClr val="dk1"/>
              </a:solidFill>
              <a:latin typeface="Calibri"/>
              <a:ea typeface="Calibri"/>
              <a:cs typeface="Calibri"/>
              <a:sym typeface="Calibri"/>
            </a:endParaRPr>
          </a:p>
        </p:txBody>
      </p:sp>
      <p:sp>
        <p:nvSpPr>
          <p:cNvPr id="343" name="Google Shape;343;p47"/>
          <p:cNvSpPr/>
          <p:nvPr/>
        </p:nvSpPr>
        <p:spPr>
          <a:xfrm>
            <a:off x="2377440" y="4160520"/>
            <a:ext cx="1371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Valuation</a:t>
            </a:r>
            <a:endParaRPr b="0" i="0" sz="900" u="none" cap="none" strike="noStrike">
              <a:solidFill>
                <a:schemeClr val="dk1"/>
              </a:solidFill>
              <a:latin typeface="Calibri"/>
              <a:ea typeface="Calibri"/>
              <a:cs typeface="Calibri"/>
              <a:sym typeface="Calibri"/>
            </a:endParaRPr>
          </a:p>
        </p:txBody>
      </p:sp>
      <p:sp>
        <p:nvSpPr>
          <p:cNvPr id="344" name="Google Shape;344;p47"/>
          <p:cNvSpPr/>
          <p:nvPr/>
        </p:nvSpPr>
        <p:spPr>
          <a:xfrm>
            <a:off x="4754880" y="1371600"/>
            <a:ext cx="3657600" cy="32004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47"/>
          <p:cNvSpPr/>
          <p:nvPr/>
        </p:nvSpPr>
        <p:spPr>
          <a:xfrm>
            <a:off x="4754880" y="1371600"/>
            <a:ext cx="3657600" cy="456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47"/>
          <p:cNvSpPr/>
          <p:nvPr/>
        </p:nvSpPr>
        <p:spPr>
          <a:xfrm>
            <a:off x="4937760" y="1508760"/>
            <a:ext cx="3291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Black Forest Labs (FLUX)</a:t>
            </a:r>
            <a:endParaRPr b="0" i="0" sz="1600" u="none" cap="none" strike="noStrike">
              <a:solidFill>
                <a:schemeClr val="dk1"/>
              </a:solidFill>
              <a:latin typeface="Calibri"/>
              <a:ea typeface="Calibri"/>
              <a:cs typeface="Calibri"/>
              <a:sym typeface="Calibri"/>
            </a:endParaRPr>
          </a:p>
        </p:txBody>
      </p:sp>
      <p:sp>
        <p:nvSpPr>
          <p:cNvPr id="347" name="Google Shape;347;p47"/>
          <p:cNvSpPr/>
          <p:nvPr/>
        </p:nvSpPr>
        <p:spPr>
          <a:xfrm>
            <a:off x="4937760" y="1965960"/>
            <a:ext cx="3291900" cy="16458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Free tier: </a:t>
            </a:r>
            <a:r>
              <a:rPr b="0" i="0" lang="en" sz="1100" u="none" cap="none" strike="noStrike">
                <a:solidFill>
                  <a:srgbClr val="333333"/>
                </a:solidFill>
                <a:latin typeface="Calibri"/>
                <a:ea typeface="Calibri"/>
                <a:cs typeface="Calibri"/>
                <a:sym typeface="Calibri"/>
              </a:rPr>
              <a:t>FLUX.2 [dev] open weights</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Paid tier: </a:t>
            </a:r>
            <a:r>
              <a:rPr b="0" i="0" lang="en" sz="1100" u="none" cap="none" strike="noStrike">
                <a:solidFill>
                  <a:srgbClr val="333333"/>
                </a:solidFill>
                <a:latin typeface="Calibri"/>
                <a:ea typeface="Calibri"/>
                <a:cs typeface="Calibri"/>
                <a:sym typeface="Calibri"/>
              </a:rPr>
              <a:t>FLUX.2 [pro], [max] via paid API</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Partners: </a:t>
            </a:r>
            <a:r>
              <a:rPr b="0" i="0" lang="en" sz="1100" u="none" cap="none" strike="noStrike">
                <a:solidFill>
                  <a:srgbClr val="333333"/>
                </a:solidFill>
                <a:latin typeface="Calibri"/>
                <a:ea typeface="Calibri"/>
                <a:cs typeface="Calibri"/>
                <a:sym typeface="Calibri"/>
              </a:rPr>
              <a:t>Adobe, Canva, Microsoft, ElevenLabs</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Funding: </a:t>
            </a:r>
            <a:r>
              <a:rPr b="0" i="0" lang="en" sz="1100" u="none" cap="none" strike="noStrike">
                <a:solidFill>
                  <a:srgbClr val="333333"/>
                </a:solidFill>
                <a:latin typeface="Calibri"/>
                <a:ea typeface="Calibri"/>
                <a:cs typeface="Calibri"/>
                <a:sym typeface="Calibri"/>
              </a:rPr>
              <a:t>$450M raised</a:t>
            </a:r>
            <a:endParaRPr b="0" i="0" sz="1100" u="none" cap="none" strike="noStrike">
              <a:solidFill>
                <a:schemeClr val="dk1"/>
              </a:solidFill>
              <a:latin typeface="Calibri"/>
              <a:ea typeface="Calibri"/>
              <a:cs typeface="Calibri"/>
              <a:sym typeface="Calibri"/>
            </a:endParaRPr>
          </a:p>
        </p:txBody>
      </p:sp>
      <p:sp>
        <p:nvSpPr>
          <p:cNvPr id="348" name="Google Shape;348;p47"/>
          <p:cNvSpPr/>
          <p:nvPr/>
        </p:nvSpPr>
        <p:spPr>
          <a:xfrm>
            <a:off x="4937760" y="3840480"/>
            <a:ext cx="1828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$3.25B</a:t>
            </a:r>
            <a:endParaRPr b="0" i="0" sz="2000" u="none" cap="none" strike="noStrike">
              <a:solidFill>
                <a:schemeClr val="dk1"/>
              </a:solidFill>
              <a:latin typeface="Calibri"/>
              <a:ea typeface="Calibri"/>
              <a:cs typeface="Calibri"/>
              <a:sym typeface="Calibri"/>
            </a:endParaRPr>
          </a:p>
        </p:txBody>
      </p:sp>
      <p:sp>
        <p:nvSpPr>
          <p:cNvPr id="349" name="Google Shape;349;p47"/>
          <p:cNvSpPr/>
          <p:nvPr/>
        </p:nvSpPr>
        <p:spPr>
          <a:xfrm>
            <a:off x="4937760" y="4160520"/>
            <a:ext cx="18288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Valuation (Dec 2025)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4" name="Shape 354"/>
        <p:cNvGrpSpPr/>
        <p:nvPr/>
      </p:nvGrpSpPr>
      <p:grpSpPr>
        <a:xfrm>
          <a:off x="0" y="0"/>
          <a:ext cx="0" cy="0"/>
          <a:chOff x="0" y="0"/>
          <a:chExt cx="0" cy="0"/>
        </a:xfrm>
      </p:grpSpPr>
      <p:sp>
        <p:nvSpPr>
          <p:cNvPr id="355" name="Google Shape;355;p48"/>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48"/>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48"/>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358" name="Google Shape;358;p48"/>
          <p:cNvSpPr/>
          <p:nvPr/>
        </p:nvSpPr>
        <p:spPr>
          <a:xfrm>
            <a:off x="1325880" y="274320"/>
            <a:ext cx="6400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Commoditize Your Complement</a:t>
            </a:r>
            <a:endParaRPr b="0" i="0" sz="2400" u="none" cap="none" strike="noStrike">
              <a:solidFill>
                <a:schemeClr val="dk1"/>
              </a:solidFill>
              <a:latin typeface="Calibri"/>
              <a:ea typeface="Calibri"/>
              <a:cs typeface="Calibri"/>
              <a:sym typeface="Calibri"/>
            </a:endParaRPr>
          </a:p>
        </p:txBody>
      </p:sp>
      <p:sp>
        <p:nvSpPr>
          <p:cNvPr id="359" name="Google Shape;359;p48"/>
          <p:cNvSpPr/>
          <p:nvPr/>
        </p:nvSpPr>
        <p:spPr>
          <a:xfrm>
            <a:off x="731520" y="822960"/>
            <a:ext cx="7680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200"/>
              <a:buFont typeface="Calibri"/>
              <a:buNone/>
            </a:pPr>
            <a:r>
              <a:rPr b="0" i="1" lang="en" sz="1200" u="none" cap="none" strike="noStrike">
                <a:solidFill>
                  <a:srgbClr val="6B7280"/>
                </a:solidFill>
                <a:latin typeface="Calibri"/>
                <a:ea typeface="Calibri"/>
                <a:cs typeface="Calibri"/>
                <a:sym typeface="Calibri"/>
              </a:rPr>
              <a:t>"Smart companies try to commoditize their products' complements" — Joel Spolsky</a:t>
            </a:r>
            <a:endParaRPr b="0" i="0" sz="1200" u="none" cap="none" strike="noStrike">
              <a:solidFill>
                <a:schemeClr val="dk1"/>
              </a:solidFill>
              <a:latin typeface="Calibri"/>
              <a:ea typeface="Calibri"/>
              <a:cs typeface="Calibri"/>
              <a:sym typeface="Calibri"/>
            </a:endParaRPr>
          </a:p>
        </p:txBody>
      </p:sp>
      <p:sp>
        <p:nvSpPr>
          <p:cNvPr id="360" name="Google Shape;360;p48"/>
          <p:cNvSpPr/>
          <p:nvPr/>
        </p:nvSpPr>
        <p:spPr>
          <a:xfrm>
            <a:off x="731520" y="1371600"/>
            <a:ext cx="3657600" cy="32919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48"/>
          <p:cNvSpPr/>
          <p:nvPr/>
        </p:nvSpPr>
        <p:spPr>
          <a:xfrm>
            <a:off x="731520" y="1371600"/>
            <a:ext cx="3657600" cy="45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48"/>
          <p:cNvSpPr/>
          <p:nvPr/>
        </p:nvSpPr>
        <p:spPr>
          <a:xfrm>
            <a:off x="914400" y="1554480"/>
            <a:ext cx="32919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Meta / Llama</a:t>
            </a:r>
            <a:endParaRPr b="0" i="0" sz="1600" u="none" cap="none" strike="noStrike">
              <a:solidFill>
                <a:schemeClr val="dk1"/>
              </a:solidFill>
              <a:latin typeface="Calibri"/>
              <a:ea typeface="Calibri"/>
              <a:cs typeface="Calibri"/>
              <a:sym typeface="Calibri"/>
            </a:endParaRPr>
          </a:p>
        </p:txBody>
      </p:sp>
      <p:sp>
        <p:nvSpPr>
          <p:cNvPr id="363" name="Google Shape;363;p48"/>
          <p:cNvSpPr/>
          <p:nvPr/>
        </p:nvSpPr>
        <p:spPr>
          <a:xfrm>
            <a:off x="914400" y="1965960"/>
            <a:ext cx="3291900" cy="822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Llama generates zero direct revenue. By commoditizing the model layer, Meta prevents dependency on OpenAI/Google for AI capabilities across its 3.8B monthly users.</a:t>
            </a:r>
            <a:endParaRPr b="0" i="0" sz="1100" u="none" cap="none" strike="noStrike">
              <a:solidFill>
                <a:schemeClr val="dk1"/>
              </a:solidFill>
              <a:latin typeface="Calibri"/>
              <a:ea typeface="Calibri"/>
              <a:cs typeface="Calibri"/>
              <a:sym typeface="Calibri"/>
            </a:endParaRPr>
          </a:p>
        </p:txBody>
      </p:sp>
      <p:sp>
        <p:nvSpPr>
          <p:cNvPr id="364" name="Google Shape;364;p48"/>
          <p:cNvSpPr/>
          <p:nvPr/>
        </p:nvSpPr>
        <p:spPr>
          <a:xfrm>
            <a:off x="914400" y="2834640"/>
            <a:ext cx="3291900" cy="548700"/>
          </a:xfrm>
          <a:prstGeom prst="rect">
            <a:avLst/>
          </a:prstGeom>
          <a:solidFill>
            <a:srgbClr val="E8F0F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48"/>
          <p:cNvSpPr/>
          <p:nvPr/>
        </p:nvSpPr>
        <p:spPr>
          <a:xfrm>
            <a:off x="1005840" y="2880360"/>
            <a:ext cx="31089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563EB"/>
              </a:buClr>
              <a:buSzPts val="1000"/>
              <a:buFont typeface="Calibri"/>
              <a:buNone/>
            </a:pPr>
            <a:r>
              <a:rPr b="0" i="1" lang="en" sz="1000" u="none" cap="none" strike="noStrike">
                <a:solidFill>
                  <a:srgbClr val="2563EB"/>
                </a:solidFill>
                <a:latin typeface="Calibri"/>
                <a:ea typeface="Calibri"/>
                <a:cs typeface="Calibri"/>
                <a:sym typeface="Calibri"/>
              </a:rPr>
              <a:t>Analogy: Google gave away Android to protect Search ads. Meta gives away Llama to protect social ads.</a:t>
            </a:r>
            <a:endParaRPr b="0" i="0" sz="1000" u="none" cap="none" strike="noStrike">
              <a:solidFill>
                <a:schemeClr val="dk1"/>
              </a:solidFill>
              <a:latin typeface="Calibri"/>
              <a:ea typeface="Calibri"/>
              <a:cs typeface="Calibri"/>
              <a:sym typeface="Calibri"/>
            </a:endParaRPr>
          </a:p>
        </p:txBody>
      </p:sp>
      <p:sp>
        <p:nvSpPr>
          <p:cNvPr id="366" name="Google Shape;366;p48"/>
          <p:cNvSpPr/>
          <p:nvPr/>
        </p:nvSpPr>
        <p:spPr>
          <a:xfrm>
            <a:off x="914400" y="3566160"/>
            <a:ext cx="1371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563EB"/>
              </a:buClr>
              <a:buSzPts val="2000"/>
              <a:buFont typeface="Georgia"/>
              <a:buNone/>
            </a:pPr>
            <a:r>
              <a:rPr b="1" i="0" lang="en" sz="2000" u="none" cap="none" strike="noStrike">
                <a:solidFill>
                  <a:srgbClr val="2563EB"/>
                </a:solidFill>
                <a:latin typeface="Georgia"/>
                <a:ea typeface="Georgia"/>
                <a:cs typeface="Georgia"/>
                <a:sym typeface="Georgia"/>
              </a:rPr>
              <a:t>$156B+</a:t>
            </a:r>
            <a:endParaRPr b="0" i="0" sz="2000" u="none" cap="none" strike="noStrike">
              <a:solidFill>
                <a:schemeClr val="dk1"/>
              </a:solidFill>
              <a:latin typeface="Calibri"/>
              <a:ea typeface="Calibri"/>
              <a:cs typeface="Calibri"/>
              <a:sym typeface="Calibri"/>
            </a:endParaRPr>
          </a:p>
        </p:txBody>
      </p:sp>
      <p:sp>
        <p:nvSpPr>
          <p:cNvPr id="367" name="Google Shape;367;p48"/>
          <p:cNvSpPr/>
          <p:nvPr/>
        </p:nvSpPr>
        <p:spPr>
          <a:xfrm>
            <a:off x="914400" y="3886200"/>
            <a:ext cx="13716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Annual ad revenue</a:t>
            </a:r>
            <a:endParaRPr b="0" i="0" sz="900" u="none" cap="none" strike="noStrike">
              <a:solidFill>
                <a:schemeClr val="dk1"/>
              </a:solidFill>
              <a:latin typeface="Calibri"/>
              <a:ea typeface="Calibri"/>
              <a:cs typeface="Calibri"/>
              <a:sym typeface="Calibri"/>
            </a:endParaRPr>
          </a:p>
        </p:txBody>
      </p:sp>
      <p:sp>
        <p:nvSpPr>
          <p:cNvPr id="368" name="Google Shape;368;p48"/>
          <p:cNvSpPr/>
          <p:nvPr/>
        </p:nvSpPr>
        <p:spPr>
          <a:xfrm>
            <a:off x="2468880" y="3566160"/>
            <a:ext cx="1371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563EB"/>
              </a:buClr>
              <a:buSzPts val="2000"/>
              <a:buFont typeface="Georgia"/>
              <a:buNone/>
            </a:pPr>
            <a:r>
              <a:rPr b="1" i="0" lang="en" sz="2000" u="none" cap="none" strike="noStrike">
                <a:solidFill>
                  <a:srgbClr val="2563EB"/>
                </a:solidFill>
                <a:latin typeface="Georgia"/>
                <a:ea typeface="Georgia"/>
                <a:cs typeface="Georgia"/>
                <a:sym typeface="Georgia"/>
              </a:rPr>
              <a:t>$65-72B</a:t>
            </a:r>
            <a:endParaRPr b="0" i="0" sz="2000" u="none" cap="none" strike="noStrike">
              <a:solidFill>
                <a:schemeClr val="dk1"/>
              </a:solidFill>
              <a:latin typeface="Calibri"/>
              <a:ea typeface="Calibri"/>
              <a:cs typeface="Calibri"/>
              <a:sym typeface="Calibri"/>
            </a:endParaRPr>
          </a:p>
        </p:txBody>
      </p:sp>
      <p:sp>
        <p:nvSpPr>
          <p:cNvPr id="369" name="Google Shape;369;p48"/>
          <p:cNvSpPr/>
          <p:nvPr/>
        </p:nvSpPr>
        <p:spPr>
          <a:xfrm>
            <a:off x="2468880" y="3886200"/>
            <a:ext cx="13716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AI infra spend 2025</a:t>
            </a:r>
            <a:endParaRPr b="0" i="0" sz="900" u="none" cap="none" strike="noStrike">
              <a:solidFill>
                <a:schemeClr val="dk1"/>
              </a:solidFill>
              <a:latin typeface="Calibri"/>
              <a:ea typeface="Calibri"/>
              <a:cs typeface="Calibri"/>
              <a:sym typeface="Calibri"/>
            </a:endParaRPr>
          </a:p>
        </p:txBody>
      </p:sp>
      <p:sp>
        <p:nvSpPr>
          <p:cNvPr id="370" name="Google Shape;370;p48"/>
          <p:cNvSpPr/>
          <p:nvPr/>
        </p:nvSpPr>
        <p:spPr>
          <a:xfrm>
            <a:off x="4754880" y="1371600"/>
            <a:ext cx="3657600" cy="32919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48"/>
          <p:cNvSpPr/>
          <p:nvPr/>
        </p:nvSpPr>
        <p:spPr>
          <a:xfrm>
            <a:off x="4754880" y="1371600"/>
            <a:ext cx="3657600" cy="45600"/>
          </a:xfrm>
          <a:prstGeom prst="rect">
            <a:avLst/>
          </a:prstGeom>
          <a:solidFill>
            <a:srgbClr val="D9770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48"/>
          <p:cNvSpPr/>
          <p:nvPr/>
        </p:nvSpPr>
        <p:spPr>
          <a:xfrm>
            <a:off x="4937760" y="1554480"/>
            <a:ext cx="32919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Alibaba / Qwen</a:t>
            </a:r>
            <a:endParaRPr b="0" i="0" sz="1600" u="none" cap="none" strike="noStrike">
              <a:solidFill>
                <a:schemeClr val="dk1"/>
              </a:solidFill>
              <a:latin typeface="Calibri"/>
              <a:ea typeface="Calibri"/>
              <a:cs typeface="Calibri"/>
              <a:sym typeface="Calibri"/>
            </a:endParaRPr>
          </a:p>
        </p:txBody>
      </p:sp>
      <p:sp>
        <p:nvSpPr>
          <p:cNvPr id="373" name="Google Shape;373;p48"/>
          <p:cNvSpPr/>
          <p:nvPr/>
        </p:nvSpPr>
        <p:spPr>
          <a:xfrm>
            <a:off x="4937760" y="1965960"/>
            <a:ext cx="3291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Open-sourcing Qwen (600M+ downloads, 170K+ derivatives on HuggingFace) funnels developers to Alibaba Cloud. AI-related cloud revenue growing at triple-digit rates for 9 consecutive quarters.</a:t>
            </a:r>
            <a:endParaRPr b="0" i="0" sz="1100" u="none" cap="none" strike="noStrike">
              <a:solidFill>
                <a:schemeClr val="dk1"/>
              </a:solidFill>
              <a:latin typeface="Calibri"/>
              <a:ea typeface="Calibri"/>
              <a:cs typeface="Calibri"/>
              <a:sym typeface="Calibri"/>
            </a:endParaRPr>
          </a:p>
        </p:txBody>
      </p:sp>
      <p:sp>
        <p:nvSpPr>
          <p:cNvPr id="374" name="Google Shape;374;p48"/>
          <p:cNvSpPr/>
          <p:nvPr/>
        </p:nvSpPr>
        <p:spPr>
          <a:xfrm>
            <a:off x="4937760" y="3566160"/>
            <a:ext cx="1371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7706"/>
              </a:buClr>
              <a:buSzPts val="2000"/>
              <a:buFont typeface="Georgia"/>
              <a:buNone/>
            </a:pPr>
            <a:r>
              <a:rPr b="1" i="0" lang="en" sz="2000" u="none" cap="none" strike="noStrike">
                <a:solidFill>
                  <a:srgbClr val="D97706"/>
                </a:solidFill>
                <a:latin typeface="Georgia"/>
                <a:ea typeface="Georgia"/>
                <a:cs typeface="Georgia"/>
                <a:sym typeface="Georgia"/>
              </a:rPr>
              <a:t>$22B+</a:t>
            </a:r>
            <a:endParaRPr b="0" i="0" sz="2000" u="none" cap="none" strike="noStrike">
              <a:solidFill>
                <a:schemeClr val="dk1"/>
              </a:solidFill>
              <a:latin typeface="Calibri"/>
              <a:ea typeface="Calibri"/>
              <a:cs typeface="Calibri"/>
              <a:sym typeface="Calibri"/>
            </a:endParaRPr>
          </a:p>
        </p:txBody>
      </p:sp>
      <p:sp>
        <p:nvSpPr>
          <p:cNvPr id="375" name="Google Shape;375;p48"/>
          <p:cNvSpPr/>
          <p:nvPr/>
        </p:nvSpPr>
        <p:spPr>
          <a:xfrm>
            <a:off x="4937760" y="3886200"/>
            <a:ext cx="13716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Cloud run rate</a:t>
            </a:r>
            <a:endParaRPr b="0" i="0" sz="900" u="none" cap="none" strike="noStrike">
              <a:solidFill>
                <a:schemeClr val="dk1"/>
              </a:solidFill>
              <a:latin typeface="Calibri"/>
              <a:ea typeface="Calibri"/>
              <a:cs typeface="Calibri"/>
              <a:sym typeface="Calibri"/>
            </a:endParaRPr>
          </a:p>
        </p:txBody>
      </p:sp>
      <p:sp>
        <p:nvSpPr>
          <p:cNvPr id="376" name="Google Shape;376;p48"/>
          <p:cNvSpPr/>
          <p:nvPr/>
        </p:nvSpPr>
        <p:spPr>
          <a:xfrm>
            <a:off x="6492240" y="3566160"/>
            <a:ext cx="13716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7706"/>
              </a:buClr>
              <a:buSzPts val="2000"/>
              <a:buFont typeface="Georgia"/>
              <a:buNone/>
            </a:pPr>
            <a:r>
              <a:rPr b="1" i="0" lang="en" sz="2000" u="none" cap="none" strike="noStrike">
                <a:solidFill>
                  <a:srgbClr val="D97706"/>
                </a:solidFill>
                <a:latin typeface="Georgia"/>
                <a:ea typeface="Georgia"/>
                <a:cs typeface="Georgia"/>
                <a:sym typeface="Georgia"/>
              </a:rPr>
              <a:t>$53B</a:t>
            </a:r>
            <a:endParaRPr b="0" i="0" sz="2000" u="none" cap="none" strike="noStrike">
              <a:solidFill>
                <a:schemeClr val="dk1"/>
              </a:solidFill>
              <a:latin typeface="Calibri"/>
              <a:ea typeface="Calibri"/>
              <a:cs typeface="Calibri"/>
              <a:sym typeface="Calibri"/>
            </a:endParaRPr>
          </a:p>
        </p:txBody>
      </p:sp>
      <p:sp>
        <p:nvSpPr>
          <p:cNvPr id="377" name="Google Shape;377;p48"/>
          <p:cNvSpPr/>
          <p:nvPr/>
        </p:nvSpPr>
        <p:spPr>
          <a:xfrm>
            <a:off x="6492240" y="3886200"/>
            <a:ext cx="13716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3-year AI/cloud pledge</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2" name="Shape 382"/>
        <p:cNvGrpSpPr/>
        <p:nvPr/>
      </p:nvGrpSpPr>
      <p:grpSpPr>
        <a:xfrm>
          <a:off x="0" y="0"/>
          <a:ext cx="0" cy="0"/>
          <a:chOff x="0" y="0"/>
          <a:chExt cx="0" cy="0"/>
        </a:xfrm>
      </p:grpSpPr>
      <p:sp>
        <p:nvSpPr>
          <p:cNvPr id="383" name="Google Shape;383;p49"/>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49"/>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49"/>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386" name="Google Shape;386;p49"/>
          <p:cNvSpPr/>
          <p:nvPr/>
        </p:nvSpPr>
        <p:spPr>
          <a:xfrm>
            <a:off x="1325880" y="274320"/>
            <a:ext cx="6400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Platform &amp; Marketplace</a:t>
            </a:r>
            <a:endParaRPr b="0" i="0" sz="2400" u="none" cap="none" strike="noStrike">
              <a:solidFill>
                <a:schemeClr val="dk1"/>
              </a:solidFill>
              <a:latin typeface="Calibri"/>
              <a:ea typeface="Calibri"/>
              <a:cs typeface="Calibri"/>
              <a:sym typeface="Calibri"/>
            </a:endParaRPr>
          </a:p>
        </p:txBody>
      </p:sp>
      <p:sp>
        <p:nvSpPr>
          <p:cNvPr id="387" name="Google Shape;387;p49"/>
          <p:cNvSpPr/>
          <p:nvPr/>
        </p:nvSpPr>
        <p:spPr>
          <a:xfrm>
            <a:off x="731520" y="822960"/>
            <a:ext cx="7680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200"/>
              <a:buFont typeface="Calibri"/>
              <a:buNone/>
            </a:pPr>
            <a:r>
              <a:rPr b="0" i="1" lang="en" sz="1200" u="none" cap="none" strike="noStrike">
                <a:solidFill>
                  <a:srgbClr val="6B7280"/>
                </a:solidFill>
                <a:latin typeface="Calibri"/>
                <a:ea typeface="Calibri"/>
                <a:cs typeface="Calibri"/>
                <a:sym typeface="Calibri"/>
              </a:rPr>
              <a:t>Don't build models — build the infrastructure where open models are hosted, deployed, and consumed</a:t>
            </a:r>
            <a:endParaRPr b="0" i="0" sz="1200" u="none" cap="none" strike="noStrike">
              <a:solidFill>
                <a:schemeClr val="dk1"/>
              </a:solidFill>
              <a:latin typeface="Calibri"/>
              <a:ea typeface="Calibri"/>
              <a:cs typeface="Calibri"/>
              <a:sym typeface="Calibri"/>
            </a:endParaRPr>
          </a:p>
        </p:txBody>
      </p:sp>
      <p:sp>
        <p:nvSpPr>
          <p:cNvPr id="388" name="Google Shape;388;p49"/>
          <p:cNvSpPr/>
          <p:nvPr/>
        </p:nvSpPr>
        <p:spPr>
          <a:xfrm>
            <a:off x="731520" y="1371600"/>
            <a:ext cx="2469000" cy="33834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49"/>
          <p:cNvSpPr/>
          <p:nvPr/>
        </p:nvSpPr>
        <p:spPr>
          <a:xfrm>
            <a:off x="731520" y="1371600"/>
            <a:ext cx="2469000" cy="456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49"/>
          <p:cNvSpPr/>
          <p:nvPr/>
        </p:nvSpPr>
        <p:spPr>
          <a:xfrm>
            <a:off x="868680" y="1508760"/>
            <a:ext cx="21945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Hugging Face</a:t>
            </a:r>
            <a:endParaRPr b="0" i="0" sz="1400" u="none" cap="none" strike="noStrike">
              <a:solidFill>
                <a:schemeClr val="dk1"/>
              </a:solidFill>
              <a:latin typeface="Calibri"/>
              <a:ea typeface="Calibri"/>
              <a:cs typeface="Calibri"/>
              <a:sym typeface="Calibri"/>
            </a:endParaRPr>
          </a:p>
        </p:txBody>
      </p:sp>
      <p:sp>
        <p:nvSpPr>
          <p:cNvPr id="391" name="Google Shape;391;p49"/>
          <p:cNvSpPr/>
          <p:nvPr/>
        </p:nvSpPr>
        <p:spPr>
          <a:xfrm>
            <a:off x="868680" y="1783080"/>
            <a:ext cx="21945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"GitHub of ML"</a:t>
            </a:r>
            <a:endParaRPr b="0" i="0" sz="1000" u="none" cap="none" strike="noStrike">
              <a:solidFill>
                <a:schemeClr val="dk1"/>
              </a:solidFill>
              <a:latin typeface="Calibri"/>
              <a:ea typeface="Calibri"/>
              <a:cs typeface="Calibri"/>
              <a:sym typeface="Calibri"/>
            </a:endParaRPr>
          </a:p>
        </p:txBody>
      </p:sp>
      <p:sp>
        <p:nvSpPr>
          <p:cNvPr id="392" name="Google Shape;392;p49"/>
          <p:cNvSpPr/>
          <p:nvPr/>
        </p:nvSpPr>
        <p:spPr>
          <a:xfrm>
            <a:off x="868680" y="2103120"/>
            <a:ext cx="21945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Free public hosting. Revenue from Pro ($9/mo), Enterprise Hub ($20+/user/mo), Inference Endpoints. 2,000+ enterprise orgs.</a:t>
            </a:r>
            <a:endParaRPr b="0" i="0" sz="1000" u="none" cap="none" strike="noStrike">
              <a:solidFill>
                <a:schemeClr val="dk1"/>
              </a:solidFill>
              <a:latin typeface="Calibri"/>
              <a:ea typeface="Calibri"/>
              <a:cs typeface="Calibri"/>
              <a:sym typeface="Calibri"/>
            </a:endParaRPr>
          </a:p>
        </p:txBody>
      </p:sp>
      <p:sp>
        <p:nvSpPr>
          <p:cNvPr id="393" name="Google Shape;393;p49"/>
          <p:cNvSpPr/>
          <p:nvPr/>
        </p:nvSpPr>
        <p:spPr>
          <a:xfrm>
            <a:off x="822960" y="3291840"/>
            <a:ext cx="7773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1M+</a:t>
            </a:r>
            <a:endParaRPr b="0" i="0" sz="1400" u="none" cap="none" strike="noStrike">
              <a:solidFill>
                <a:schemeClr val="dk1"/>
              </a:solidFill>
              <a:latin typeface="Calibri"/>
              <a:ea typeface="Calibri"/>
              <a:cs typeface="Calibri"/>
              <a:sym typeface="Calibri"/>
            </a:endParaRPr>
          </a:p>
        </p:txBody>
      </p:sp>
      <p:sp>
        <p:nvSpPr>
          <p:cNvPr id="394" name="Google Shape;394;p49"/>
          <p:cNvSpPr/>
          <p:nvPr/>
        </p:nvSpPr>
        <p:spPr>
          <a:xfrm>
            <a:off x="822960" y="3611880"/>
            <a:ext cx="77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Models</a:t>
            </a:r>
            <a:endParaRPr b="0" i="0" sz="800" u="none" cap="none" strike="noStrike">
              <a:solidFill>
                <a:schemeClr val="dk1"/>
              </a:solidFill>
              <a:latin typeface="Calibri"/>
              <a:ea typeface="Calibri"/>
              <a:cs typeface="Calibri"/>
              <a:sym typeface="Calibri"/>
            </a:endParaRPr>
          </a:p>
        </p:txBody>
      </p:sp>
      <p:sp>
        <p:nvSpPr>
          <p:cNvPr id="395" name="Google Shape;395;p49"/>
          <p:cNvSpPr/>
          <p:nvPr/>
        </p:nvSpPr>
        <p:spPr>
          <a:xfrm>
            <a:off x="1600200" y="3291840"/>
            <a:ext cx="7773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$4.5B</a:t>
            </a:r>
            <a:endParaRPr b="0" i="0" sz="1400" u="none" cap="none" strike="noStrike">
              <a:solidFill>
                <a:schemeClr val="dk1"/>
              </a:solidFill>
              <a:latin typeface="Calibri"/>
              <a:ea typeface="Calibri"/>
              <a:cs typeface="Calibri"/>
              <a:sym typeface="Calibri"/>
            </a:endParaRPr>
          </a:p>
        </p:txBody>
      </p:sp>
      <p:sp>
        <p:nvSpPr>
          <p:cNvPr id="396" name="Google Shape;396;p49"/>
          <p:cNvSpPr/>
          <p:nvPr/>
        </p:nvSpPr>
        <p:spPr>
          <a:xfrm>
            <a:off x="1600200" y="3611880"/>
            <a:ext cx="77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Valuation</a:t>
            </a:r>
            <a:endParaRPr b="0" i="0" sz="800" u="none" cap="none" strike="noStrike">
              <a:solidFill>
                <a:schemeClr val="dk1"/>
              </a:solidFill>
              <a:latin typeface="Calibri"/>
              <a:ea typeface="Calibri"/>
              <a:cs typeface="Calibri"/>
              <a:sym typeface="Calibri"/>
            </a:endParaRPr>
          </a:p>
        </p:txBody>
      </p:sp>
      <p:sp>
        <p:nvSpPr>
          <p:cNvPr id="397" name="Google Shape;397;p49"/>
          <p:cNvSpPr/>
          <p:nvPr/>
        </p:nvSpPr>
        <p:spPr>
          <a:xfrm>
            <a:off x="2377440" y="3291840"/>
            <a:ext cx="7773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$70-130M</a:t>
            </a:r>
            <a:endParaRPr b="0" i="0" sz="1400" u="none" cap="none" strike="noStrike">
              <a:solidFill>
                <a:schemeClr val="dk1"/>
              </a:solidFill>
              <a:latin typeface="Calibri"/>
              <a:ea typeface="Calibri"/>
              <a:cs typeface="Calibri"/>
              <a:sym typeface="Calibri"/>
            </a:endParaRPr>
          </a:p>
        </p:txBody>
      </p:sp>
      <p:sp>
        <p:nvSpPr>
          <p:cNvPr id="398" name="Google Shape;398;p49"/>
          <p:cNvSpPr/>
          <p:nvPr/>
        </p:nvSpPr>
        <p:spPr>
          <a:xfrm>
            <a:off x="2377440" y="3611880"/>
            <a:ext cx="77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Est. Revenue</a:t>
            </a:r>
            <a:endParaRPr b="0" i="0" sz="800" u="none" cap="none" strike="noStrike">
              <a:solidFill>
                <a:schemeClr val="dk1"/>
              </a:solidFill>
              <a:latin typeface="Calibri"/>
              <a:ea typeface="Calibri"/>
              <a:cs typeface="Calibri"/>
              <a:sym typeface="Calibri"/>
            </a:endParaRPr>
          </a:p>
        </p:txBody>
      </p:sp>
      <p:sp>
        <p:nvSpPr>
          <p:cNvPr id="399" name="Google Shape;399;p49"/>
          <p:cNvSpPr/>
          <p:nvPr/>
        </p:nvSpPr>
        <p:spPr>
          <a:xfrm>
            <a:off x="3474720" y="1371600"/>
            <a:ext cx="2469000" cy="33834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49"/>
          <p:cNvSpPr/>
          <p:nvPr/>
        </p:nvSpPr>
        <p:spPr>
          <a:xfrm>
            <a:off x="3474720" y="1371600"/>
            <a:ext cx="2469000" cy="456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49"/>
          <p:cNvSpPr/>
          <p:nvPr/>
        </p:nvSpPr>
        <p:spPr>
          <a:xfrm>
            <a:off x="3611880" y="1508760"/>
            <a:ext cx="21945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Together AI</a:t>
            </a:r>
            <a:endParaRPr b="0" i="0" sz="1400" u="none" cap="none" strike="noStrike">
              <a:solidFill>
                <a:schemeClr val="dk1"/>
              </a:solidFill>
              <a:latin typeface="Calibri"/>
              <a:ea typeface="Calibri"/>
              <a:cs typeface="Calibri"/>
              <a:sym typeface="Calibri"/>
            </a:endParaRPr>
          </a:p>
        </p:txBody>
      </p:sp>
      <p:sp>
        <p:nvSpPr>
          <p:cNvPr id="402" name="Google Shape;402;p49"/>
          <p:cNvSpPr/>
          <p:nvPr/>
        </p:nvSpPr>
        <p:spPr>
          <a:xfrm>
            <a:off x="3611880" y="1783080"/>
            <a:ext cx="21945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Open model API</a:t>
            </a:r>
            <a:endParaRPr b="0" i="0" sz="1000" u="none" cap="none" strike="noStrike">
              <a:solidFill>
                <a:schemeClr val="dk1"/>
              </a:solidFill>
              <a:latin typeface="Calibri"/>
              <a:ea typeface="Calibri"/>
              <a:cs typeface="Calibri"/>
              <a:sym typeface="Calibri"/>
            </a:endParaRPr>
          </a:p>
        </p:txBody>
      </p:sp>
      <p:sp>
        <p:nvSpPr>
          <p:cNvPr id="403" name="Google Shape;403;p49"/>
          <p:cNvSpPr/>
          <p:nvPr/>
        </p:nvSpPr>
        <p:spPr>
          <a:xfrm>
            <a:off x="3611880" y="2103120"/>
            <a:ext cx="21945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API inference for 200+ open models + GPU cloud rentals. Pay-per-token access to Llama, Mistral, and others.</a:t>
            </a:r>
            <a:endParaRPr b="0" i="0" sz="1000" u="none" cap="none" strike="noStrike">
              <a:solidFill>
                <a:schemeClr val="dk1"/>
              </a:solidFill>
              <a:latin typeface="Calibri"/>
              <a:ea typeface="Calibri"/>
              <a:cs typeface="Calibri"/>
              <a:sym typeface="Calibri"/>
            </a:endParaRPr>
          </a:p>
        </p:txBody>
      </p:sp>
      <p:sp>
        <p:nvSpPr>
          <p:cNvPr id="404" name="Google Shape;404;p49"/>
          <p:cNvSpPr/>
          <p:nvPr/>
        </p:nvSpPr>
        <p:spPr>
          <a:xfrm>
            <a:off x="3566160" y="3291840"/>
            <a:ext cx="7773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200+</a:t>
            </a:r>
            <a:endParaRPr b="0" i="0" sz="1400" u="none" cap="none" strike="noStrike">
              <a:solidFill>
                <a:schemeClr val="dk1"/>
              </a:solidFill>
              <a:latin typeface="Calibri"/>
              <a:ea typeface="Calibri"/>
              <a:cs typeface="Calibri"/>
              <a:sym typeface="Calibri"/>
            </a:endParaRPr>
          </a:p>
        </p:txBody>
      </p:sp>
      <p:sp>
        <p:nvSpPr>
          <p:cNvPr id="405" name="Google Shape;405;p49"/>
          <p:cNvSpPr/>
          <p:nvPr/>
        </p:nvSpPr>
        <p:spPr>
          <a:xfrm>
            <a:off x="3566160" y="3611880"/>
            <a:ext cx="77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Models</a:t>
            </a:r>
            <a:endParaRPr b="0" i="0" sz="800" u="none" cap="none" strike="noStrike">
              <a:solidFill>
                <a:schemeClr val="dk1"/>
              </a:solidFill>
              <a:latin typeface="Calibri"/>
              <a:ea typeface="Calibri"/>
              <a:cs typeface="Calibri"/>
              <a:sym typeface="Calibri"/>
            </a:endParaRPr>
          </a:p>
        </p:txBody>
      </p:sp>
      <p:sp>
        <p:nvSpPr>
          <p:cNvPr id="406" name="Google Shape;406;p49"/>
          <p:cNvSpPr/>
          <p:nvPr/>
        </p:nvSpPr>
        <p:spPr>
          <a:xfrm>
            <a:off x="4343400" y="3291840"/>
            <a:ext cx="7773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$3.3B</a:t>
            </a:r>
            <a:endParaRPr b="0" i="0" sz="1400" u="none" cap="none" strike="noStrike">
              <a:solidFill>
                <a:schemeClr val="dk1"/>
              </a:solidFill>
              <a:latin typeface="Calibri"/>
              <a:ea typeface="Calibri"/>
              <a:cs typeface="Calibri"/>
              <a:sym typeface="Calibri"/>
            </a:endParaRPr>
          </a:p>
        </p:txBody>
      </p:sp>
      <p:sp>
        <p:nvSpPr>
          <p:cNvPr id="407" name="Google Shape;407;p49"/>
          <p:cNvSpPr/>
          <p:nvPr/>
        </p:nvSpPr>
        <p:spPr>
          <a:xfrm>
            <a:off x="4343400" y="3611880"/>
            <a:ext cx="77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Valuation</a:t>
            </a:r>
            <a:endParaRPr b="0" i="0" sz="800" u="none" cap="none" strike="noStrike">
              <a:solidFill>
                <a:schemeClr val="dk1"/>
              </a:solidFill>
              <a:latin typeface="Calibri"/>
              <a:ea typeface="Calibri"/>
              <a:cs typeface="Calibri"/>
              <a:sym typeface="Calibri"/>
            </a:endParaRPr>
          </a:p>
        </p:txBody>
      </p:sp>
      <p:sp>
        <p:nvSpPr>
          <p:cNvPr id="408" name="Google Shape;408;p49"/>
          <p:cNvSpPr/>
          <p:nvPr/>
        </p:nvSpPr>
        <p:spPr>
          <a:xfrm>
            <a:off x="5120640" y="3291840"/>
            <a:ext cx="7773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$100M+</a:t>
            </a:r>
            <a:endParaRPr b="0" i="0" sz="1400" u="none" cap="none" strike="noStrike">
              <a:solidFill>
                <a:schemeClr val="dk1"/>
              </a:solidFill>
              <a:latin typeface="Calibri"/>
              <a:ea typeface="Calibri"/>
              <a:cs typeface="Calibri"/>
              <a:sym typeface="Calibri"/>
            </a:endParaRPr>
          </a:p>
        </p:txBody>
      </p:sp>
      <p:sp>
        <p:nvSpPr>
          <p:cNvPr id="409" name="Google Shape;409;p49"/>
          <p:cNvSpPr/>
          <p:nvPr/>
        </p:nvSpPr>
        <p:spPr>
          <a:xfrm>
            <a:off x="5120640" y="3611880"/>
            <a:ext cx="77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ARR</a:t>
            </a:r>
            <a:endParaRPr b="0" i="0" sz="800" u="none" cap="none" strike="noStrike">
              <a:solidFill>
                <a:schemeClr val="dk1"/>
              </a:solidFill>
              <a:latin typeface="Calibri"/>
              <a:ea typeface="Calibri"/>
              <a:cs typeface="Calibri"/>
              <a:sym typeface="Calibri"/>
            </a:endParaRPr>
          </a:p>
        </p:txBody>
      </p:sp>
      <p:sp>
        <p:nvSpPr>
          <p:cNvPr id="410" name="Google Shape;410;p49"/>
          <p:cNvSpPr/>
          <p:nvPr/>
        </p:nvSpPr>
        <p:spPr>
          <a:xfrm>
            <a:off x="6217920" y="1371600"/>
            <a:ext cx="2469000" cy="33834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49"/>
          <p:cNvSpPr/>
          <p:nvPr/>
        </p:nvSpPr>
        <p:spPr>
          <a:xfrm>
            <a:off x="6217920" y="1371600"/>
            <a:ext cx="2469000" cy="456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49"/>
          <p:cNvSpPr/>
          <p:nvPr/>
        </p:nvSpPr>
        <p:spPr>
          <a:xfrm>
            <a:off x="6355080" y="1508760"/>
            <a:ext cx="21945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Fireworks AI</a:t>
            </a:r>
            <a:endParaRPr b="0" i="0" sz="1400" u="none" cap="none" strike="noStrike">
              <a:solidFill>
                <a:schemeClr val="dk1"/>
              </a:solidFill>
              <a:latin typeface="Calibri"/>
              <a:ea typeface="Calibri"/>
              <a:cs typeface="Calibri"/>
              <a:sym typeface="Calibri"/>
            </a:endParaRPr>
          </a:p>
        </p:txBody>
      </p:sp>
      <p:sp>
        <p:nvSpPr>
          <p:cNvPr id="413" name="Google Shape;413;p49"/>
          <p:cNvSpPr/>
          <p:nvPr/>
        </p:nvSpPr>
        <p:spPr>
          <a:xfrm>
            <a:off x="6355080" y="1783080"/>
            <a:ext cx="21945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Optimized inference</a:t>
            </a:r>
            <a:endParaRPr b="0" i="0" sz="1000" u="none" cap="none" strike="noStrike">
              <a:solidFill>
                <a:schemeClr val="dk1"/>
              </a:solidFill>
              <a:latin typeface="Calibri"/>
              <a:ea typeface="Calibri"/>
              <a:cs typeface="Calibri"/>
              <a:sym typeface="Calibri"/>
            </a:endParaRPr>
          </a:p>
        </p:txBody>
      </p:sp>
      <p:sp>
        <p:nvSpPr>
          <p:cNvPr id="414" name="Google Shape;414;p49"/>
          <p:cNvSpPr/>
          <p:nvPr/>
        </p:nvSpPr>
        <p:spPr>
          <a:xfrm>
            <a:off x="6355080" y="2103120"/>
            <a:ext cx="21945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Founded by PyTorch creators. Optimized inference for open models. Clients: Uber, Shopify, Cursor.</a:t>
            </a:r>
            <a:endParaRPr b="0" i="0" sz="1000" u="none" cap="none" strike="noStrike">
              <a:solidFill>
                <a:schemeClr val="dk1"/>
              </a:solidFill>
              <a:latin typeface="Calibri"/>
              <a:ea typeface="Calibri"/>
              <a:cs typeface="Calibri"/>
              <a:sym typeface="Calibri"/>
            </a:endParaRPr>
          </a:p>
        </p:txBody>
      </p:sp>
      <p:sp>
        <p:nvSpPr>
          <p:cNvPr id="415" name="Google Shape;415;p49"/>
          <p:cNvSpPr/>
          <p:nvPr/>
        </p:nvSpPr>
        <p:spPr>
          <a:xfrm>
            <a:off x="6309360" y="3291840"/>
            <a:ext cx="7773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40x</a:t>
            </a:r>
            <a:endParaRPr b="0" i="0" sz="1400" u="none" cap="none" strike="noStrike">
              <a:solidFill>
                <a:schemeClr val="dk1"/>
              </a:solidFill>
              <a:latin typeface="Calibri"/>
              <a:ea typeface="Calibri"/>
              <a:cs typeface="Calibri"/>
              <a:sym typeface="Calibri"/>
            </a:endParaRPr>
          </a:p>
        </p:txBody>
      </p:sp>
      <p:sp>
        <p:nvSpPr>
          <p:cNvPr id="416" name="Google Shape;416;p49"/>
          <p:cNvSpPr/>
          <p:nvPr/>
        </p:nvSpPr>
        <p:spPr>
          <a:xfrm>
            <a:off x="6309360" y="3611880"/>
            <a:ext cx="77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Growth/18mo</a:t>
            </a:r>
            <a:endParaRPr b="0" i="0" sz="800" u="none" cap="none" strike="noStrike">
              <a:solidFill>
                <a:schemeClr val="dk1"/>
              </a:solidFill>
              <a:latin typeface="Calibri"/>
              <a:ea typeface="Calibri"/>
              <a:cs typeface="Calibri"/>
              <a:sym typeface="Calibri"/>
            </a:endParaRPr>
          </a:p>
        </p:txBody>
      </p:sp>
      <p:sp>
        <p:nvSpPr>
          <p:cNvPr id="417" name="Google Shape;417;p49"/>
          <p:cNvSpPr/>
          <p:nvPr/>
        </p:nvSpPr>
        <p:spPr>
          <a:xfrm>
            <a:off x="7086600" y="3291840"/>
            <a:ext cx="7773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$4B</a:t>
            </a:r>
            <a:endParaRPr b="0" i="0" sz="1400" u="none" cap="none" strike="noStrike">
              <a:solidFill>
                <a:schemeClr val="dk1"/>
              </a:solidFill>
              <a:latin typeface="Calibri"/>
              <a:ea typeface="Calibri"/>
              <a:cs typeface="Calibri"/>
              <a:sym typeface="Calibri"/>
            </a:endParaRPr>
          </a:p>
        </p:txBody>
      </p:sp>
      <p:sp>
        <p:nvSpPr>
          <p:cNvPr id="418" name="Google Shape;418;p49"/>
          <p:cNvSpPr/>
          <p:nvPr/>
        </p:nvSpPr>
        <p:spPr>
          <a:xfrm>
            <a:off x="7086600" y="3611880"/>
            <a:ext cx="77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Valuation</a:t>
            </a:r>
            <a:endParaRPr b="0" i="0" sz="800" u="none" cap="none" strike="noStrike">
              <a:solidFill>
                <a:schemeClr val="dk1"/>
              </a:solidFill>
              <a:latin typeface="Calibri"/>
              <a:ea typeface="Calibri"/>
              <a:cs typeface="Calibri"/>
              <a:sym typeface="Calibri"/>
            </a:endParaRPr>
          </a:p>
        </p:txBody>
      </p:sp>
      <p:sp>
        <p:nvSpPr>
          <p:cNvPr id="419" name="Google Shape;419;p49"/>
          <p:cNvSpPr/>
          <p:nvPr/>
        </p:nvSpPr>
        <p:spPr>
          <a:xfrm>
            <a:off x="7863840" y="3291840"/>
            <a:ext cx="7773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$280M</a:t>
            </a:r>
            <a:endParaRPr b="0" i="0" sz="1400" u="none" cap="none" strike="noStrike">
              <a:solidFill>
                <a:schemeClr val="dk1"/>
              </a:solidFill>
              <a:latin typeface="Calibri"/>
              <a:ea typeface="Calibri"/>
              <a:cs typeface="Calibri"/>
              <a:sym typeface="Calibri"/>
            </a:endParaRPr>
          </a:p>
        </p:txBody>
      </p:sp>
      <p:sp>
        <p:nvSpPr>
          <p:cNvPr id="420" name="Google Shape;420;p49"/>
          <p:cNvSpPr/>
          <p:nvPr/>
        </p:nvSpPr>
        <p:spPr>
          <a:xfrm>
            <a:off x="7863840" y="3611880"/>
            <a:ext cx="77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ARR</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5" name="Shape 425"/>
        <p:cNvGrpSpPr/>
        <p:nvPr/>
      </p:nvGrpSpPr>
      <p:grpSpPr>
        <a:xfrm>
          <a:off x="0" y="0"/>
          <a:ext cx="0" cy="0"/>
          <a:chOff x="0" y="0"/>
          <a:chExt cx="0" cy="0"/>
        </a:xfrm>
      </p:grpSpPr>
      <p:sp>
        <p:nvSpPr>
          <p:cNvPr id="426" name="Google Shape;426;p50"/>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50"/>
          <p:cNvSpPr/>
          <p:nvPr/>
        </p:nvSpPr>
        <p:spPr>
          <a:xfrm>
            <a:off x="731520" y="22860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50"/>
          <p:cNvSpPr/>
          <p:nvPr/>
        </p:nvSpPr>
        <p:spPr>
          <a:xfrm>
            <a:off x="731520" y="228600"/>
            <a:ext cx="411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429" name="Google Shape;429;p50"/>
          <p:cNvSpPr/>
          <p:nvPr/>
        </p:nvSpPr>
        <p:spPr>
          <a:xfrm>
            <a:off x="1325880" y="228600"/>
            <a:ext cx="73152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Cloud Infrastructure: Always Wins</a:t>
            </a:r>
            <a:endParaRPr b="0" i="0" sz="2400" u="none" cap="none" strike="noStrike">
              <a:solidFill>
                <a:schemeClr val="dk1"/>
              </a:solidFill>
              <a:latin typeface="Calibri"/>
              <a:ea typeface="Calibri"/>
              <a:cs typeface="Calibri"/>
              <a:sym typeface="Calibri"/>
            </a:endParaRPr>
          </a:p>
        </p:txBody>
      </p:sp>
      <p:sp>
        <p:nvSpPr>
          <p:cNvPr id="430" name="Google Shape;430;p50"/>
          <p:cNvSpPr/>
          <p:nvPr/>
        </p:nvSpPr>
        <p:spPr>
          <a:xfrm>
            <a:off x="731520" y="731520"/>
            <a:ext cx="76809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100"/>
              <a:buFont typeface="Calibri"/>
              <a:buNone/>
            </a:pPr>
            <a:r>
              <a:rPr b="0" i="1" lang="en" sz="1100" u="none" cap="none" strike="noStrike">
                <a:solidFill>
                  <a:srgbClr val="6B7280"/>
                </a:solidFill>
                <a:latin typeface="Calibri"/>
                <a:ea typeface="Calibri"/>
                <a:cs typeface="Calibri"/>
                <a:sym typeface="Calibri"/>
              </a:rPr>
              <a:t>Every model — trained, fine-tuned, or served — runs on someone's cloud. More free models = more compute consumed.</a:t>
            </a:r>
            <a:endParaRPr b="0" i="0" sz="1100" u="none" cap="none" strike="noStrike">
              <a:solidFill>
                <a:schemeClr val="dk1"/>
              </a:solidFill>
              <a:latin typeface="Calibri"/>
              <a:ea typeface="Calibri"/>
              <a:cs typeface="Calibri"/>
              <a:sym typeface="Calibri"/>
            </a:endParaRPr>
          </a:p>
        </p:txBody>
      </p:sp>
      <p:pic>
        <p:nvPicPr>
          <p:cNvPr id="431" name="Google Shape;431;p50"/>
          <p:cNvPicPr preferRelativeResize="0"/>
          <p:nvPr/>
        </p:nvPicPr>
        <p:blipFill rotWithShape="1">
          <a:blip r:embed="rId3">
            <a:alphaModFix/>
          </a:blip>
          <a:srcRect b="0" l="0" r="0" t="0"/>
          <a:stretch/>
        </p:blipFill>
        <p:spPr>
          <a:xfrm>
            <a:off x="731520" y="1371600"/>
            <a:ext cx="4572000" cy="2926200"/>
          </a:xfrm>
          <a:prstGeom prst="rect">
            <a:avLst/>
          </a:prstGeom>
          <a:noFill/>
          <a:ln>
            <a:noFill/>
          </a:ln>
        </p:spPr>
      </p:pic>
      <p:sp>
        <p:nvSpPr>
          <p:cNvPr id="432" name="Google Shape;432;p50"/>
          <p:cNvSpPr/>
          <p:nvPr/>
        </p:nvSpPr>
        <p:spPr>
          <a:xfrm>
            <a:off x="5577840" y="1371600"/>
            <a:ext cx="54900" cy="822900"/>
          </a:xfrm>
          <a:prstGeom prst="rect">
            <a:avLst/>
          </a:prstGeom>
          <a:solidFill>
            <a:srgbClr val="FF99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50"/>
          <p:cNvSpPr/>
          <p:nvPr/>
        </p:nvSpPr>
        <p:spPr>
          <a:xfrm>
            <a:off x="5806440" y="1371600"/>
            <a:ext cx="29262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AWS Bedrock</a:t>
            </a:r>
            <a:endParaRPr b="0" i="0" sz="1200" u="none" cap="none" strike="noStrike">
              <a:solidFill>
                <a:schemeClr val="dk1"/>
              </a:solidFill>
              <a:latin typeface="Calibri"/>
              <a:ea typeface="Calibri"/>
              <a:cs typeface="Calibri"/>
              <a:sym typeface="Calibri"/>
            </a:endParaRPr>
          </a:p>
        </p:txBody>
      </p:sp>
      <p:sp>
        <p:nvSpPr>
          <p:cNvPr id="434" name="Google Shape;434;p50"/>
          <p:cNvSpPr/>
          <p:nvPr/>
        </p:nvSpPr>
        <p:spPr>
          <a:xfrm>
            <a:off x="5806440" y="1645920"/>
            <a:ext cx="2926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~100 serverless models incl. Llama, Mistral. Custom AI chips at triple-digit growth.</a:t>
            </a:r>
            <a:endParaRPr b="0" i="0" sz="1000" u="none" cap="none" strike="noStrike">
              <a:solidFill>
                <a:schemeClr val="dk1"/>
              </a:solidFill>
              <a:latin typeface="Calibri"/>
              <a:ea typeface="Calibri"/>
              <a:cs typeface="Calibri"/>
              <a:sym typeface="Calibri"/>
            </a:endParaRPr>
          </a:p>
        </p:txBody>
      </p:sp>
      <p:sp>
        <p:nvSpPr>
          <p:cNvPr id="435" name="Google Shape;435;p50"/>
          <p:cNvSpPr/>
          <p:nvPr/>
        </p:nvSpPr>
        <p:spPr>
          <a:xfrm>
            <a:off x="5577840" y="2377440"/>
            <a:ext cx="54900" cy="822900"/>
          </a:xfrm>
          <a:prstGeom prst="rect">
            <a:avLst/>
          </a:prstGeom>
          <a:solidFill>
            <a:srgbClr val="4285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50"/>
          <p:cNvSpPr/>
          <p:nvPr/>
        </p:nvSpPr>
        <p:spPr>
          <a:xfrm>
            <a:off x="5806440" y="2377440"/>
            <a:ext cx="29262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Google Cloud</a:t>
            </a:r>
            <a:endParaRPr b="0" i="0" sz="1200" u="none" cap="none" strike="noStrike">
              <a:solidFill>
                <a:schemeClr val="dk1"/>
              </a:solidFill>
              <a:latin typeface="Calibri"/>
              <a:ea typeface="Calibri"/>
              <a:cs typeface="Calibri"/>
              <a:sym typeface="Calibri"/>
            </a:endParaRPr>
          </a:p>
        </p:txBody>
      </p:sp>
      <p:sp>
        <p:nvSpPr>
          <p:cNvPr id="437" name="Google Shape;437;p50"/>
          <p:cNvSpPr/>
          <p:nvPr/>
        </p:nvSpPr>
        <p:spPr>
          <a:xfrm>
            <a:off x="5806440" y="2651760"/>
            <a:ext cx="2926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48% YoY growth. Vertex AI Model Garden hosts open + Gemma models.</a:t>
            </a:r>
            <a:endParaRPr b="0" i="0" sz="1000" u="none" cap="none" strike="noStrike">
              <a:solidFill>
                <a:schemeClr val="dk1"/>
              </a:solidFill>
              <a:latin typeface="Calibri"/>
              <a:ea typeface="Calibri"/>
              <a:cs typeface="Calibri"/>
              <a:sym typeface="Calibri"/>
            </a:endParaRPr>
          </a:p>
        </p:txBody>
      </p:sp>
      <p:sp>
        <p:nvSpPr>
          <p:cNvPr id="438" name="Google Shape;438;p50"/>
          <p:cNvSpPr/>
          <p:nvPr/>
        </p:nvSpPr>
        <p:spPr>
          <a:xfrm>
            <a:off x="5577840" y="3383280"/>
            <a:ext cx="54900" cy="822900"/>
          </a:xfrm>
          <a:prstGeom prst="rect">
            <a:avLst/>
          </a:prstGeom>
          <a:solidFill>
            <a:srgbClr val="00A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50"/>
          <p:cNvSpPr/>
          <p:nvPr/>
        </p:nvSpPr>
        <p:spPr>
          <a:xfrm>
            <a:off x="5806440" y="3383280"/>
            <a:ext cx="29262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Azure AI</a:t>
            </a:r>
            <a:endParaRPr b="0" i="0" sz="1200" u="none" cap="none" strike="noStrike">
              <a:solidFill>
                <a:schemeClr val="dk1"/>
              </a:solidFill>
              <a:latin typeface="Calibri"/>
              <a:ea typeface="Calibri"/>
              <a:cs typeface="Calibri"/>
              <a:sym typeface="Calibri"/>
            </a:endParaRPr>
          </a:p>
        </p:txBody>
      </p:sp>
      <p:sp>
        <p:nvSpPr>
          <p:cNvPr id="440" name="Google Shape;440;p50"/>
          <p:cNvSpPr/>
          <p:nvPr/>
        </p:nvSpPr>
        <p:spPr>
          <a:xfrm>
            <a:off x="5806440" y="3657600"/>
            <a:ext cx="2926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AI contributed 13 pts to 39% growth. Azure AI Foundry for open model deployment.</a:t>
            </a:r>
            <a:endParaRPr b="0" i="0" sz="1000" u="none" cap="none" strike="noStrike">
              <a:solidFill>
                <a:schemeClr val="dk1"/>
              </a:solidFill>
              <a:latin typeface="Calibri"/>
              <a:ea typeface="Calibri"/>
              <a:cs typeface="Calibri"/>
              <a:sym typeface="Calibri"/>
            </a:endParaRPr>
          </a:p>
        </p:txBody>
      </p:sp>
      <p:sp>
        <p:nvSpPr>
          <p:cNvPr id="441" name="Google Shape;441;p50"/>
          <p:cNvSpPr/>
          <p:nvPr/>
        </p:nvSpPr>
        <p:spPr>
          <a:xfrm>
            <a:off x="731520" y="4480560"/>
            <a:ext cx="7680900" cy="457200"/>
          </a:xfrm>
          <a:prstGeom prst="rect">
            <a:avLst/>
          </a:prstGeom>
          <a:solidFill>
            <a:srgbClr val="E8F5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50"/>
          <p:cNvSpPr/>
          <p:nvPr/>
        </p:nvSpPr>
        <p:spPr>
          <a:xfrm>
            <a:off x="731520" y="4480560"/>
            <a:ext cx="76809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1300"/>
              <a:buFont typeface="Calibri"/>
              <a:buNone/>
            </a:pPr>
            <a:r>
              <a:rPr b="1" i="0" lang="en" sz="1300" u="none" cap="none" strike="noStrike">
                <a:solidFill>
                  <a:srgbClr val="0D7C66"/>
                </a:solidFill>
                <a:latin typeface="Calibri"/>
                <a:ea typeface="Calibri"/>
                <a:cs typeface="Calibri"/>
                <a:sym typeface="Calibri"/>
              </a:rPr>
              <a:t>Combined hyperscaler AI-related capex approaching $500B+ for 2026</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51"/>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51"/>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51"/>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5</a:t>
            </a:r>
            <a:endParaRPr b="0" i="0" sz="1800" u="none" cap="none" strike="noStrike">
              <a:solidFill>
                <a:schemeClr val="dk1"/>
              </a:solidFill>
              <a:latin typeface="Calibri"/>
              <a:ea typeface="Calibri"/>
              <a:cs typeface="Calibri"/>
              <a:sym typeface="Calibri"/>
            </a:endParaRPr>
          </a:p>
        </p:txBody>
      </p:sp>
      <p:sp>
        <p:nvSpPr>
          <p:cNvPr id="451" name="Google Shape;451;p51"/>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Hardware Demand: NVIDIA's Unparalleled Position</a:t>
            </a:r>
            <a:endParaRPr b="0" i="0" sz="2400" u="none" cap="none" strike="noStrike">
              <a:solidFill>
                <a:schemeClr val="dk1"/>
              </a:solidFill>
              <a:latin typeface="Calibri"/>
              <a:ea typeface="Calibri"/>
              <a:cs typeface="Calibri"/>
              <a:sym typeface="Calibri"/>
            </a:endParaRPr>
          </a:p>
        </p:txBody>
      </p:sp>
      <p:sp>
        <p:nvSpPr>
          <p:cNvPr id="452" name="Google Shape;452;p51"/>
          <p:cNvSpPr/>
          <p:nvPr/>
        </p:nvSpPr>
        <p:spPr>
          <a:xfrm>
            <a:off x="731520" y="1005840"/>
            <a:ext cx="3657600" cy="20118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51"/>
          <p:cNvSpPr/>
          <p:nvPr/>
        </p:nvSpPr>
        <p:spPr>
          <a:xfrm>
            <a:off x="731520" y="1097280"/>
            <a:ext cx="365760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4800"/>
              <a:buFont typeface="Georgia"/>
              <a:buNone/>
            </a:pPr>
            <a:r>
              <a:rPr b="1" i="0" lang="en" sz="4800" u="none" cap="none" strike="noStrike">
                <a:solidFill>
                  <a:srgbClr val="0D7C66"/>
                </a:solidFill>
                <a:latin typeface="Georgia"/>
                <a:ea typeface="Georgia"/>
                <a:cs typeface="Georgia"/>
                <a:sym typeface="Georgia"/>
              </a:rPr>
              <a:t>$130.5B</a:t>
            </a:r>
            <a:endParaRPr b="0" i="0" sz="4800" u="none" cap="none" strike="noStrike">
              <a:solidFill>
                <a:schemeClr val="dk1"/>
              </a:solidFill>
              <a:latin typeface="Calibri"/>
              <a:ea typeface="Calibri"/>
              <a:cs typeface="Calibri"/>
              <a:sym typeface="Calibri"/>
            </a:endParaRPr>
          </a:p>
        </p:txBody>
      </p:sp>
      <p:sp>
        <p:nvSpPr>
          <p:cNvPr id="454" name="Google Shape;454;p51"/>
          <p:cNvSpPr/>
          <p:nvPr/>
        </p:nvSpPr>
        <p:spPr>
          <a:xfrm>
            <a:off x="731520" y="1920240"/>
            <a:ext cx="36576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2A4A"/>
              </a:buClr>
              <a:buSzPts val="1400"/>
              <a:buFont typeface="Calibri"/>
              <a:buNone/>
            </a:pPr>
            <a:r>
              <a:rPr b="0" i="0" lang="en" sz="1400" u="none" cap="none" strike="noStrike">
                <a:solidFill>
                  <a:srgbClr val="1B2A4A"/>
                </a:solidFill>
                <a:latin typeface="Calibri"/>
                <a:ea typeface="Calibri"/>
                <a:cs typeface="Calibri"/>
                <a:sym typeface="Calibri"/>
              </a:rPr>
              <a:t>NVIDIA FY2025 Revenue</a:t>
            </a:r>
            <a:endParaRPr b="0" i="0" sz="1400" u="none" cap="none" strike="noStrike">
              <a:solidFill>
                <a:schemeClr val="dk1"/>
              </a:solidFill>
              <a:latin typeface="Calibri"/>
              <a:ea typeface="Calibri"/>
              <a:cs typeface="Calibri"/>
              <a:sym typeface="Calibri"/>
            </a:endParaRPr>
          </a:p>
        </p:txBody>
      </p:sp>
      <p:sp>
        <p:nvSpPr>
          <p:cNvPr id="455" name="Google Shape;455;p51"/>
          <p:cNvSpPr/>
          <p:nvPr/>
        </p:nvSpPr>
        <p:spPr>
          <a:xfrm>
            <a:off x="731520" y="2194560"/>
            <a:ext cx="3657600" cy="274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7C66"/>
              </a:buClr>
              <a:buSzPts val="1200"/>
              <a:buFont typeface="Calibri"/>
              <a:buNone/>
            </a:pPr>
            <a:r>
              <a:rPr b="0" i="1" lang="en" sz="1200" u="none" cap="none" strike="noStrike">
                <a:solidFill>
                  <a:srgbClr val="0D7C66"/>
                </a:solidFill>
                <a:latin typeface="Calibri"/>
                <a:ea typeface="Calibri"/>
                <a:cs typeface="Calibri"/>
                <a:sym typeface="Calibri"/>
              </a:rPr>
              <a:t>+114% year-over-year</a:t>
            </a:r>
            <a:endParaRPr b="0" i="0" sz="1200" u="none" cap="none" strike="noStrike">
              <a:solidFill>
                <a:schemeClr val="dk1"/>
              </a:solidFill>
              <a:latin typeface="Calibri"/>
              <a:ea typeface="Calibri"/>
              <a:cs typeface="Calibri"/>
              <a:sym typeface="Calibri"/>
            </a:endParaRPr>
          </a:p>
        </p:txBody>
      </p:sp>
      <p:sp>
        <p:nvSpPr>
          <p:cNvPr id="456" name="Google Shape;456;p51"/>
          <p:cNvSpPr/>
          <p:nvPr/>
        </p:nvSpPr>
        <p:spPr>
          <a:xfrm>
            <a:off x="4754880" y="1005840"/>
            <a:ext cx="3657600" cy="594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51"/>
          <p:cNvSpPr/>
          <p:nvPr/>
        </p:nvSpPr>
        <p:spPr>
          <a:xfrm>
            <a:off x="4846320" y="1051560"/>
            <a:ext cx="13716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7C66"/>
              </a:buClr>
              <a:buSzPts val="1800"/>
              <a:buFont typeface="Georgia"/>
              <a:buNone/>
            </a:pPr>
            <a:r>
              <a:rPr b="1" i="0" lang="en" sz="1800" u="none" cap="none" strike="noStrike">
                <a:solidFill>
                  <a:srgbClr val="0D7C66"/>
                </a:solidFill>
                <a:latin typeface="Georgia"/>
                <a:ea typeface="Georgia"/>
                <a:cs typeface="Georgia"/>
                <a:sym typeface="Georgia"/>
              </a:rPr>
              <a:t>$51.2B</a:t>
            </a:r>
            <a:endParaRPr b="0" i="0" sz="1800" u="none" cap="none" strike="noStrike">
              <a:solidFill>
                <a:schemeClr val="dk1"/>
              </a:solidFill>
              <a:latin typeface="Calibri"/>
              <a:ea typeface="Calibri"/>
              <a:cs typeface="Calibri"/>
              <a:sym typeface="Calibri"/>
            </a:endParaRPr>
          </a:p>
        </p:txBody>
      </p:sp>
      <p:sp>
        <p:nvSpPr>
          <p:cNvPr id="458" name="Google Shape;458;p51"/>
          <p:cNvSpPr/>
          <p:nvPr/>
        </p:nvSpPr>
        <p:spPr>
          <a:xfrm>
            <a:off x="6217920" y="1051560"/>
            <a:ext cx="21030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Data center revenue in Q4 alone</a:t>
            </a:r>
            <a:endParaRPr b="0" i="0" sz="1100" u="none" cap="none" strike="noStrike">
              <a:solidFill>
                <a:schemeClr val="dk1"/>
              </a:solidFill>
              <a:latin typeface="Calibri"/>
              <a:ea typeface="Calibri"/>
              <a:cs typeface="Calibri"/>
              <a:sym typeface="Calibri"/>
            </a:endParaRPr>
          </a:p>
        </p:txBody>
      </p:sp>
      <p:sp>
        <p:nvSpPr>
          <p:cNvPr id="459" name="Google Shape;459;p51"/>
          <p:cNvSpPr/>
          <p:nvPr/>
        </p:nvSpPr>
        <p:spPr>
          <a:xfrm>
            <a:off x="4754880" y="1691640"/>
            <a:ext cx="3657600" cy="594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51"/>
          <p:cNvSpPr/>
          <p:nvPr/>
        </p:nvSpPr>
        <p:spPr>
          <a:xfrm>
            <a:off x="4846320" y="1737360"/>
            <a:ext cx="13716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7C66"/>
              </a:buClr>
              <a:buSzPts val="1800"/>
              <a:buFont typeface="Georgia"/>
              <a:buNone/>
            </a:pPr>
            <a:r>
              <a:rPr b="1" i="0" lang="en" sz="1800" u="none" cap="none" strike="noStrike">
                <a:solidFill>
                  <a:srgbClr val="0D7C66"/>
                </a:solidFill>
                <a:latin typeface="Georgia"/>
                <a:ea typeface="Georgia"/>
                <a:cs typeface="Georgia"/>
                <a:sym typeface="Georgia"/>
              </a:rPr>
              <a:t>80-90%</a:t>
            </a:r>
            <a:endParaRPr b="0" i="0" sz="1800" u="none" cap="none" strike="noStrike">
              <a:solidFill>
                <a:schemeClr val="dk1"/>
              </a:solidFill>
              <a:latin typeface="Calibri"/>
              <a:ea typeface="Calibri"/>
              <a:cs typeface="Calibri"/>
              <a:sym typeface="Calibri"/>
            </a:endParaRPr>
          </a:p>
        </p:txBody>
      </p:sp>
      <p:sp>
        <p:nvSpPr>
          <p:cNvPr id="461" name="Google Shape;461;p51"/>
          <p:cNvSpPr/>
          <p:nvPr/>
        </p:nvSpPr>
        <p:spPr>
          <a:xfrm>
            <a:off x="6217920" y="1737360"/>
            <a:ext cx="21030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AI accelerator market share</a:t>
            </a:r>
            <a:endParaRPr b="0" i="0" sz="1100" u="none" cap="none" strike="noStrike">
              <a:solidFill>
                <a:schemeClr val="dk1"/>
              </a:solidFill>
              <a:latin typeface="Calibri"/>
              <a:ea typeface="Calibri"/>
              <a:cs typeface="Calibri"/>
              <a:sym typeface="Calibri"/>
            </a:endParaRPr>
          </a:p>
        </p:txBody>
      </p:sp>
      <p:sp>
        <p:nvSpPr>
          <p:cNvPr id="462" name="Google Shape;462;p51"/>
          <p:cNvSpPr/>
          <p:nvPr/>
        </p:nvSpPr>
        <p:spPr>
          <a:xfrm>
            <a:off x="4754880" y="2377440"/>
            <a:ext cx="3657600" cy="594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51"/>
          <p:cNvSpPr/>
          <p:nvPr/>
        </p:nvSpPr>
        <p:spPr>
          <a:xfrm>
            <a:off x="4846320" y="2423160"/>
            <a:ext cx="13716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7C66"/>
              </a:buClr>
              <a:buSzPts val="1800"/>
              <a:buFont typeface="Georgia"/>
              <a:buNone/>
            </a:pPr>
            <a:r>
              <a:rPr b="1" i="0" lang="en" sz="1800" u="none" cap="none" strike="noStrike">
                <a:solidFill>
                  <a:srgbClr val="0D7C66"/>
                </a:solidFill>
                <a:latin typeface="Georgia"/>
                <a:ea typeface="Georgia"/>
                <a:cs typeface="Georgia"/>
                <a:sym typeface="Georgia"/>
              </a:rPr>
              <a:t>NIM</a:t>
            </a:r>
            <a:endParaRPr b="0" i="0" sz="1800" u="none" cap="none" strike="noStrike">
              <a:solidFill>
                <a:schemeClr val="dk1"/>
              </a:solidFill>
              <a:latin typeface="Calibri"/>
              <a:ea typeface="Calibri"/>
              <a:cs typeface="Calibri"/>
              <a:sym typeface="Calibri"/>
            </a:endParaRPr>
          </a:p>
        </p:txBody>
      </p:sp>
      <p:sp>
        <p:nvSpPr>
          <p:cNvPr id="464" name="Google Shape;464;p51"/>
          <p:cNvSpPr/>
          <p:nvPr/>
        </p:nvSpPr>
        <p:spPr>
          <a:xfrm>
            <a:off x="6217920" y="2423160"/>
            <a:ext cx="21030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Inference microservices for open models</a:t>
            </a:r>
            <a:endParaRPr b="0" i="0" sz="1100" u="none" cap="none" strike="noStrike">
              <a:solidFill>
                <a:schemeClr val="dk1"/>
              </a:solidFill>
              <a:latin typeface="Calibri"/>
              <a:ea typeface="Calibri"/>
              <a:cs typeface="Calibri"/>
              <a:sym typeface="Calibri"/>
            </a:endParaRPr>
          </a:p>
        </p:txBody>
      </p:sp>
      <p:sp>
        <p:nvSpPr>
          <p:cNvPr id="465" name="Google Shape;465;p51"/>
          <p:cNvSpPr/>
          <p:nvPr/>
        </p:nvSpPr>
        <p:spPr>
          <a:xfrm>
            <a:off x="731520" y="3291840"/>
            <a:ext cx="7680900" cy="1188600"/>
          </a:xfrm>
          <a:prstGeom prst="rect">
            <a:avLst/>
          </a:prstGeom>
          <a:solidFill>
            <a:srgbClr val="E8F5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51"/>
          <p:cNvSpPr/>
          <p:nvPr/>
        </p:nvSpPr>
        <p:spPr>
          <a:xfrm>
            <a:off x="914400" y="3383280"/>
            <a:ext cx="73152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7C66"/>
              </a:buClr>
              <a:buSzPts val="1400"/>
              <a:buFont typeface="Calibri"/>
              <a:buNone/>
            </a:pPr>
            <a:r>
              <a:rPr b="1" i="0" lang="en" sz="1400" u="none" cap="none" strike="noStrike">
                <a:solidFill>
                  <a:srgbClr val="0D7C66"/>
                </a:solidFill>
                <a:latin typeface="Calibri"/>
                <a:ea typeface="Calibri"/>
                <a:cs typeface="Calibri"/>
                <a:sym typeface="Calibri"/>
              </a:rPr>
              <a:t>The Key Insight</a:t>
            </a:r>
            <a:endParaRPr b="0" i="0" sz="1400" u="none" cap="none" strike="noStrike">
              <a:solidFill>
                <a:schemeClr val="dk1"/>
              </a:solidFill>
              <a:latin typeface="Calibri"/>
              <a:ea typeface="Calibri"/>
              <a:cs typeface="Calibri"/>
              <a:sym typeface="Calibri"/>
            </a:endParaRPr>
          </a:p>
        </p:txBody>
      </p:sp>
      <p:sp>
        <p:nvSpPr>
          <p:cNvPr id="467" name="Google Shape;467;p51"/>
          <p:cNvSpPr/>
          <p:nvPr/>
        </p:nvSpPr>
        <p:spPr>
          <a:xfrm>
            <a:off x="914400" y="3703320"/>
            <a:ext cx="7315200" cy="6858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Every Llama fine-tune, every DeepSeek deployment, every Stable Diffusion generation runs on GPUs — overwhelmingly NVIDIA's. Open-source proliferation doesn't threaten NVIDIA; it increases total compute demand. NVIDIA further monetizes through NIM inference microservices and AI Enterprise software licensing.</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2" name="Shape 472"/>
        <p:cNvGrpSpPr/>
        <p:nvPr/>
      </p:nvGrpSpPr>
      <p:grpSpPr>
        <a:xfrm>
          <a:off x="0" y="0"/>
          <a:ext cx="0" cy="0"/>
          <a:chOff x="0" y="0"/>
          <a:chExt cx="0" cy="0"/>
        </a:xfrm>
      </p:grpSpPr>
      <p:sp>
        <p:nvSpPr>
          <p:cNvPr id="473" name="Google Shape;473;p52"/>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52"/>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52"/>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6</a:t>
            </a:r>
            <a:endParaRPr b="0" i="0" sz="1800" u="none" cap="none" strike="noStrike">
              <a:solidFill>
                <a:schemeClr val="dk1"/>
              </a:solidFill>
              <a:latin typeface="Calibri"/>
              <a:ea typeface="Calibri"/>
              <a:cs typeface="Calibri"/>
              <a:sym typeface="Calibri"/>
            </a:endParaRPr>
          </a:p>
        </p:txBody>
      </p:sp>
      <p:sp>
        <p:nvSpPr>
          <p:cNvPr id="476" name="Google Shape;476;p52"/>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Chinese Ecosystem: Government + Cloud + Price Wars</a:t>
            </a:r>
            <a:endParaRPr b="0" i="0" sz="2400" u="none" cap="none" strike="noStrike">
              <a:solidFill>
                <a:schemeClr val="dk1"/>
              </a:solidFill>
              <a:latin typeface="Calibri"/>
              <a:ea typeface="Calibri"/>
              <a:cs typeface="Calibri"/>
              <a:sym typeface="Calibri"/>
            </a:endParaRPr>
          </a:p>
        </p:txBody>
      </p:sp>
      <p:sp>
        <p:nvSpPr>
          <p:cNvPr id="477" name="Google Shape;477;p52"/>
          <p:cNvSpPr/>
          <p:nvPr/>
        </p:nvSpPr>
        <p:spPr>
          <a:xfrm>
            <a:off x="731520" y="914400"/>
            <a:ext cx="3657600" cy="21945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52"/>
          <p:cNvSpPr/>
          <p:nvPr/>
        </p:nvSpPr>
        <p:spPr>
          <a:xfrm>
            <a:off x="731520" y="914400"/>
            <a:ext cx="3657600" cy="45600"/>
          </a:xfrm>
          <a:prstGeom prst="rect">
            <a:avLst/>
          </a:prstGeom>
          <a:solidFill>
            <a:srgbClr val="B91C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52"/>
          <p:cNvSpPr/>
          <p:nvPr/>
        </p:nvSpPr>
        <p:spPr>
          <a:xfrm>
            <a:off x="914400" y="1051560"/>
            <a:ext cx="32919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DeepSeek</a:t>
            </a:r>
            <a:endParaRPr b="0" i="0" sz="1400" u="none" cap="none" strike="noStrike">
              <a:solidFill>
                <a:schemeClr val="dk1"/>
              </a:solidFill>
              <a:latin typeface="Calibri"/>
              <a:ea typeface="Calibri"/>
              <a:cs typeface="Calibri"/>
              <a:sym typeface="Calibri"/>
            </a:endParaRPr>
          </a:p>
        </p:txBody>
      </p:sp>
      <p:sp>
        <p:nvSpPr>
          <p:cNvPr id="480" name="Google Shape;480;p52"/>
          <p:cNvSpPr/>
          <p:nvPr/>
        </p:nvSpPr>
        <p:spPr>
          <a:xfrm>
            <a:off x="914400" y="1417320"/>
            <a:ext cx="3291900" cy="14631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Funded by: </a:t>
            </a:r>
            <a:r>
              <a:rPr b="0" i="0" lang="en" sz="1000" u="none" cap="none" strike="noStrike">
                <a:solidFill>
                  <a:srgbClr val="333333"/>
                </a:solidFill>
                <a:latin typeface="Calibri"/>
                <a:ea typeface="Calibri"/>
                <a:cs typeface="Calibri"/>
                <a:sym typeface="Calibri"/>
              </a:rPr>
              <a:t>High-Flyer hedge fund (~$8B AUM)</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API pricing: </a:t>
            </a:r>
            <a:r>
              <a:rPr b="0" i="0" lang="en" sz="1000" u="none" cap="none" strike="noStrike">
                <a:solidFill>
                  <a:srgbClr val="333333"/>
                </a:solidFill>
                <a:latin typeface="Calibri"/>
                <a:ea typeface="Calibri"/>
                <a:cs typeface="Calibri"/>
                <a:sym typeface="Calibri"/>
              </a:rPr>
              <a:t>$0.28/M input tokens (95% below GPT-5)</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Training cost: </a:t>
            </a:r>
            <a:r>
              <a:rPr b="0" i="0" lang="en" sz="1000" u="none" cap="none" strike="noStrike">
                <a:solidFill>
                  <a:srgbClr val="333333"/>
                </a:solidFill>
                <a:latin typeface="Calibri"/>
                <a:ea typeface="Calibri"/>
                <a:cs typeface="Calibri"/>
                <a:sym typeface="Calibri"/>
              </a:rPr>
              <a:t>~$5.5M for V3 (vs $100M+ Western)</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Users: </a:t>
            </a:r>
            <a:r>
              <a:rPr b="0" i="0" lang="en" sz="1000" u="none" cap="none" strike="noStrike">
                <a:solidFill>
                  <a:srgbClr val="333333"/>
                </a:solidFill>
                <a:latin typeface="Calibri"/>
                <a:ea typeface="Calibri"/>
                <a:cs typeface="Calibri"/>
                <a:sym typeface="Calibri"/>
              </a:rPr>
              <a:t>38M MAU, 26K+ enterprise accounts</a:t>
            </a:r>
            <a:endParaRPr b="0" i="0" sz="1000" u="none" cap="none" strike="noStrike">
              <a:solidFill>
                <a:schemeClr val="dk1"/>
              </a:solidFill>
              <a:latin typeface="Calibri"/>
              <a:ea typeface="Calibri"/>
              <a:cs typeface="Calibri"/>
              <a:sym typeface="Calibri"/>
            </a:endParaRPr>
          </a:p>
        </p:txBody>
      </p:sp>
      <p:sp>
        <p:nvSpPr>
          <p:cNvPr id="481" name="Google Shape;481;p52"/>
          <p:cNvSpPr/>
          <p:nvPr/>
        </p:nvSpPr>
        <p:spPr>
          <a:xfrm>
            <a:off x="4754880" y="914400"/>
            <a:ext cx="3657600" cy="21945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52"/>
          <p:cNvSpPr/>
          <p:nvPr/>
        </p:nvSpPr>
        <p:spPr>
          <a:xfrm>
            <a:off x="4754880" y="914400"/>
            <a:ext cx="3657600" cy="45600"/>
          </a:xfrm>
          <a:prstGeom prst="rect">
            <a:avLst/>
          </a:prstGeom>
          <a:solidFill>
            <a:srgbClr val="D9770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52"/>
          <p:cNvSpPr/>
          <p:nvPr/>
        </p:nvSpPr>
        <p:spPr>
          <a:xfrm>
            <a:off x="4937760" y="1051560"/>
            <a:ext cx="32919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Market Dynamics</a:t>
            </a:r>
            <a:endParaRPr b="0" i="0" sz="1400" u="none" cap="none" strike="noStrike">
              <a:solidFill>
                <a:schemeClr val="dk1"/>
              </a:solidFill>
              <a:latin typeface="Calibri"/>
              <a:ea typeface="Calibri"/>
              <a:cs typeface="Calibri"/>
              <a:sym typeface="Calibri"/>
            </a:endParaRPr>
          </a:p>
        </p:txBody>
      </p:sp>
      <p:sp>
        <p:nvSpPr>
          <p:cNvPr id="484" name="Google Shape;484;p52"/>
          <p:cNvSpPr/>
          <p:nvPr/>
        </p:nvSpPr>
        <p:spPr>
          <a:xfrm>
            <a:off x="4937760" y="1417320"/>
            <a:ext cx="3291900" cy="14631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92% price collapse </a:t>
            </a:r>
            <a:r>
              <a:rPr b="0" i="0" lang="en" sz="1000" u="none" cap="none" strike="noStrike">
                <a:solidFill>
                  <a:srgbClr val="333333"/>
                </a:solidFill>
                <a:latin typeface="Calibri"/>
                <a:ea typeface="Calibri"/>
                <a:cs typeface="Calibri"/>
                <a:sym typeface="Calibri"/>
              </a:rPr>
              <a:t>in China's API market since May 2024</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ByteDance Doubao: </a:t>
            </a:r>
            <a:r>
              <a:rPr b="0" i="0" lang="en" sz="1000" u="none" cap="none" strike="noStrike">
                <a:solidFill>
                  <a:srgbClr val="333333"/>
                </a:solidFill>
                <a:latin typeface="Calibri"/>
                <a:ea typeface="Calibri"/>
                <a:cs typeface="Calibri"/>
                <a:sym typeface="Calibri"/>
              </a:rPr>
              <a:t>78.6M MAU, 99.8% below GPT-4 price</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Baidu reversed course: </a:t>
            </a:r>
            <a:r>
              <a:rPr b="0" i="0" lang="en" sz="1000" u="none" cap="none" strike="noStrike">
                <a:solidFill>
                  <a:srgbClr val="333333"/>
                </a:solidFill>
                <a:latin typeface="Calibri"/>
                <a:ea typeface="Calibri"/>
                <a:cs typeface="Calibri"/>
                <a:sym typeface="Calibri"/>
              </a:rPr>
              <a:t>Open-sourced ERNIE 4.5 (Apache 2.0)</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Qwen derivatives: </a:t>
            </a:r>
            <a:r>
              <a:rPr b="0" i="0" lang="en" sz="1000" u="none" cap="none" strike="noStrike">
                <a:solidFill>
                  <a:srgbClr val="333333"/>
                </a:solidFill>
                <a:latin typeface="Calibri"/>
                <a:ea typeface="Calibri"/>
                <a:cs typeface="Calibri"/>
                <a:sym typeface="Calibri"/>
              </a:rPr>
              <a:t>40%+ of new HuggingFace models</a:t>
            </a:r>
            <a:endParaRPr b="0" i="0" sz="1000" u="none" cap="none" strike="noStrike">
              <a:solidFill>
                <a:schemeClr val="dk1"/>
              </a:solidFill>
              <a:latin typeface="Calibri"/>
              <a:ea typeface="Calibri"/>
              <a:cs typeface="Calibri"/>
              <a:sym typeface="Calibri"/>
            </a:endParaRPr>
          </a:p>
        </p:txBody>
      </p:sp>
      <p:sp>
        <p:nvSpPr>
          <p:cNvPr id="485" name="Google Shape;485;p52"/>
          <p:cNvSpPr/>
          <p:nvPr/>
        </p:nvSpPr>
        <p:spPr>
          <a:xfrm>
            <a:off x="731520" y="3337560"/>
            <a:ext cx="7680900" cy="1463100"/>
          </a:xfrm>
          <a:prstGeom prst="rect">
            <a:avLst/>
          </a:prstGeom>
          <a:solidFill>
            <a:srgbClr val="FFF7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52"/>
          <p:cNvSpPr/>
          <p:nvPr/>
        </p:nvSpPr>
        <p:spPr>
          <a:xfrm>
            <a:off x="914400" y="3429000"/>
            <a:ext cx="73152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7706"/>
              </a:buClr>
              <a:buSzPts val="1400"/>
              <a:buFont typeface="Calibri"/>
              <a:buNone/>
            </a:pPr>
            <a:r>
              <a:rPr b="1" i="0" lang="en" sz="1400" u="none" cap="none" strike="noStrike">
                <a:solidFill>
                  <a:srgbClr val="D97706"/>
                </a:solidFill>
                <a:latin typeface="Calibri"/>
                <a:ea typeface="Calibri"/>
                <a:cs typeface="Calibri"/>
                <a:sym typeface="Calibri"/>
              </a:rPr>
              <a:t>Government as Funding Engine</a:t>
            </a:r>
            <a:endParaRPr b="0" i="0" sz="1400" u="none" cap="none" strike="noStrike">
              <a:solidFill>
                <a:schemeClr val="dk1"/>
              </a:solidFill>
              <a:latin typeface="Calibri"/>
              <a:ea typeface="Calibri"/>
              <a:cs typeface="Calibri"/>
              <a:sym typeface="Calibri"/>
            </a:endParaRPr>
          </a:p>
        </p:txBody>
      </p:sp>
      <p:sp>
        <p:nvSpPr>
          <p:cNvPr id="487" name="Google Shape;487;p52"/>
          <p:cNvSpPr/>
          <p:nvPr/>
        </p:nvSpPr>
        <p:spPr>
          <a:xfrm>
            <a:off x="1097280" y="3794760"/>
            <a:ext cx="20118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7706"/>
              </a:buClr>
              <a:buSzPts val="2200"/>
              <a:buFont typeface="Georgia"/>
              <a:buNone/>
            </a:pPr>
            <a:r>
              <a:rPr b="1" i="0" lang="en" sz="2200" u="none" cap="none" strike="noStrike">
                <a:solidFill>
                  <a:srgbClr val="D97706"/>
                </a:solidFill>
                <a:latin typeface="Georgia"/>
                <a:ea typeface="Georgia"/>
                <a:cs typeface="Georgia"/>
                <a:sym typeface="Georgia"/>
              </a:rPr>
              <a:t>$8.2B</a:t>
            </a:r>
            <a:endParaRPr b="0" i="0" sz="2200" u="none" cap="none" strike="noStrike">
              <a:solidFill>
                <a:schemeClr val="dk1"/>
              </a:solidFill>
              <a:latin typeface="Calibri"/>
              <a:ea typeface="Calibri"/>
              <a:cs typeface="Calibri"/>
              <a:sym typeface="Calibri"/>
            </a:endParaRPr>
          </a:p>
        </p:txBody>
      </p:sp>
      <p:sp>
        <p:nvSpPr>
          <p:cNvPr id="488" name="Google Shape;488;p52"/>
          <p:cNvSpPr/>
          <p:nvPr/>
        </p:nvSpPr>
        <p:spPr>
          <a:xfrm>
            <a:off x="1097280" y="4206240"/>
            <a:ext cx="2011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National AI Fund</a:t>
            </a:r>
            <a:endParaRPr b="0" i="0" sz="9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(Jan 2025)</a:t>
            </a:r>
            <a:endParaRPr b="0" i="0" sz="900" u="none" cap="none" strike="noStrike">
              <a:solidFill>
                <a:schemeClr val="dk1"/>
              </a:solidFill>
              <a:latin typeface="Calibri"/>
              <a:ea typeface="Calibri"/>
              <a:cs typeface="Calibri"/>
              <a:sym typeface="Calibri"/>
            </a:endParaRPr>
          </a:p>
        </p:txBody>
      </p:sp>
      <p:sp>
        <p:nvSpPr>
          <p:cNvPr id="489" name="Google Shape;489;p52"/>
          <p:cNvSpPr/>
          <p:nvPr/>
        </p:nvSpPr>
        <p:spPr>
          <a:xfrm>
            <a:off x="3657600" y="3794760"/>
            <a:ext cx="20118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7706"/>
              </a:buClr>
              <a:buSzPts val="2200"/>
              <a:buFont typeface="Georgia"/>
              <a:buNone/>
            </a:pPr>
            <a:r>
              <a:rPr b="1" i="0" lang="en" sz="2200" u="none" cap="none" strike="noStrike">
                <a:solidFill>
                  <a:srgbClr val="D97706"/>
                </a:solidFill>
                <a:latin typeface="Georgia"/>
                <a:ea typeface="Georgia"/>
                <a:cs typeface="Georgia"/>
                <a:sym typeface="Georgia"/>
              </a:rPr>
              <a:t>¥890B</a:t>
            </a:r>
            <a:endParaRPr b="0" i="0" sz="2200" u="none" cap="none" strike="noStrike">
              <a:solidFill>
                <a:schemeClr val="dk1"/>
              </a:solidFill>
              <a:latin typeface="Calibri"/>
              <a:ea typeface="Calibri"/>
              <a:cs typeface="Calibri"/>
              <a:sym typeface="Calibri"/>
            </a:endParaRPr>
          </a:p>
        </p:txBody>
      </p:sp>
      <p:sp>
        <p:nvSpPr>
          <p:cNvPr id="490" name="Google Shape;490;p52"/>
          <p:cNvSpPr/>
          <p:nvPr/>
        </p:nvSpPr>
        <p:spPr>
          <a:xfrm>
            <a:off x="3657600" y="4206240"/>
            <a:ext cx="2011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Total AI investment</a:t>
            </a:r>
            <a:endParaRPr b="0" i="0" sz="9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($125B, 2025)</a:t>
            </a:r>
            <a:endParaRPr b="0" i="0" sz="900" u="none" cap="none" strike="noStrike">
              <a:solidFill>
                <a:schemeClr val="dk1"/>
              </a:solidFill>
              <a:latin typeface="Calibri"/>
              <a:ea typeface="Calibri"/>
              <a:cs typeface="Calibri"/>
              <a:sym typeface="Calibri"/>
            </a:endParaRPr>
          </a:p>
        </p:txBody>
      </p:sp>
      <p:sp>
        <p:nvSpPr>
          <p:cNvPr id="491" name="Google Shape;491;p52"/>
          <p:cNvSpPr/>
          <p:nvPr/>
        </p:nvSpPr>
        <p:spPr>
          <a:xfrm>
            <a:off x="6217920" y="3794760"/>
            <a:ext cx="20118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7706"/>
              </a:buClr>
              <a:buSzPts val="2200"/>
              <a:buFont typeface="Georgia"/>
              <a:buNone/>
            </a:pPr>
            <a:r>
              <a:rPr b="1" i="0" lang="en" sz="2200" u="none" cap="none" strike="noStrike">
                <a:solidFill>
                  <a:srgbClr val="D97706"/>
                </a:solidFill>
                <a:latin typeface="Georgia"/>
                <a:ea typeface="Georgia"/>
                <a:cs typeface="Georgia"/>
                <a:sym typeface="Georgia"/>
              </a:rPr>
              <a:t>39%</a:t>
            </a:r>
            <a:endParaRPr b="0" i="0" sz="2200" u="none" cap="none" strike="noStrike">
              <a:solidFill>
                <a:schemeClr val="dk1"/>
              </a:solidFill>
              <a:latin typeface="Calibri"/>
              <a:ea typeface="Calibri"/>
              <a:cs typeface="Calibri"/>
              <a:sym typeface="Calibri"/>
            </a:endParaRPr>
          </a:p>
        </p:txBody>
      </p:sp>
      <p:sp>
        <p:nvSpPr>
          <p:cNvPr id="492" name="Google Shape;492;p52"/>
          <p:cNvSpPr/>
          <p:nvPr/>
        </p:nvSpPr>
        <p:spPr>
          <a:xfrm>
            <a:off x="6217920" y="4206240"/>
            <a:ext cx="2011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Govt share of</a:t>
            </a:r>
            <a:endParaRPr b="0" i="0" sz="9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total AI spend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7" name="Shape 497"/>
        <p:cNvGrpSpPr/>
        <p:nvPr/>
      </p:nvGrpSpPr>
      <p:grpSpPr>
        <a:xfrm>
          <a:off x="0" y="0"/>
          <a:ext cx="0" cy="0"/>
          <a:chOff x="0" y="0"/>
          <a:chExt cx="0" cy="0"/>
        </a:xfrm>
      </p:grpSpPr>
      <p:sp>
        <p:nvSpPr>
          <p:cNvPr id="498" name="Google Shape;498;p53"/>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53"/>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53"/>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7</a:t>
            </a:r>
            <a:endParaRPr b="0" i="0" sz="1800" u="none" cap="none" strike="noStrike">
              <a:solidFill>
                <a:schemeClr val="dk1"/>
              </a:solidFill>
              <a:latin typeface="Calibri"/>
              <a:ea typeface="Calibri"/>
              <a:cs typeface="Calibri"/>
              <a:sym typeface="Calibri"/>
            </a:endParaRPr>
          </a:p>
        </p:txBody>
      </p:sp>
      <p:sp>
        <p:nvSpPr>
          <p:cNvPr id="501" name="Google Shape;501;p53"/>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Nonprofit Model + The Licensing Spectrum</a:t>
            </a:r>
            <a:endParaRPr b="0" i="0" sz="2400" u="none" cap="none" strike="noStrike">
              <a:solidFill>
                <a:schemeClr val="dk1"/>
              </a:solidFill>
              <a:latin typeface="Calibri"/>
              <a:ea typeface="Calibri"/>
              <a:cs typeface="Calibri"/>
              <a:sym typeface="Calibri"/>
            </a:endParaRPr>
          </a:p>
        </p:txBody>
      </p:sp>
      <p:sp>
        <p:nvSpPr>
          <p:cNvPr id="502" name="Google Shape;502;p53"/>
          <p:cNvSpPr/>
          <p:nvPr/>
        </p:nvSpPr>
        <p:spPr>
          <a:xfrm>
            <a:off x="731520" y="914400"/>
            <a:ext cx="3200400" cy="16458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53"/>
          <p:cNvSpPr/>
          <p:nvPr/>
        </p:nvSpPr>
        <p:spPr>
          <a:xfrm>
            <a:off x="731520" y="914400"/>
            <a:ext cx="3200400" cy="456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53"/>
          <p:cNvSpPr/>
          <p:nvPr/>
        </p:nvSpPr>
        <p:spPr>
          <a:xfrm>
            <a:off x="914400" y="1051560"/>
            <a:ext cx="2834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EleutherAI — Pure Nonprofit</a:t>
            </a:r>
            <a:endParaRPr b="0" i="0" sz="1300" u="none" cap="none" strike="noStrike">
              <a:solidFill>
                <a:schemeClr val="dk1"/>
              </a:solidFill>
              <a:latin typeface="Calibri"/>
              <a:ea typeface="Calibri"/>
              <a:cs typeface="Calibri"/>
              <a:sym typeface="Calibri"/>
            </a:endParaRPr>
          </a:p>
        </p:txBody>
      </p:sp>
      <p:sp>
        <p:nvSpPr>
          <p:cNvPr id="505" name="Google Shape;505;p53"/>
          <p:cNvSpPr/>
          <p:nvPr/>
        </p:nvSpPr>
        <p:spPr>
          <a:xfrm>
            <a:off x="914400" y="1371600"/>
            <a:ext cx="28347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Budget: &lt;$3M/year from grants (Hugging Face, Stability AI, Canva). Declined $100M VC offer. ~24 staff focused on interpretability research and open datasets. Sustainable only through institutional backing.</a:t>
            </a:r>
            <a:endParaRPr b="0" i="0" sz="1000" u="none" cap="none" strike="noStrike">
              <a:solidFill>
                <a:schemeClr val="dk1"/>
              </a:solidFill>
              <a:latin typeface="Calibri"/>
              <a:ea typeface="Calibri"/>
              <a:cs typeface="Calibri"/>
              <a:sym typeface="Calibri"/>
            </a:endParaRPr>
          </a:p>
        </p:txBody>
      </p:sp>
      <p:sp>
        <p:nvSpPr>
          <p:cNvPr id="506" name="Google Shape;506;p53"/>
          <p:cNvSpPr/>
          <p:nvPr/>
        </p:nvSpPr>
        <p:spPr>
          <a:xfrm>
            <a:off x="4206240" y="914400"/>
            <a:ext cx="43890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The Licensing Spectrum</a:t>
            </a:r>
            <a:endParaRPr b="0" i="0" sz="1400" u="none" cap="none" strike="noStrike">
              <a:solidFill>
                <a:schemeClr val="dk1"/>
              </a:solidFill>
              <a:latin typeface="Calibri"/>
              <a:ea typeface="Calibri"/>
              <a:cs typeface="Calibri"/>
              <a:sym typeface="Calibri"/>
            </a:endParaRPr>
          </a:p>
        </p:txBody>
      </p:sp>
      <p:graphicFrame>
        <p:nvGraphicFramePr>
          <p:cNvPr id="507" name="Google Shape;507;p53"/>
          <p:cNvGraphicFramePr/>
          <p:nvPr/>
        </p:nvGraphicFramePr>
        <p:xfrm>
          <a:off x="4206240" y="1280160"/>
          <a:ext cx="3000000" cy="3000000"/>
        </p:xfrm>
        <a:graphic>
          <a:graphicData uri="http://schemas.openxmlformats.org/drawingml/2006/table">
            <a:tbl>
              <a:tblPr>
                <a:noFill/>
                <a:tableStyleId>{9F5F7565-FBF9-4DA3-B52B-1F9675019F4E}</a:tableStyleId>
              </a:tblPr>
              <a:tblGrid>
                <a:gridCol w="1188725"/>
                <a:gridCol w="1463050"/>
                <a:gridCol w="1737350"/>
              </a:tblGrid>
              <a:tr h="274325">
                <a:tc>
                  <a:txBody>
                    <a:bodyPr/>
                    <a:lstStyle/>
                    <a:p>
                      <a:pPr indent="0" lvl="0" marL="0" marR="0" rtl="0" algn="l">
                        <a:spcBef>
                          <a:spcPts val="0"/>
                        </a:spcBef>
                        <a:spcAft>
                          <a:spcPts val="0"/>
                        </a:spcAft>
                        <a:buClr>
                          <a:srgbClr val="FFFFFF"/>
                        </a:buClr>
                        <a:buSzPts val="1000"/>
                        <a:buFont typeface="Calibri"/>
                        <a:buNone/>
                      </a:pPr>
                      <a:r>
                        <a:rPr b="1" lang="en" sz="1000" u="none" cap="none" strike="noStrike">
                          <a:solidFill>
                            <a:srgbClr val="FFFFFF"/>
                          </a:solidFill>
                          <a:latin typeface="Calibri"/>
                          <a:ea typeface="Calibri"/>
                          <a:cs typeface="Calibri"/>
                          <a:sym typeface="Calibri"/>
                        </a:rPr>
                        <a:t>License Type</a:t>
                      </a:r>
                      <a:endParaRPr sz="10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D7C66"/>
                    </a:solidFill>
                  </a:tcPr>
                </a:tc>
                <a:tc>
                  <a:txBody>
                    <a:bodyPr/>
                    <a:lstStyle/>
                    <a:p>
                      <a:pPr indent="0" lvl="0" marL="0" marR="0" rtl="0" algn="l">
                        <a:spcBef>
                          <a:spcPts val="0"/>
                        </a:spcBef>
                        <a:spcAft>
                          <a:spcPts val="0"/>
                        </a:spcAft>
                        <a:buClr>
                          <a:srgbClr val="FFFFFF"/>
                        </a:buClr>
                        <a:buSzPts val="1000"/>
                        <a:buFont typeface="Calibri"/>
                        <a:buNone/>
                      </a:pPr>
                      <a:r>
                        <a:rPr b="1" lang="en" sz="1000" u="none" cap="none" strike="noStrike">
                          <a:solidFill>
                            <a:srgbClr val="FFFFFF"/>
                          </a:solidFill>
                          <a:latin typeface="Calibri"/>
                          <a:ea typeface="Calibri"/>
                          <a:cs typeface="Calibri"/>
                          <a:sym typeface="Calibri"/>
                        </a:rPr>
                        <a:t>Examples</a:t>
                      </a:r>
                      <a:endParaRPr sz="10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D7C66"/>
                    </a:solidFill>
                  </a:tcPr>
                </a:tc>
                <a:tc>
                  <a:txBody>
                    <a:bodyPr/>
                    <a:lstStyle/>
                    <a:p>
                      <a:pPr indent="0" lvl="0" marL="0" marR="0" rtl="0" algn="l">
                        <a:spcBef>
                          <a:spcPts val="0"/>
                        </a:spcBef>
                        <a:spcAft>
                          <a:spcPts val="0"/>
                        </a:spcAft>
                        <a:buClr>
                          <a:srgbClr val="FFFFFF"/>
                        </a:buClr>
                        <a:buSzPts val="1000"/>
                        <a:buFont typeface="Calibri"/>
                        <a:buNone/>
                      </a:pPr>
                      <a:r>
                        <a:rPr b="1" lang="en" sz="1000" u="none" cap="none" strike="noStrike">
                          <a:solidFill>
                            <a:srgbClr val="FFFFFF"/>
                          </a:solidFill>
                          <a:latin typeface="Calibri"/>
                          <a:ea typeface="Calibri"/>
                          <a:cs typeface="Calibri"/>
                          <a:sym typeface="Calibri"/>
                        </a:rPr>
                        <a:t>Restrictions</a:t>
                      </a:r>
                      <a:endParaRPr sz="10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D7C66"/>
                    </a:solidFill>
                  </a:tcPr>
                </a:tc>
              </a:tr>
              <a:tr h="320050">
                <a:tc>
                  <a:txBody>
                    <a:bodyPr/>
                    <a:lstStyle/>
                    <a:p>
                      <a:pPr indent="0" lvl="0" marL="0" marR="0" rtl="0" algn="l">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MIT / Apache 2.0</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DeepSeek R1, Mistral 7B, ERNIE 4.5</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spcBef>
                          <a:spcPts val="0"/>
                        </a:spcBef>
                        <a:spcAft>
                          <a:spcPts val="0"/>
                        </a:spcAft>
                        <a:buClr>
                          <a:srgbClr val="0D7C66"/>
                        </a:buClr>
                        <a:buSzPts val="900"/>
                        <a:buFont typeface="Calibri"/>
                        <a:buNone/>
                      </a:pPr>
                      <a:r>
                        <a:rPr lang="en" sz="900" u="none" cap="none" strike="noStrike">
                          <a:solidFill>
                            <a:srgbClr val="0D7C66"/>
                          </a:solidFill>
                          <a:latin typeface="Calibri"/>
                          <a:ea typeface="Calibri"/>
                          <a:cs typeface="Calibri"/>
                          <a:sym typeface="Calibri"/>
                        </a:rPr>
                        <a:t>None (fully permissive)</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20050">
                <a:tc>
                  <a:txBody>
                    <a:bodyPr/>
                    <a:lstStyle/>
                    <a:p>
                      <a:pPr indent="0" lvl="0" marL="0" marR="0" rtl="0" algn="l">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Llama Community</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Llama 3/4 series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spcBef>
                          <a:spcPts val="0"/>
                        </a:spcBef>
                        <a:spcAft>
                          <a:spcPts val="0"/>
                        </a:spcAft>
                        <a:buClr>
                          <a:srgbClr val="D97706"/>
                        </a:buClr>
                        <a:buSzPts val="900"/>
                        <a:buFont typeface="Calibri"/>
                        <a:buNone/>
                      </a:pPr>
                      <a:r>
                        <a:rPr lang="en" sz="900" u="none" cap="none" strike="noStrike">
                          <a:solidFill>
                            <a:srgbClr val="D97706"/>
                          </a:solidFill>
                          <a:latin typeface="Calibri"/>
                          <a:ea typeface="Calibri"/>
                          <a:cs typeface="Calibri"/>
                          <a:sym typeface="Calibri"/>
                        </a:rPr>
                        <a:t>700M MAU threshold blocks Google/Apple</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20050">
                <a:tc>
                  <a:txBody>
                    <a:bodyPr/>
                    <a:lstStyle/>
                    <a:p>
                      <a:pPr indent="0" lvl="0" marL="0" marR="0" rtl="0" algn="l">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OpenRAIL</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Stable Diffusion v1-2</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spcBef>
                          <a:spcPts val="0"/>
                        </a:spcBef>
                        <a:spcAft>
                          <a:spcPts val="0"/>
                        </a:spcAft>
                        <a:buClr>
                          <a:srgbClr val="D97706"/>
                        </a:buClr>
                        <a:buSzPts val="900"/>
                        <a:buFont typeface="Calibri"/>
                        <a:buNone/>
                      </a:pPr>
                      <a:r>
                        <a:rPr lang="en" sz="900" u="none" cap="none" strike="noStrike">
                          <a:solidFill>
                            <a:srgbClr val="D97706"/>
                          </a:solidFill>
                          <a:latin typeface="Calibri"/>
                          <a:ea typeface="Calibri"/>
                          <a:cs typeface="Calibri"/>
                          <a:sym typeface="Calibri"/>
                        </a:rPr>
                        <a:t>Prohibits specific harmful uses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20050">
                <a:tc>
                  <a:txBody>
                    <a:bodyPr/>
                    <a:lstStyle/>
                    <a:p>
                      <a:pPr indent="0" lvl="0" marL="0" marR="0" rtl="0" algn="l">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Proprietary "open"</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Many "open-weight" models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spcBef>
                          <a:spcPts val="0"/>
                        </a:spcBef>
                        <a:spcAft>
                          <a:spcPts val="0"/>
                        </a:spcAft>
                        <a:buClr>
                          <a:srgbClr val="B91C1C"/>
                        </a:buClr>
                        <a:buSzPts val="900"/>
                        <a:buFont typeface="Calibri"/>
                        <a:buNone/>
                      </a:pPr>
                      <a:r>
                        <a:rPr lang="en" sz="900" u="none" cap="none" strike="noStrike">
                          <a:solidFill>
                            <a:srgbClr val="B91C1C"/>
                          </a:solidFill>
                          <a:latin typeface="Calibri"/>
                          <a:ea typeface="Calibri"/>
                          <a:cs typeface="Calibri"/>
                          <a:sym typeface="Calibri"/>
                        </a:rPr>
                        <a:t>Weights only; no data/code/process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bl>
          </a:graphicData>
        </a:graphic>
      </p:graphicFrame>
      <p:sp>
        <p:nvSpPr>
          <p:cNvPr id="508" name="Google Shape;508;p53"/>
          <p:cNvSpPr/>
          <p:nvPr/>
        </p:nvSpPr>
        <p:spPr>
          <a:xfrm>
            <a:off x="731520" y="2926080"/>
            <a:ext cx="7680900" cy="731400"/>
          </a:xfrm>
          <a:prstGeom prst="rect">
            <a:avLst/>
          </a:prstGeom>
          <a:solidFill>
            <a:srgbClr val="E8F5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53"/>
          <p:cNvSpPr/>
          <p:nvPr/>
        </p:nvSpPr>
        <p:spPr>
          <a:xfrm>
            <a:off x="914400" y="2971800"/>
            <a:ext cx="7315200" cy="6402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Key insight: Most models marketed as "open-source" — including Llama, Gemma, and Mixtral — are technically "open-weight" at best. Only a handful (Pythia, OLMo, T5) meet the OSI's Open Source AI Definition. The licensing choice directly shapes monetization strategy.</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54"/>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16" name="Google Shape;516;p54"/>
          <p:cNvPicPr preferRelativeResize="0"/>
          <p:nvPr/>
        </p:nvPicPr>
        <p:blipFill rotWithShape="1">
          <a:blip r:embed="rId3">
            <a:alphaModFix/>
          </a:blip>
          <a:srcRect b="0" l="0" r="0" t="0"/>
          <a:stretch/>
        </p:blipFill>
        <p:spPr>
          <a:xfrm>
            <a:off x="731520" y="274320"/>
            <a:ext cx="411480" cy="411480"/>
          </a:xfrm>
          <a:prstGeom prst="rect">
            <a:avLst/>
          </a:prstGeom>
          <a:noFill/>
          <a:ln>
            <a:noFill/>
          </a:ln>
        </p:spPr>
      </p:pic>
      <p:sp>
        <p:nvSpPr>
          <p:cNvPr id="517" name="Google Shape;517;p54"/>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Six Strategic Motivations Beyond Revenue</a:t>
            </a:r>
            <a:endParaRPr b="0" i="0" sz="2400" u="none" cap="none" strike="noStrike">
              <a:solidFill>
                <a:schemeClr val="dk1"/>
              </a:solidFill>
              <a:latin typeface="Calibri"/>
              <a:ea typeface="Calibri"/>
              <a:cs typeface="Calibri"/>
              <a:sym typeface="Calibri"/>
            </a:endParaRPr>
          </a:p>
        </p:txBody>
      </p:sp>
      <p:sp>
        <p:nvSpPr>
          <p:cNvPr id="518" name="Google Shape;518;p54"/>
          <p:cNvSpPr/>
          <p:nvPr/>
        </p:nvSpPr>
        <p:spPr>
          <a:xfrm>
            <a:off x="731520" y="91440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54"/>
          <p:cNvSpPr/>
          <p:nvPr/>
        </p:nvSpPr>
        <p:spPr>
          <a:xfrm>
            <a:off x="731520" y="914400"/>
            <a:ext cx="54900" cy="17373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54"/>
          <p:cNvSpPr/>
          <p:nvPr/>
        </p:nvSpPr>
        <p:spPr>
          <a:xfrm>
            <a:off x="914400" y="1051560"/>
            <a:ext cx="21489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Reducing Competitor Moats</a:t>
            </a:r>
            <a:endParaRPr b="0" i="0" sz="1200" u="none" cap="none" strike="noStrike">
              <a:solidFill>
                <a:schemeClr val="dk1"/>
              </a:solidFill>
              <a:latin typeface="Calibri"/>
              <a:ea typeface="Calibri"/>
              <a:cs typeface="Calibri"/>
              <a:sym typeface="Calibri"/>
            </a:endParaRPr>
          </a:p>
        </p:txBody>
      </p:sp>
      <p:sp>
        <p:nvSpPr>
          <p:cNvPr id="521" name="Google Shape;521;p54"/>
          <p:cNvSpPr/>
          <p:nvPr/>
        </p:nvSpPr>
        <p:spPr>
          <a:xfrm>
            <a:off x="914400" y="141732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Llama commoditizes the model layer, undermining OpenAI's API business. Inference at ~10% of GPT-4o cost.</a:t>
            </a:r>
            <a:endParaRPr b="0" i="0" sz="1000" u="none" cap="none" strike="noStrike">
              <a:solidFill>
                <a:schemeClr val="dk1"/>
              </a:solidFill>
              <a:latin typeface="Calibri"/>
              <a:ea typeface="Calibri"/>
              <a:cs typeface="Calibri"/>
              <a:sym typeface="Calibri"/>
            </a:endParaRPr>
          </a:p>
        </p:txBody>
      </p:sp>
      <p:sp>
        <p:nvSpPr>
          <p:cNvPr id="522" name="Google Shape;522;p54"/>
          <p:cNvSpPr/>
          <p:nvPr/>
        </p:nvSpPr>
        <p:spPr>
          <a:xfrm>
            <a:off x="3474720" y="91440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54"/>
          <p:cNvSpPr/>
          <p:nvPr/>
        </p:nvSpPr>
        <p:spPr>
          <a:xfrm>
            <a:off x="3474720" y="914400"/>
            <a:ext cx="54900" cy="17373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54"/>
          <p:cNvSpPr/>
          <p:nvPr/>
        </p:nvSpPr>
        <p:spPr>
          <a:xfrm>
            <a:off x="3657600" y="1051560"/>
            <a:ext cx="21489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Talent Attraction</a:t>
            </a:r>
            <a:endParaRPr b="0" i="0" sz="1200" u="none" cap="none" strike="noStrike">
              <a:solidFill>
                <a:schemeClr val="dk1"/>
              </a:solidFill>
              <a:latin typeface="Calibri"/>
              <a:ea typeface="Calibri"/>
              <a:cs typeface="Calibri"/>
              <a:sym typeface="Calibri"/>
            </a:endParaRPr>
          </a:p>
        </p:txBody>
      </p:sp>
      <p:sp>
        <p:nvSpPr>
          <p:cNvPr id="525" name="Google Shape;525;p54"/>
          <p:cNvSpPr/>
          <p:nvPr/>
        </p:nvSpPr>
        <p:spPr>
          <a:xfrm>
            <a:off x="3657600" y="141732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Open-source work serves as a public portfolio. Meta FAIR attracts top researchers through open culture.</a:t>
            </a:r>
            <a:endParaRPr b="0" i="0" sz="1000" u="none" cap="none" strike="noStrike">
              <a:solidFill>
                <a:schemeClr val="dk1"/>
              </a:solidFill>
              <a:latin typeface="Calibri"/>
              <a:ea typeface="Calibri"/>
              <a:cs typeface="Calibri"/>
              <a:sym typeface="Calibri"/>
            </a:endParaRPr>
          </a:p>
        </p:txBody>
      </p:sp>
      <p:sp>
        <p:nvSpPr>
          <p:cNvPr id="526" name="Google Shape;526;p54"/>
          <p:cNvSpPr/>
          <p:nvPr/>
        </p:nvSpPr>
        <p:spPr>
          <a:xfrm>
            <a:off x="6217920" y="91440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54"/>
          <p:cNvSpPr/>
          <p:nvPr/>
        </p:nvSpPr>
        <p:spPr>
          <a:xfrm>
            <a:off x="6217920" y="914400"/>
            <a:ext cx="54900" cy="17373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54"/>
          <p:cNvSpPr/>
          <p:nvPr/>
        </p:nvSpPr>
        <p:spPr>
          <a:xfrm>
            <a:off x="6400800" y="1051560"/>
            <a:ext cx="21489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Data &amp; Feedback Loops</a:t>
            </a:r>
            <a:endParaRPr b="0" i="0" sz="1200" u="none" cap="none" strike="noStrike">
              <a:solidFill>
                <a:schemeClr val="dk1"/>
              </a:solidFill>
              <a:latin typeface="Calibri"/>
              <a:ea typeface="Calibri"/>
              <a:cs typeface="Calibri"/>
              <a:sym typeface="Calibri"/>
            </a:endParaRPr>
          </a:p>
        </p:txBody>
      </p:sp>
      <p:sp>
        <p:nvSpPr>
          <p:cNvPr id="529" name="Google Shape;529;p54"/>
          <p:cNvSpPr/>
          <p:nvPr/>
        </p:nvSpPr>
        <p:spPr>
          <a:xfrm>
            <a:off x="6400800" y="141732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Millions of users surface bugs, develop optimizations, and discover novel applications — free R&amp;D.</a:t>
            </a:r>
            <a:endParaRPr b="0" i="0" sz="1000" u="none" cap="none" strike="noStrike">
              <a:solidFill>
                <a:schemeClr val="dk1"/>
              </a:solidFill>
              <a:latin typeface="Calibri"/>
              <a:ea typeface="Calibri"/>
              <a:cs typeface="Calibri"/>
              <a:sym typeface="Calibri"/>
            </a:endParaRPr>
          </a:p>
        </p:txBody>
      </p:sp>
      <p:sp>
        <p:nvSpPr>
          <p:cNvPr id="530" name="Google Shape;530;p54"/>
          <p:cNvSpPr/>
          <p:nvPr/>
        </p:nvSpPr>
        <p:spPr>
          <a:xfrm>
            <a:off x="731520" y="283464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54"/>
          <p:cNvSpPr/>
          <p:nvPr/>
        </p:nvSpPr>
        <p:spPr>
          <a:xfrm>
            <a:off x="731520" y="2834640"/>
            <a:ext cx="54900" cy="1737300"/>
          </a:xfrm>
          <a:prstGeom prst="rect">
            <a:avLst/>
          </a:prstGeom>
          <a:solidFill>
            <a:srgbClr val="D9770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54"/>
          <p:cNvSpPr/>
          <p:nvPr/>
        </p:nvSpPr>
        <p:spPr>
          <a:xfrm>
            <a:off x="914400" y="2971800"/>
            <a:ext cx="21489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Ecosystem Lock-in</a:t>
            </a:r>
            <a:endParaRPr b="0" i="0" sz="1200" u="none" cap="none" strike="noStrike">
              <a:solidFill>
                <a:schemeClr val="dk1"/>
              </a:solidFill>
              <a:latin typeface="Calibri"/>
              <a:ea typeface="Calibri"/>
              <a:cs typeface="Calibri"/>
              <a:sym typeface="Calibri"/>
            </a:endParaRPr>
          </a:p>
        </p:txBody>
      </p:sp>
      <p:sp>
        <p:nvSpPr>
          <p:cNvPr id="533" name="Google Shape;533;p54"/>
          <p:cNvSpPr/>
          <p:nvPr/>
        </p:nvSpPr>
        <p:spPr>
          <a:xfrm>
            <a:off x="914400" y="333756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Apps built on Llama use Meta's tools. Like Android for phones — control the foundation layer.</a:t>
            </a:r>
            <a:endParaRPr b="0" i="0" sz="1000" u="none" cap="none" strike="noStrike">
              <a:solidFill>
                <a:schemeClr val="dk1"/>
              </a:solidFill>
              <a:latin typeface="Calibri"/>
              <a:ea typeface="Calibri"/>
              <a:cs typeface="Calibri"/>
              <a:sym typeface="Calibri"/>
            </a:endParaRPr>
          </a:p>
        </p:txBody>
      </p:sp>
      <p:sp>
        <p:nvSpPr>
          <p:cNvPr id="534" name="Google Shape;534;p54"/>
          <p:cNvSpPr/>
          <p:nvPr/>
        </p:nvSpPr>
        <p:spPr>
          <a:xfrm>
            <a:off x="3474720" y="283464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54"/>
          <p:cNvSpPr/>
          <p:nvPr/>
        </p:nvSpPr>
        <p:spPr>
          <a:xfrm>
            <a:off x="3474720" y="2834640"/>
            <a:ext cx="54900" cy="1737300"/>
          </a:xfrm>
          <a:prstGeom prst="rect">
            <a:avLst/>
          </a:prstGeom>
          <a:solidFill>
            <a:srgbClr val="B91C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54"/>
          <p:cNvSpPr/>
          <p:nvPr/>
        </p:nvSpPr>
        <p:spPr>
          <a:xfrm>
            <a:off x="3657600" y="2971800"/>
            <a:ext cx="21489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Government Sovereignty</a:t>
            </a:r>
            <a:endParaRPr b="0" i="0" sz="1200" u="none" cap="none" strike="noStrike">
              <a:solidFill>
                <a:schemeClr val="dk1"/>
              </a:solidFill>
              <a:latin typeface="Calibri"/>
              <a:ea typeface="Calibri"/>
              <a:cs typeface="Calibri"/>
              <a:sym typeface="Calibri"/>
            </a:endParaRPr>
          </a:p>
        </p:txBody>
      </p:sp>
      <p:sp>
        <p:nvSpPr>
          <p:cNvPr id="537" name="Google Shape;537;p54"/>
          <p:cNvSpPr/>
          <p:nvPr/>
        </p:nvSpPr>
        <p:spPr>
          <a:xfrm>
            <a:off x="3657600" y="333756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France: €109B AI infra. China: 39% of AI investment. Models as tools of national influence.</a:t>
            </a:r>
            <a:endParaRPr b="0" i="0" sz="1000" u="none" cap="none" strike="noStrike">
              <a:solidFill>
                <a:schemeClr val="dk1"/>
              </a:solidFill>
              <a:latin typeface="Calibri"/>
              <a:ea typeface="Calibri"/>
              <a:cs typeface="Calibri"/>
              <a:sym typeface="Calibri"/>
            </a:endParaRPr>
          </a:p>
        </p:txBody>
      </p:sp>
      <p:sp>
        <p:nvSpPr>
          <p:cNvPr id="538" name="Google Shape;538;p54"/>
          <p:cNvSpPr/>
          <p:nvPr/>
        </p:nvSpPr>
        <p:spPr>
          <a:xfrm>
            <a:off x="6217920" y="283464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54"/>
          <p:cNvSpPr/>
          <p:nvPr/>
        </p:nvSpPr>
        <p:spPr>
          <a:xfrm>
            <a:off x="6217920" y="2834640"/>
            <a:ext cx="54900" cy="17373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54"/>
          <p:cNvSpPr/>
          <p:nvPr/>
        </p:nvSpPr>
        <p:spPr>
          <a:xfrm>
            <a:off x="6400800" y="2971800"/>
            <a:ext cx="21489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Community Network Effects</a:t>
            </a:r>
            <a:endParaRPr b="0" i="0" sz="1200" u="none" cap="none" strike="noStrike">
              <a:solidFill>
                <a:schemeClr val="dk1"/>
              </a:solidFill>
              <a:latin typeface="Calibri"/>
              <a:ea typeface="Calibri"/>
              <a:cs typeface="Calibri"/>
              <a:sym typeface="Calibri"/>
            </a:endParaRPr>
          </a:p>
        </p:txBody>
      </p:sp>
      <p:sp>
        <p:nvSpPr>
          <p:cNvPr id="541" name="Google Shape;541;p54"/>
          <p:cNvSpPr/>
          <p:nvPr/>
        </p:nvSpPr>
        <p:spPr>
          <a:xfrm>
            <a:off x="6400800" y="333756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Vicuna achieved ~90% of ChatGPT quality within 4 months — impossible velocity with closed models.</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6" name="Shape 546"/>
        <p:cNvGrpSpPr/>
        <p:nvPr/>
      </p:nvGrpSpPr>
      <p:grpSpPr>
        <a:xfrm>
          <a:off x="0" y="0"/>
          <a:ext cx="0" cy="0"/>
          <a:chOff x="0" y="0"/>
          <a:chExt cx="0" cy="0"/>
        </a:xfrm>
      </p:grpSpPr>
      <p:sp>
        <p:nvSpPr>
          <p:cNvPr id="547" name="Google Shape;547;p55"/>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48" name="Google Shape;548;p55"/>
          <p:cNvPicPr preferRelativeResize="0"/>
          <p:nvPr/>
        </p:nvPicPr>
        <p:blipFill rotWithShape="1">
          <a:blip r:embed="rId3">
            <a:alphaModFix/>
          </a:blip>
          <a:srcRect b="0" l="0" r="0" t="0"/>
          <a:stretch/>
        </p:blipFill>
        <p:spPr>
          <a:xfrm>
            <a:off x="731520" y="274320"/>
            <a:ext cx="411480" cy="411480"/>
          </a:xfrm>
          <a:prstGeom prst="rect">
            <a:avLst/>
          </a:prstGeom>
          <a:noFill/>
          <a:ln>
            <a:noFill/>
          </a:ln>
        </p:spPr>
      </p:pic>
      <p:sp>
        <p:nvSpPr>
          <p:cNvPr id="549" name="Google Shape;549;p55"/>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Is Open-Source AI Sustainable?</a:t>
            </a:r>
            <a:endParaRPr b="0" i="0" sz="2400" u="none" cap="none" strike="noStrike">
              <a:solidFill>
                <a:schemeClr val="dk1"/>
              </a:solidFill>
              <a:latin typeface="Calibri"/>
              <a:ea typeface="Calibri"/>
              <a:cs typeface="Calibri"/>
              <a:sym typeface="Calibri"/>
            </a:endParaRPr>
          </a:p>
        </p:txBody>
      </p:sp>
      <p:sp>
        <p:nvSpPr>
          <p:cNvPr id="550" name="Google Shape;550;p55"/>
          <p:cNvSpPr/>
          <p:nvPr/>
        </p:nvSpPr>
        <p:spPr>
          <a:xfrm>
            <a:off x="731520" y="914400"/>
            <a:ext cx="7680900" cy="868800"/>
          </a:xfrm>
          <a:prstGeom prst="rect">
            <a:avLst/>
          </a:prstGeom>
          <a:solidFill>
            <a:srgbClr val="F0FD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55"/>
          <p:cNvSpPr/>
          <p:nvPr/>
        </p:nvSpPr>
        <p:spPr>
          <a:xfrm>
            <a:off x="731520" y="914400"/>
            <a:ext cx="54900" cy="868800"/>
          </a:xfrm>
          <a:prstGeom prst="rect">
            <a:avLst/>
          </a:prstGeom>
          <a:solidFill>
            <a:srgbClr val="16A3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55"/>
          <p:cNvSpPr/>
          <p:nvPr/>
        </p:nvSpPr>
        <p:spPr>
          <a:xfrm>
            <a:off x="960120" y="960120"/>
            <a:ext cx="2286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Big Tech</a:t>
            </a:r>
            <a:endParaRPr b="0" i="0" sz="1300" u="none" cap="none" strike="noStrike">
              <a:solidFill>
                <a:schemeClr val="dk1"/>
              </a:solidFill>
              <a:latin typeface="Calibri"/>
              <a:ea typeface="Calibri"/>
              <a:cs typeface="Calibri"/>
              <a:sym typeface="Calibri"/>
            </a:endParaRPr>
          </a:p>
        </p:txBody>
      </p:sp>
      <p:sp>
        <p:nvSpPr>
          <p:cNvPr id="553" name="Google Shape;553;p55"/>
          <p:cNvSpPr/>
          <p:nvPr/>
        </p:nvSpPr>
        <p:spPr>
          <a:xfrm>
            <a:off x="960120" y="1234440"/>
            <a:ext cx="2286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A34A"/>
              </a:buClr>
              <a:buSzPts val="1000"/>
              <a:buFont typeface="Calibri"/>
              <a:buNone/>
            </a:pPr>
            <a:r>
              <a:rPr b="1" i="1" lang="en" sz="1000" u="none" cap="none" strike="noStrike">
                <a:solidFill>
                  <a:srgbClr val="16A34A"/>
                </a:solidFill>
                <a:latin typeface="Calibri"/>
                <a:ea typeface="Calibri"/>
                <a:cs typeface="Calibri"/>
                <a:sym typeface="Calibri"/>
              </a:rPr>
              <a:t>Highly Sustainable</a:t>
            </a:r>
            <a:endParaRPr b="0" i="0" sz="1000" u="none" cap="none" strike="noStrike">
              <a:solidFill>
                <a:schemeClr val="dk1"/>
              </a:solidFill>
              <a:latin typeface="Calibri"/>
              <a:ea typeface="Calibri"/>
              <a:cs typeface="Calibri"/>
              <a:sym typeface="Calibri"/>
            </a:endParaRPr>
          </a:p>
        </p:txBody>
      </p:sp>
      <p:sp>
        <p:nvSpPr>
          <p:cNvPr id="554" name="Google Shape;554;p55"/>
          <p:cNvSpPr/>
          <p:nvPr/>
        </p:nvSpPr>
        <p:spPr>
          <a:xfrm>
            <a:off x="3474720" y="960120"/>
            <a:ext cx="4755000" cy="7773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Meta's $54B free cash flow easily absorbs Llama costs. Alibaba's cloud triple-digit growth justifies Qwen.</a:t>
            </a:r>
            <a:endParaRPr b="0" i="0" sz="1000" u="none" cap="none" strike="noStrike">
              <a:solidFill>
                <a:schemeClr val="dk1"/>
              </a:solidFill>
              <a:latin typeface="Calibri"/>
              <a:ea typeface="Calibri"/>
              <a:cs typeface="Calibri"/>
              <a:sym typeface="Calibri"/>
            </a:endParaRPr>
          </a:p>
        </p:txBody>
      </p:sp>
      <p:sp>
        <p:nvSpPr>
          <p:cNvPr id="555" name="Google Shape;555;p55"/>
          <p:cNvSpPr/>
          <p:nvPr/>
        </p:nvSpPr>
        <p:spPr>
          <a:xfrm>
            <a:off x="731520" y="1920240"/>
            <a:ext cx="7680900" cy="868800"/>
          </a:xfrm>
          <a:prstGeom prst="rect">
            <a:avLst/>
          </a:prstGeom>
          <a:solidFill>
            <a:srgbClr val="FFF7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55"/>
          <p:cNvSpPr/>
          <p:nvPr/>
        </p:nvSpPr>
        <p:spPr>
          <a:xfrm>
            <a:off x="731520" y="1920240"/>
            <a:ext cx="54900" cy="868800"/>
          </a:xfrm>
          <a:prstGeom prst="rect">
            <a:avLst/>
          </a:prstGeom>
          <a:solidFill>
            <a:srgbClr val="D9770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55"/>
          <p:cNvSpPr/>
          <p:nvPr/>
        </p:nvSpPr>
        <p:spPr>
          <a:xfrm>
            <a:off x="960120" y="1965960"/>
            <a:ext cx="2286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Well-Funded Startups</a:t>
            </a:r>
            <a:endParaRPr b="0" i="0" sz="1300" u="none" cap="none" strike="noStrike">
              <a:solidFill>
                <a:schemeClr val="dk1"/>
              </a:solidFill>
              <a:latin typeface="Calibri"/>
              <a:ea typeface="Calibri"/>
              <a:cs typeface="Calibri"/>
              <a:sym typeface="Calibri"/>
            </a:endParaRPr>
          </a:p>
        </p:txBody>
      </p:sp>
      <p:sp>
        <p:nvSpPr>
          <p:cNvPr id="558" name="Google Shape;558;p55"/>
          <p:cNvSpPr/>
          <p:nvPr/>
        </p:nvSpPr>
        <p:spPr>
          <a:xfrm>
            <a:off x="960120" y="2240280"/>
            <a:ext cx="2286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7706"/>
              </a:buClr>
              <a:buSzPts val="1000"/>
              <a:buFont typeface="Calibri"/>
              <a:buNone/>
            </a:pPr>
            <a:r>
              <a:rPr b="1" i="1" lang="en" sz="1000" u="none" cap="none" strike="noStrike">
                <a:solidFill>
                  <a:srgbClr val="D97706"/>
                </a:solidFill>
                <a:latin typeface="Calibri"/>
                <a:ea typeface="Calibri"/>
                <a:cs typeface="Calibri"/>
                <a:sym typeface="Calibri"/>
              </a:rPr>
              <a:t>Viable but Precarious</a:t>
            </a:r>
            <a:endParaRPr b="0" i="0" sz="1000" u="none" cap="none" strike="noStrike">
              <a:solidFill>
                <a:schemeClr val="dk1"/>
              </a:solidFill>
              <a:latin typeface="Calibri"/>
              <a:ea typeface="Calibri"/>
              <a:cs typeface="Calibri"/>
              <a:sym typeface="Calibri"/>
            </a:endParaRPr>
          </a:p>
        </p:txBody>
      </p:sp>
      <p:sp>
        <p:nvSpPr>
          <p:cNvPr id="559" name="Google Shape;559;p55"/>
          <p:cNvSpPr/>
          <p:nvPr/>
        </p:nvSpPr>
        <p:spPr>
          <a:xfrm>
            <a:off x="3474720" y="1965960"/>
            <a:ext cx="4755000" cy="7773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Mistral raised ~€2.8B, generates €300M ARR. Growth impressive but capital raised still exceeds cumulative revenue.</a:t>
            </a:r>
            <a:endParaRPr b="0" i="0" sz="1000" u="none" cap="none" strike="noStrike">
              <a:solidFill>
                <a:schemeClr val="dk1"/>
              </a:solidFill>
              <a:latin typeface="Calibri"/>
              <a:ea typeface="Calibri"/>
              <a:cs typeface="Calibri"/>
              <a:sym typeface="Calibri"/>
            </a:endParaRPr>
          </a:p>
        </p:txBody>
      </p:sp>
      <p:sp>
        <p:nvSpPr>
          <p:cNvPr id="560" name="Google Shape;560;p55"/>
          <p:cNvSpPr/>
          <p:nvPr/>
        </p:nvSpPr>
        <p:spPr>
          <a:xfrm>
            <a:off x="731520" y="2926080"/>
            <a:ext cx="7680900" cy="868800"/>
          </a:xfrm>
          <a:prstGeom prst="rect">
            <a:avLst/>
          </a:prstGeom>
          <a:solidFill>
            <a:srgbClr val="FE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55"/>
          <p:cNvSpPr/>
          <p:nvPr/>
        </p:nvSpPr>
        <p:spPr>
          <a:xfrm>
            <a:off x="731520" y="2926080"/>
            <a:ext cx="54900" cy="868800"/>
          </a:xfrm>
          <a:prstGeom prst="rect">
            <a:avLst/>
          </a:prstGeom>
          <a:solidFill>
            <a:srgbClr val="B91C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55"/>
          <p:cNvSpPr/>
          <p:nvPr/>
        </p:nvSpPr>
        <p:spPr>
          <a:xfrm>
            <a:off x="960120" y="2971800"/>
            <a:ext cx="2286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Stability AI</a:t>
            </a:r>
            <a:endParaRPr b="0" i="0" sz="1300" u="none" cap="none" strike="noStrike">
              <a:solidFill>
                <a:schemeClr val="dk1"/>
              </a:solidFill>
              <a:latin typeface="Calibri"/>
              <a:ea typeface="Calibri"/>
              <a:cs typeface="Calibri"/>
              <a:sym typeface="Calibri"/>
            </a:endParaRPr>
          </a:p>
        </p:txBody>
      </p:sp>
      <p:sp>
        <p:nvSpPr>
          <p:cNvPr id="563" name="Google Shape;563;p55"/>
          <p:cNvSpPr/>
          <p:nvPr/>
        </p:nvSpPr>
        <p:spPr>
          <a:xfrm>
            <a:off x="960120" y="3246120"/>
            <a:ext cx="2286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91C1C"/>
              </a:buClr>
              <a:buSzPts val="1000"/>
              <a:buFont typeface="Calibri"/>
              <a:buNone/>
            </a:pPr>
            <a:r>
              <a:rPr b="1" i="1" lang="en" sz="1000" u="none" cap="none" strike="noStrike">
                <a:solidFill>
                  <a:srgbClr val="B91C1C"/>
                </a:solidFill>
                <a:latin typeface="Calibri"/>
                <a:ea typeface="Calibri"/>
                <a:cs typeface="Calibri"/>
                <a:sym typeface="Calibri"/>
              </a:rPr>
              <a:t>Cautionary Tale</a:t>
            </a:r>
            <a:endParaRPr b="0" i="0" sz="1000" u="none" cap="none" strike="noStrike">
              <a:solidFill>
                <a:schemeClr val="dk1"/>
              </a:solidFill>
              <a:latin typeface="Calibri"/>
              <a:ea typeface="Calibri"/>
              <a:cs typeface="Calibri"/>
              <a:sym typeface="Calibri"/>
            </a:endParaRPr>
          </a:p>
        </p:txBody>
      </p:sp>
      <p:sp>
        <p:nvSpPr>
          <p:cNvPr id="564" name="Google Shape;564;p55"/>
          <p:cNvSpPr/>
          <p:nvPr/>
        </p:nvSpPr>
        <p:spPr>
          <a:xfrm>
            <a:off x="3474720" y="2971800"/>
            <a:ext cx="4755000" cy="7773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Losses &gt;$30M/quarter vs revenue &lt;$5M. Survived only through $80M rescue and $100M+ debt forgiveness.</a:t>
            </a:r>
            <a:endParaRPr b="0" i="0" sz="1000" u="none" cap="none" strike="noStrike">
              <a:solidFill>
                <a:schemeClr val="dk1"/>
              </a:solidFill>
              <a:latin typeface="Calibri"/>
              <a:ea typeface="Calibri"/>
              <a:cs typeface="Calibri"/>
              <a:sym typeface="Calibri"/>
            </a:endParaRPr>
          </a:p>
        </p:txBody>
      </p:sp>
      <p:sp>
        <p:nvSpPr>
          <p:cNvPr id="565" name="Google Shape;565;p55"/>
          <p:cNvSpPr/>
          <p:nvPr/>
        </p:nvSpPr>
        <p:spPr>
          <a:xfrm>
            <a:off x="731520" y="4023360"/>
            <a:ext cx="7680900" cy="9144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55"/>
          <p:cNvSpPr/>
          <p:nvPr/>
        </p:nvSpPr>
        <p:spPr>
          <a:xfrm>
            <a:off x="914400" y="4069080"/>
            <a:ext cx="27432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Structural Tensions</a:t>
            </a:r>
            <a:endParaRPr b="0" i="0" sz="1200" u="none" cap="none" strike="noStrike">
              <a:solidFill>
                <a:schemeClr val="dk1"/>
              </a:solidFill>
              <a:latin typeface="Calibri"/>
              <a:ea typeface="Calibri"/>
              <a:cs typeface="Calibri"/>
              <a:sym typeface="Calibri"/>
            </a:endParaRPr>
          </a:p>
        </p:txBody>
      </p:sp>
      <p:sp>
        <p:nvSpPr>
          <p:cNvPr id="567" name="Google Shape;567;p55"/>
          <p:cNvSpPr/>
          <p:nvPr/>
        </p:nvSpPr>
        <p:spPr>
          <a:xfrm>
            <a:off x="914400" y="4343400"/>
            <a:ext cx="7315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Training costs: $80-100M+ and rising  |  Inference costs: declining ~10x annually  |  Red Hat analogy is imperfect — even Red Hat captured little of Linux's total value  |  Companies must differentiate beyond the model itself</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2" name="Shape 572"/>
        <p:cNvGrpSpPr/>
        <p:nvPr/>
      </p:nvGrpSpPr>
      <p:grpSpPr>
        <a:xfrm>
          <a:off x="0" y="0"/>
          <a:ext cx="0" cy="0"/>
          <a:chOff x="0" y="0"/>
          <a:chExt cx="0" cy="0"/>
        </a:xfrm>
      </p:grpSpPr>
      <p:sp>
        <p:nvSpPr>
          <p:cNvPr id="573" name="Google Shape;573;p56"/>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74" name="Google Shape;574;p56"/>
          <p:cNvPicPr preferRelativeResize="0"/>
          <p:nvPr/>
        </p:nvPicPr>
        <p:blipFill rotWithShape="1">
          <a:blip r:embed="rId3">
            <a:alphaModFix/>
          </a:blip>
          <a:srcRect b="0" l="0" r="0" t="0"/>
          <a:stretch/>
        </p:blipFill>
        <p:spPr>
          <a:xfrm>
            <a:off x="731520" y="274320"/>
            <a:ext cx="411480" cy="411480"/>
          </a:xfrm>
          <a:prstGeom prst="rect">
            <a:avLst/>
          </a:prstGeom>
          <a:noFill/>
          <a:ln>
            <a:noFill/>
          </a:ln>
        </p:spPr>
      </p:pic>
      <p:sp>
        <p:nvSpPr>
          <p:cNvPr id="575" name="Google Shape;575;p56"/>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The Value Chain: Where Money Actually Flows</a:t>
            </a:r>
            <a:endParaRPr b="0" i="0" sz="2400" u="none" cap="none" strike="noStrike">
              <a:solidFill>
                <a:schemeClr val="dk1"/>
              </a:solidFill>
              <a:latin typeface="Calibri"/>
              <a:ea typeface="Calibri"/>
              <a:cs typeface="Calibri"/>
              <a:sym typeface="Calibri"/>
            </a:endParaRPr>
          </a:p>
        </p:txBody>
      </p:sp>
      <p:sp>
        <p:nvSpPr>
          <p:cNvPr id="576" name="Google Shape;576;p56"/>
          <p:cNvSpPr/>
          <p:nvPr/>
        </p:nvSpPr>
        <p:spPr>
          <a:xfrm>
            <a:off x="731520" y="1005840"/>
            <a:ext cx="7680900" cy="731400"/>
          </a:xfrm>
          <a:prstGeom prst="rect">
            <a:avLst/>
          </a:prstGeom>
          <a:solidFill>
            <a:srgbClr val="D1FA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56"/>
          <p:cNvSpPr/>
          <p:nvPr/>
        </p:nvSpPr>
        <p:spPr>
          <a:xfrm>
            <a:off x="731520" y="1005840"/>
            <a:ext cx="54900" cy="731400"/>
          </a:xfrm>
          <a:prstGeom prst="rect">
            <a:avLst/>
          </a:prstGeom>
          <a:solidFill>
            <a:srgbClr val="1B4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56"/>
          <p:cNvSpPr/>
          <p:nvPr/>
        </p:nvSpPr>
        <p:spPr>
          <a:xfrm>
            <a:off x="1005840" y="1051560"/>
            <a:ext cx="2011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4332"/>
              </a:buClr>
              <a:buSzPts val="1300"/>
              <a:buFont typeface="Georgia"/>
              <a:buNone/>
            </a:pPr>
            <a:r>
              <a:rPr b="1" i="0" lang="en" sz="1300" u="none" cap="none" strike="noStrike">
                <a:solidFill>
                  <a:srgbClr val="1B4332"/>
                </a:solidFill>
                <a:latin typeface="Georgia"/>
                <a:ea typeface="Georgia"/>
                <a:cs typeface="Georgia"/>
                <a:sym typeface="Georgia"/>
              </a:rPr>
              <a:t>Hardware Layer</a:t>
            </a:r>
            <a:endParaRPr b="0" i="0" sz="1300" u="none" cap="none" strike="noStrike">
              <a:solidFill>
                <a:schemeClr val="dk1"/>
              </a:solidFill>
              <a:latin typeface="Calibri"/>
              <a:ea typeface="Calibri"/>
              <a:cs typeface="Calibri"/>
              <a:sym typeface="Calibri"/>
            </a:endParaRPr>
          </a:p>
        </p:txBody>
      </p:sp>
      <p:sp>
        <p:nvSpPr>
          <p:cNvPr id="579" name="Google Shape;579;p56"/>
          <p:cNvSpPr/>
          <p:nvPr/>
        </p:nvSpPr>
        <p:spPr>
          <a:xfrm>
            <a:off x="1005840" y="1371600"/>
            <a:ext cx="201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NVIDIA: $130.5B</a:t>
            </a:r>
            <a:endParaRPr b="0" i="0" sz="1000" u="none" cap="none" strike="noStrike">
              <a:solidFill>
                <a:schemeClr val="dk1"/>
              </a:solidFill>
              <a:latin typeface="Calibri"/>
              <a:ea typeface="Calibri"/>
              <a:cs typeface="Calibri"/>
              <a:sym typeface="Calibri"/>
            </a:endParaRPr>
          </a:p>
        </p:txBody>
      </p:sp>
      <p:sp>
        <p:nvSpPr>
          <p:cNvPr id="580" name="Google Shape;580;p56"/>
          <p:cNvSpPr/>
          <p:nvPr/>
        </p:nvSpPr>
        <p:spPr>
          <a:xfrm>
            <a:off x="6400800" y="1097280"/>
            <a:ext cx="1828800" cy="5487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B4332"/>
              </a:buClr>
              <a:buSzPts val="1100"/>
              <a:buFont typeface="Calibri"/>
              <a:buNone/>
            </a:pPr>
            <a:r>
              <a:rPr b="1" i="1" lang="en" sz="1100" u="none" cap="none" strike="noStrike">
                <a:solidFill>
                  <a:srgbClr val="1B4332"/>
                </a:solidFill>
                <a:latin typeface="Calibri"/>
                <a:ea typeface="Calibri"/>
                <a:cs typeface="Calibri"/>
                <a:sym typeface="Calibri"/>
              </a:rPr>
              <a:t>Captures most value</a:t>
            </a:r>
            <a:endParaRPr b="0" i="0" sz="1100" u="none" cap="none" strike="noStrike">
              <a:solidFill>
                <a:schemeClr val="dk1"/>
              </a:solidFill>
              <a:latin typeface="Calibri"/>
              <a:ea typeface="Calibri"/>
              <a:cs typeface="Calibri"/>
              <a:sym typeface="Calibri"/>
            </a:endParaRPr>
          </a:p>
        </p:txBody>
      </p:sp>
      <p:sp>
        <p:nvSpPr>
          <p:cNvPr id="581" name="Google Shape;581;p56"/>
          <p:cNvSpPr/>
          <p:nvPr/>
        </p:nvSpPr>
        <p:spPr>
          <a:xfrm>
            <a:off x="731520" y="1920240"/>
            <a:ext cx="7680900" cy="731400"/>
          </a:xfrm>
          <a:prstGeom prst="rect">
            <a:avLst/>
          </a:prstGeom>
          <a:solidFill>
            <a:srgbClr val="DBEAF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56"/>
          <p:cNvSpPr/>
          <p:nvPr/>
        </p:nvSpPr>
        <p:spPr>
          <a:xfrm>
            <a:off x="731520" y="1920240"/>
            <a:ext cx="54900" cy="731400"/>
          </a:xfrm>
          <a:prstGeom prst="rect">
            <a:avLst/>
          </a:prstGeom>
          <a:solidFill>
            <a:srgbClr val="1E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56"/>
          <p:cNvSpPr/>
          <p:nvPr/>
        </p:nvSpPr>
        <p:spPr>
          <a:xfrm>
            <a:off x="1005840" y="1965960"/>
            <a:ext cx="2011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A5F"/>
              </a:buClr>
              <a:buSzPts val="1300"/>
              <a:buFont typeface="Georgia"/>
              <a:buNone/>
            </a:pPr>
            <a:r>
              <a:rPr b="1" i="0" lang="en" sz="1300" u="none" cap="none" strike="noStrike">
                <a:solidFill>
                  <a:srgbClr val="1E3A5F"/>
                </a:solidFill>
                <a:latin typeface="Georgia"/>
                <a:ea typeface="Georgia"/>
                <a:cs typeface="Georgia"/>
                <a:sym typeface="Georgia"/>
              </a:rPr>
              <a:t>Infrastructure Layer</a:t>
            </a:r>
            <a:endParaRPr b="0" i="0" sz="1300" u="none" cap="none" strike="noStrike">
              <a:solidFill>
                <a:schemeClr val="dk1"/>
              </a:solidFill>
              <a:latin typeface="Calibri"/>
              <a:ea typeface="Calibri"/>
              <a:cs typeface="Calibri"/>
              <a:sym typeface="Calibri"/>
            </a:endParaRPr>
          </a:p>
        </p:txBody>
      </p:sp>
      <p:sp>
        <p:nvSpPr>
          <p:cNvPr id="584" name="Google Shape;584;p56"/>
          <p:cNvSpPr/>
          <p:nvPr/>
        </p:nvSpPr>
        <p:spPr>
          <a:xfrm>
            <a:off x="1005840" y="2286000"/>
            <a:ext cx="201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AWS, Azure, GCP: $280B+ combined</a:t>
            </a:r>
            <a:endParaRPr b="0" i="0" sz="1000" u="none" cap="none" strike="noStrike">
              <a:solidFill>
                <a:schemeClr val="dk1"/>
              </a:solidFill>
              <a:latin typeface="Calibri"/>
              <a:ea typeface="Calibri"/>
              <a:cs typeface="Calibri"/>
              <a:sym typeface="Calibri"/>
            </a:endParaRPr>
          </a:p>
        </p:txBody>
      </p:sp>
      <p:sp>
        <p:nvSpPr>
          <p:cNvPr id="585" name="Google Shape;585;p56"/>
          <p:cNvSpPr/>
          <p:nvPr/>
        </p:nvSpPr>
        <p:spPr>
          <a:xfrm>
            <a:off x="6400800" y="2011680"/>
            <a:ext cx="1828800" cy="5487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3A5F"/>
              </a:buClr>
              <a:buSzPts val="1100"/>
              <a:buFont typeface="Calibri"/>
              <a:buNone/>
            </a:pPr>
            <a:r>
              <a:rPr b="1" i="1" lang="en" sz="1100" u="none" cap="none" strike="noStrike">
                <a:solidFill>
                  <a:srgbClr val="1E3A5F"/>
                </a:solidFill>
                <a:latin typeface="Calibri"/>
                <a:ea typeface="Calibri"/>
                <a:cs typeface="Calibri"/>
                <a:sym typeface="Calibri"/>
              </a:rPr>
              <a:t>Massive &amp; growing</a:t>
            </a:r>
            <a:endParaRPr b="0" i="0" sz="1100" u="none" cap="none" strike="noStrike">
              <a:solidFill>
                <a:schemeClr val="dk1"/>
              </a:solidFill>
              <a:latin typeface="Calibri"/>
              <a:ea typeface="Calibri"/>
              <a:cs typeface="Calibri"/>
              <a:sym typeface="Calibri"/>
            </a:endParaRPr>
          </a:p>
        </p:txBody>
      </p:sp>
      <p:sp>
        <p:nvSpPr>
          <p:cNvPr id="586" name="Google Shape;586;p56"/>
          <p:cNvSpPr/>
          <p:nvPr/>
        </p:nvSpPr>
        <p:spPr>
          <a:xfrm>
            <a:off x="731520" y="2834640"/>
            <a:ext cx="7680900" cy="731400"/>
          </a:xfrm>
          <a:prstGeom prst="rect">
            <a:avLst/>
          </a:prstGeom>
          <a:solidFill>
            <a:srgbClr val="EDE9F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56"/>
          <p:cNvSpPr/>
          <p:nvPr/>
        </p:nvSpPr>
        <p:spPr>
          <a:xfrm>
            <a:off x="731520" y="2834640"/>
            <a:ext cx="54900" cy="731400"/>
          </a:xfrm>
          <a:prstGeom prst="rect">
            <a:avLst/>
          </a:prstGeom>
          <a:solidFill>
            <a:srgbClr val="5B21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56"/>
          <p:cNvSpPr/>
          <p:nvPr/>
        </p:nvSpPr>
        <p:spPr>
          <a:xfrm>
            <a:off x="1005840" y="2880360"/>
            <a:ext cx="2011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21B6"/>
              </a:buClr>
              <a:buSzPts val="1300"/>
              <a:buFont typeface="Georgia"/>
              <a:buNone/>
            </a:pPr>
            <a:r>
              <a:rPr b="1" i="0" lang="en" sz="1300" u="none" cap="none" strike="noStrike">
                <a:solidFill>
                  <a:srgbClr val="5B21B6"/>
                </a:solidFill>
                <a:latin typeface="Georgia"/>
                <a:ea typeface="Georgia"/>
                <a:cs typeface="Georgia"/>
                <a:sym typeface="Georgia"/>
              </a:rPr>
              <a:t>Platform Layer</a:t>
            </a:r>
            <a:endParaRPr b="0" i="0" sz="1300" u="none" cap="none" strike="noStrike">
              <a:solidFill>
                <a:schemeClr val="dk1"/>
              </a:solidFill>
              <a:latin typeface="Calibri"/>
              <a:ea typeface="Calibri"/>
              <a:cs typeface="Calibri"/>
              <a:sym typeface="Calibri"/>
            </a:endParaRPr>
          </a:p>
        </p:txBody>
      </p:sp>
      <p:sp>
        <p:nvSpPr>
          <p:cNvPr id="589" name="Google Shape;589;p56"/>
          <p:cNvSpPr/>
          <p:nvPr/>
        </p:nvSpPr>
        <p:spPr>
          <a:xfrm>
            <a:off x="1005840" y="3200400"/>
            <a:ext cx="201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HuggingFace, Together, Fireworks</a:t>
            </a:r>
            <a:endParaRPr b="0" i="0" sz="1000" u="none" cap="none" strike="noStrike">
              <a:solidFill>
                <a:schemeClr val="dk1"/>
              </a:solidFill>
              <a:latin typeface="Calibri"/>
              <a:ea typeface="Calibri"/>
              <a:cs typeface="Calibri"/>
              <a:sym typeface="Calibri"/>
            </a:endParaRPr>
          </a:p>
        </p:txBody>
      </p:sp>
      <p:sp>
        <p:nvSpPr>
          <p:cNvPr id="590" name="Google Shape;590;p56"/>
          <p:cNvSpPr/>
          <p:nvPr/>
        </p:nvSpPr>
        <p:spPr>
          <a:xfrm>
            <a:off x="6400800" y="2926080"/>
            <a:ext cx="1828800" cy="5487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B21B6"/>
              </a:buClr>
              <a:buSzPts val="1100"/>
              <a:buFont typeface="Calibri"/>
              <a:buNone/>
            </a:pPr>
            <a:r>
              <a:rPr b="1" i="1" lang="en" sz="1100" u="none" cap="none" strike="noStrike">
                <a:solidFill>
                  <a:srgbClr val="5B21B6"/>
                </a:solidFill>
                <a:latin typeface="Calibri"/>
                <a:ea typeface="Calibri"/>
                <a:cs typeface="Calibri"/>
                <a:sym typeface="Calibri"/>
              </a:rPr>
              <a:t>Emerging margin</a:t>
            </a:r>
            <a:endParaRPr b="0" i="0" sz="1100" u="none" cap="none" strike="noStrike">
              <a:solidFill>
                <a:schemeClr val="dk1"/>
              </a:solidFill>
              <a:latin typeface="Calibri"/>
              <a:ea typeface="Calibri"/>
              <a:cs typeface="Calibri"/>
              <a:sym typeface="Calibri"/>
            </a:endParaRPr>
          </a:p>
        </p:txBody>
      </p:sp>
      <p:sp>
        <p:nvSpPr>
          <p:cNvPr id="591" name="Google Shape;591;p56"/>
          <p:cNvSpPr/>
          <p:nvPr/>
        </p:nvSpPr>
        <p:spPr>
          <a:xfrm>
            <a:off x="731520" y="3749040"/>
            <a:ext cx="7680900" cy="731400"/>
          </a:xfrm>
          <a:prstGeom prst="rect">
            <a:avLst/>
          </a:prstGeom>
          <a:solidFill>
            <a:srgbClr val="FEF3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56"/>
          <p:cNvSpPr/>
          <p:nvPr/>
        </p:nvSpPr>
        <p:spPr>
          <a:xfrm>
            <a:off x="731520" y="3749040"/>
            <a:ext cx="54900" cy="731400"/>
          </a:xfrm>
          <a:prstGeom prst="rect">
            <a:avLst/>
          </a:prstGeom>
          <a:solidFill>
            <a:srgbClr val="92400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56"/>
          <p:cNvSpPr/>
          <p:nvPr/>
        </p:nvSpPr>
        <p:spPr>
          <a:xfrm>
            <a:off x="1005840" y="3794760"/>
            <a:ext cx="2011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2400E"/>
              </a:buClr>
              <a:buSzPts val="1300"/>
              <a:buFont typeface="Georgia"/>
              <a:buNone/>
            </a:pPr>
            <a:r>
              <a:rPr b="1" i="0" lang="en" sz="1300" u="none" cap="none" strike="noStrike">
                <a:solidFill>
                  <a:srgbClr val="92400E"/>
                </a:solidFill>
                <a:latin typeface="Georgia"/>
                <a:ea typeface="Georgia"/>
                <a:cs typeface="Georgia"/>
                <a:sym typeface="Georgia"/>
              </a:rPr>
              <a:t>Application Layer</a:t>
            </a:r>
            <a:endParaRPr b="0" i="0" sz="1300" u="none" cap="none" strike="noStrike">
              <a:solidFill>
                <a:schemeClr val="dk1"/>
              </a:solidFill>
              <a:latin typeface="Calibri"/>
              <a:ea typeface="Calibri"/>
              <a:cs typeface="Calibri"/>
              <a:sym typeface="Calibri"/>
            </a:endParaRPr>
          </a:p>
        </p:txBody>
      </p:sp>
      <p:sp>
        <p:nvSpPr>
          <p:cNvPr id="594" name="Google Shape;594;p56"/>
          <p:cNvSpPr/>
          <p:nvPr/>
        </p:nvSpPr>
        <p:spPr>
          <a:xfrm>
            <a:off x="1005840" y="4114800"/>
            <a:ext cx="201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Meta Ads, Alibaba Commerce</a:t>
            </a:r>
            <a:endParaRPr b="0" i="0" sz="1000" u="none" cap="none" strike="noStrike">
              <a:solidFill>
                <a:schemeClr val="dk1"/>
              </a:solidFill>
              <a:latin typeface="Calibri"/>
              <a:ea typeface="Calibri"/>
              <a:cs typeface="Calibri"/>
              <a:sym typeface="Calibri"/>
            </a:endParaRPr>
          </a:p>
        </p:txBody>
      </p:sp>
      <p:sp>
        <p:nvSpPr>
          <p:cNvPr id="595" name="Google Shape;595;p56"/>
          <p:cNvSpPr/>
          <p:nvPr/>
        </p:nvSpPr>
        <p:spPr>
          <a:xfrm>
            <a:off x="6400800" y="3840480"/>
            <a:ext cx="1828800" cy="5487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92400E"/>
              </a:buClr>
              <a:buSzPts val="1100"/>
              <a:buFont typeface="Calibri"/>
              <a:buNone/>
            </a:pPr>
            <a:r>
              <a:rPr b="1" i="1" lang="en" sz="1100" u="none" cap="none" strike="noStrike">
                <a:solidFill>
                  <a:srgbClr val="92400E"/>
                </a:solidFill>
                <a:latin typeface="Calibri"/>
                <a:ea typeface="Calibri"/>
                <a:cs typeface="Calibri"/>
                <a:sym typeface="Calibri"/>
              </a:rPr>
              <a:t>Indirect value capture</a:t>
            </a:r>
            <a:endParaRPr b="0" i="0" sz="1100" u="none" cap="none" strike="noStrike">
              <a:solidFill>
                <a:schemeClr val="dk1"/>
              </a:solidFill>
              <a:latin typeface="Calibri"/>
              <a:ea typeface="Calibri"/>
              <a:cs typeface="Calibri"/>
              <a:sym typeface="Calibri"/>
            </a:endParaRPr>
          </a:p>
        </p:txBody>
      </p:sp>
      <p:sp>
        <p:nvSpPr>
          <p:cNvPr id="596" name="Google Shape;596;p56"/>
          <p:cNvSpPr/>
          <p:nvPr/>
        </p:nvSpPr>
        <p:spPr>
          <a:xfrm>
            <a:off x="3200400" y="4709160"/>
            <a:ext cx="2743200" cy="274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 Value captured increases →</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