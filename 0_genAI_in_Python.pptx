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63" r:id="rId6"/>
  </p:sldMasterIdLst>
  <p:notesMasterIdLst>
    <p:notesMasterId r:id="rId7"/>
  </p:notesMasterIdLst>
  <p:sldIdLst>
    <p:sldId id="256" r:id="rId8"/>
    <p:sldId id="257" r:id="rId9"/>
    <p:sldId id="258" r:id="rId10"/>
    <p:sldId id="259" r:id="rId11"/>
  </p:sldIdLst>
  <p:sldSz cy="5143500" cx="9144000"/>
  <p:notesSz cx="6858000" cy="9144000"/>
  <p:embeddedFontLst>
    <p:embeddedFont>
      <p:font typeface="Nunito"/>
      <p:regular r:id="rId12"/>
      <p:bold r:id="rId13"/>
      <p:italic r:id="rId14"/>
      <p:boldItalic r:id="rId15"/>
    </p:embeddedFont>
    <p:embeddedFont>
      <p:font typeface="Didact Gothic"/>
      <p:regular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7" roundtripDataSignature="AMtx7mjFBulD6Zd7zq4Wd+pWIBgV9gU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font" Target="fonts/Nunito-bold.fntdata"/><Relationship Id="rId12" Type="http://schemas.openxmlformats.org/officeDocument/2006/relationships/font" Target="fonts/Nunito-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5" Type="http://schemas.openxmlformats.org/officeDocument/2006/relationships/font" Target="fonts/Nunito-boldItalic.fntdata"/><Relationship Id="rId14" Type="http://schemas.openxmlformats.org/officeDocument/2006/relationships/font" Target="fonts/Nunito-italic.fntdata"/><Relationship Id="rId17" Type="http://customschemas.google.com/relationships/presentationmetadata" Target="metadata"/><Relationship Id="rId16" Type="http://schemas.openxmlformats.org/officeDocument/2006/relationships/font" Target="fonts/DidactGothic-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23" name="Google Shape;123;p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2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2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3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3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3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3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3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Title and Content 2">
  <p:cSld name="24_Title and Content_2">
    <p:spTree>
      <p:nvGrpSpPr>
        <p:cNvPr id="50" name="Shape 50"/>
        <p:cNvGrpSpPr/>
        <p:nvPr/>
      </p:nvGrpSpPr>
      <p:grpSpPr>
        <a:xfrm>
          <a:off x="0" y="0"/>
          <a:ext cx="0" cy="0"/>
          <a:chOff x="0" y="0"/>
          <a:chExt cx="0" cy="0"/>
        </a:xfrm>
      </p:grpSpPr>
      <p:sp>
        <p:nvSpPr>
          <p:cNvPr id="51" name="Google Shape;51;p3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3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3" name="Google Shape;53;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54" name="Google Shape;54;p34"/>
          <p:cNvPicPr preferRelativeResize="0"/>
          <p:nvPr/>
        </p:nvPicPr>
        <p:blipFill rotWithShape="1">
          <a:blip r:embed="rId2">
            <a:alphaModFix/>
          </a:blip>
          <a:srcRect b="0" l="0" r="0" t="0"/>
          <a:stretch/>
        </p:blipFill>
        <p:spPr>
          <a:xfrm>
            <a:off x="7882318" y="10771"/>
            <a:ext cx="1146696" cy="311131"/>
          </a:xfrm>
          <a:prstGeom prst="rect">
            <a:avLst/>
          </a:prstGeom>
          <a:noFill/>
          <a:ln>
            <a:noFill/>
          </a:ln>
        </p:spPr>
      </p:pic>
      <p:sp>
        <p:nvSpPr>
          <p:cNvPr id="55" name="Google Shape;55;p34"/>
          <p:cNvSpPr txBox="1"/>
          <p:nvPr>
            <p:ph idx="1" type="body"/>
          </p:nvPr>
        </p:nvSpPr>
        <p:spPr>
          <a:xfrm>
            <a:off x="297406" y="472231"/>
            <a:ext cx="8002200" cy="597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SzPts val="1700"/>
              <a:buNone/>
              <a:defRPr sz="1700"/>
            </a:lvl1pPr>
            <a:lvl2pPr indent="-317500" lvl="1" marL="914400" algn="l">
              <a:lnSpc>
                <a:spcPct val="90000"/>
              </a:lnSpc>
              <a:spcBef>
                <a:spcPts val="1600"/>
              </a:spcBef>
              <a:spcAft>
                <a:spcPts val="0"/>
              </a:spcAft>
              <a:buClr>
                <a:schemeClr val="dk1"/>
              </a:buClr>
              <a:buSzPts val="1400"/>
              <a:buChar char="○"/>
              <a:defRPr/>
            </a:lvl2pPr>
            <a:lvl3pPr indent="-317500" lvl="2" marL="1371600" algn="l">
              <a:lnSpc>
                <a:spcPct val="90000"/>
              </a:lnSpc>
              <a:spcBef>
                <a:spcPts val="1600"/>
              </a:spcBef>
              <a:spcAft>
                <a:spcPts val="0"/>
              </a:spcAft>
              <a:buClr>
                <a:schemeClr val="dk1"/>
              </a:buClr>
              <a:buSzPts val="1400"/>
              <a:buChar char="■"/>
              <a:defRPr/>
            </a:lvl3pPr>
            <a:lvl4pPr indent="-317500" lvl="3" marL="1828800" algn="l">
              <a:lnSpc>
                <a:spcPct val="90000"/>
              </a:lnSpc>
              <a:spcBef>
                <a:spcPts val="1600"/>
              </a:spcBef>
              <a:spcAft>
                <a:spcPts val="0"/>
              </a:spcAft>
              <a:buClr>
                <a:schemeClr val="dk1"/>
              </a:buClr>
              <a:buSzPts val="1400"/>
              <a:buChar char="●"/>
              <a:defRPr/>
            </a:lvl4pPr>
            <a:lvl5pPr indent="-317500" lvl="4" marL="2286000" algn="l">
              <a:lnSpc>
                <a:spcPct val="90000"/>
              </a:lnSpc>
              <a:spcBef>
                <a:spcPts val="1600"/>
              </a:spcBef>
              <a:spcAft>
                <a:spcPts val="0"/>
              </a:spcAft>
              <a:buClr>
                <a:schemeClr val="dk1"/>
              </a:buClr>
              <a:buSzPts val="1400"/>
              <a:buChar char="○"/>
              <a:defRPr/>
            </a:lvl5pPr>
            <a:lvl6pPr indent="-317500" lvl="5" marL="2743200" algn="l">
              <a:lnSpc>
                <a:spcPct val="90000"/>
              </a:lnSpc>
              <a:spcBef>
                <a:spcPts val="1600"/>
              </a:spcBef>
              <a:spcAft>
                <a:spcPts val="0"/>
              </a:spcAft>
              <a:buClr>
                <a:schemeClr val="dk1"/>
              </a:buClr>
              <a:buSzPts val="1400"/>
              <a:buChar char="■"/>
              <a:defRPr/>
            </a:lvl6pPr>
            <a:lvl7pPr indent="-317500" lvl="6" marL="3200400" algn="l">
              <a:lnSpc>
                <a:spcPct val="90000"/>
              </a:lnSpc>
              <a:spcBef>
                <a:spcPts val="1600"/>
              </a:spcBef>
              <a:spcAft>
                <a:spcPts val="0"/>
              </a:spcAft>
              <a:buClr>
                <a:schemeClr val="dk1"/>
              </a:buClr>
              <a:buSzPts val="1400"/>
              <a:buChar char="●"/>
              <a:defRPr/>
            </a:lvl7pPr>
            <a:lvl8pPr indent="-317500" lvl="7" marL="3657600" algn="l">
              <a:lnSpc>
                <a:spcPct val="90000"/>
              </a:lnSpc>
              <a:spcBef>
                <a:spcPts val="1600"/>
              </a:spcBef>
              <a:spcAft>
                <a:spcPts val="0"/>
              </a:spcAft>
              <a:buClr>
                <a:schemeClr val="dk1"/>
              </a:buClr>
              <a:buSzPts val="1400"/>
              <a:buChar char="○"/>
              <a:defRPr/>
            </a:lvl8pPr>
            <a:lvl9pPr indent="-317500" lvl="8" marL="4114800" algn="l">
              <a:lnSpc>
                <a:spcPct val="90000"/>
              </a:lnSpc>
              <a:spcBef>
                <a:spcPts val="1600"/>
              </a:spcBef>
              <a:spcAft>
                <a:spcPts val="1600"/>
              </a:spcAft>
              <a:buClr>
                <a:schemeClr val="dk1"/>
              </a:buClr>
              <a:buSzPts val="1400"/>
              <a:buChar char="■"/>
              <a:defRPr/>
            </a:lvl9pPr>
          </a:lstStyle>
          <a:p/>
        </p:txBody>
      </p:sp>
      <p:sp>
        <p:nvSpPr>
          <p:cNvPr id="56" name="Google Shape;56;p34"/>
          <p:cNvSpPr txBox="1"/>
          <p:nvPr>
            <p:ph idx="2" type="body"/>
          </p:nvPr>
        </p:nvSpPr>
        <p:spPr>
          <a:xfrm>
            <a:off x="754754" y="1276807"/>
            <a:ext cx="7545000" cy="2991900"/>
          </a:xfrm>
          <a:prstGeom prst="rect">
            <a:avLst/>
          </a:prstGeom>
          <a:noFill/>
          <a:ln>
            <a:noFill/>
          </a:ln>
        </p:spPr>
        <p:txBody>
          <a:bodyPr anchorCtr="0" anchor="t" bIns="34275" lIns="68575" spcFirstLastPara="1" rIns="68575" wrap="square" tIns="34275">
            <a:normAutofit/>
          </a:bodyPr>
          <a:lstStyle>
            <a:lvl1pPr indent="-228600" lvl="0" marL="457200" marR="0" algn="l">
              <a:lnSpc>
                <a:spcPct val="90000"/>
              </a:lnSpc>
              <a:spcBef>
                <a:spcPts val="800"/>
              </a:spcBef>
              <a:spcAft>
                <a:spcPts val="0"/>
              </a:spcAft>
              <a:buClr>
                <a:srgbClr val="9AE4CE"/>
              </a:buClr>
              <a:buSzPts val="1100"/>
              <a:buFont typeface="Arial"/>
              <a:buNone/>
              <a:defRPr sz="11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1600"/>
              </a:spcBef>
              <a:spcAft>
                <a:spcPts val="0"/>
              </a:spcAft>
              <a:buClr>
                <a:schemeClr val="dk1"/>
              </a:buClr>
              <a:buSzPts val="1400"/>
              <a:buChar char="■"/>
              <a:defRPr/>
            </a:lvl3pPr>
            <a:lvl4pPr indent="-317500" lvl="3" marL="1828800" algn="l">
              <a:lnSpc>
                <a:spcPct val="90000"/>
              </a:lnSpc>
              <a:spcBef>
                <a:spcPts val="1600"/>
              </a:spcBef>
              <a:spcAft>
                <a:spcPts val="0"/>
              </a:spcAft>
              <a:buClr>
                <a:schemeClr val="dk1"/>
              </a:buClr>
              <a:buSzPts val="1400"/>
              <a:buChar char="●"/>
              <a:defRPr/>
            </a:lvl4pPr>
            <a:lvl5pPr indent="-317500" lvl="4" marL="2286000" algn="l">
              <a:lnSpc>
                <a:spcPct val="90000"/>
              </a:lnSpc>
              <a:spcBef>
                <a:spcPts val="1600"/>
              </a:spcBef>
              <a:spcAft>
                <a:spcPts val="0"/>
              </a:spcAft>
              <a:buClr>
                <a:schemeClr val="dk1"/>
              </a:buClr>
              <a:buSzPts val="1400"/>
              <a:buChar char="○"/>
              <a:defRPr/>
            </a:lvl5pPr>
            <a:lvl6pPr indent="-317500" lvl="5" marL="2743200" algn="l">
              <a:lnSpc>
                <a:spcPct val="90000"/>
              </a:lnSpc>
              <a:spcBef>
                <a:spcPts val="1600"/>
              </a:spcBef>
              <a:spcAft>
                <a:spcPts val="0"/>
              </a:spcAft>
              <a:buClr>
                <a:schemeClr val="dk1"/>
              </a:buClr>
              <a:buSzPts val="1400"/>
              <a:buChar char="■"/>
              <a:defRPr/>
            </a:lvl6pPr>
            <a:lvl7pPr indent="-317500" lvl="6" marL="3200400" algn="l">
              <a:lnSpc>
                <a:spcPct val="90000"/>
              </a:lnSpc>
              <a:spcBef>
                <a:spcPts val="1600"/>
              </a:spcBef>
              <a:spcAft>
                <a:spcPts val="0"/>
              </a:spcAft>
              <a:buClr>
                <a:schemeClr val="dk1"/>
              </a:buClr>
              <a:buSzPts val="1400"/>
              <a:buChar char="●"/>
              <a:defRPr/>
            </a:lvl7pPr>
            <a:lvl8pPr indent="-317500" lvl="7" marL="3657600" algn="l">
              <a:lnSpc>
                <a:spcPct val="90000"/>
              </a:lnSpc>
              <a:spcBef>
                <a:spcPts val="1600"/>
              </a:spcBef>
              <a:spcAft>
                <a:spcPts val="0"/>
              </a:spcAft>
              <a:buClr>
                <a:schemeClr val="dk1"/>
              </a:buClr>
              <a:buSzPts val="1400"/>
              <a:buChar char="○"/>
              <a:defRPr/>
            </a:lvl8pPr>
            <a:lvl9pPr indent="-317500" lvl="8" marL="4114800" algn="l">
              <a:lnSpc>
                <a:spcPct val="90000"/>
              </a:lnSpc>
              <a:spcBef>
                <a:spcPts val="1600"/>
              </a:spcBef>
              <a:spcAft>
                <a:spcPts val="1600"/>
              </a:spcAft>
              <a:buClr>
                <a:schemeClr val="dk1"/>
              </a:buClr>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8" name="Shape 58"/>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6" name="Google Shape;6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7" name="Shape 67"/>
        <p:cNvGrpSpPr/>
        <p:nvPr/>
      </p:nvGrpSpPr>
      <p:grpSpPr>
        <a:xfrm>
          <a:off x="0" y="0"/>
          <a:ext cx="0" cy="0"/>
          <a:chOff x="0" y="0"/>
          <a:chExt cx="0" cy="0"/>
        </a:xfrm>
      </p:grpSpPr>
      <p:sp>
        <p:nvSpPr>
          <p:cNvPr id="68" name="Google Shape;68;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9" name="Google Shape;69;p3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0" name="Google Shape;70;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 name="Shape 71"/>
        <p:cNvGrpSpPr/>
        <p:nvPr/>
      </p:nvGrpSpPr>
      <p:grpSpPr>
        <a:xfrm>
          <a:off x="0" y="0"/>
          <a:ext cx="0" cy="0"/>
          <a:chOff x="0" y="0"/>
          <a:chExt cx="0" cy="0"/>
        </a:xfrm>
      </p:grpSpPr>
      <p:sp>
        <p:nvSpPr>
          <p:cNvPr id="72" name="Google Shape;72;p3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3" name="Google Shape;73;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4" name="Shape 74"/>
        <p:cNvGrpSpPr/>
        <p:nvPr/>
      </p:nvGrpSpPr>
      <p:grpSpPr>
        <a:xfrm>
          <a:off x="0" y="0"/>
          <a:ext cx="0" cy="0"/>
          <a:chOff x="0" y="0"/>
          <a:chExt cx="0" cy="0"/>
        </a:xfrm>
      </p:grpSpPr>
      <p:sp>
        <p:nvSpPr>
          <p:cNvPr id="75" name="Google Shape;75;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6" name="Google Shape;76;p3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 name="Google Shape;77;p3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8" name="Google Shape;7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1" name="Google Shape;81;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2" name="Shape 82"/>
        <p:cNvGrpSpPr/>
        <p:nvPr/>
      </p:nvGrpSpPr>
      <p:grpSpPr>
        <a:xfrm>
          <a:off x="0" y="0"/>
          <a:ext cx="0" cy="0"/>
          <a:chOff x="0" y="0"/>
          <a:chExt cx="0" cy="0"/>
        </a:xfrm>
      </p:grpSpPr>
      <p:sp>
        <p:nvSpPr>
          <p:cNvPr id="83" name="Google Shape;83;p3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4" name="Google Shape;84;p3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5" name="Google Shape;85;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6" name="Shape 86"/>
        <p:cNvGrpSpPr/>
        <p:nvPr/>
      </p:nvGrpSpPr>
      <p:grpSpPr>
        <a:xfrm>
          <a:off x="0" y="0"/>
          <a:ext cx="0" cy="0"/>
          <a:chOff x="0" y="0"/>
          <a:chExt cx="0" cy="0"/>
        </a:xfrm>
      </p:grpSpPr>
      <p:sp>
        <p:nvSpPr>
          <p:cNvPr id="87" name="Google Shape;87;p4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8" name="Google Shape;88;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9" name="Shape 89"/>
        <p:cNvGrpSpPr/>
        <p:nvPr/>
      </p:nvGrpSpPr>
      <p:grpSpPr>
        <a:xfrm>
          <a:off x="0" y="0"/>
          <a:ext cx="0" cy="0"/>
          <a:chOff x="0" y="0"/>
          <a:chExt cx="0" cy="0"/>
        </a:xfrm>
      </p:grpSpPr>
      <p:sp>
        <p:nvSpPr>
          <p:cNvPr id="90" name="Google Shape;90;p4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4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2" name="Google Shape;92;p4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3" name="Google Shape;93;p4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4" name="Google Shape;94;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5" name="Shape 95"/>
        <p:cNvGrpSpPr/>
        <p:nvPr/>
      </p:nvGrpSpPr>
      <p:grpSpPr>
        <a:xfrm>
          <a:off x="0" y="0"/>
          <a:ext cx="0" cy="0"/>
          <a:chOff x="0" y="0"/>
          <a:chExt cx="0" cy="0"/>
        </a:xfrm>
      </p:grpSpPr>
      <p:sp>
        <p:nvSpPr>
          <p:cNvPr id="96" name="Google Shape;96;p4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7" name="Google Shape;97;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8" name="Shape 98"/>
        <p:cNvGrpSpPr/>
        <p:nvPr/>
      </p:nvGrpSpPr>
      <p:grpSpPr>
        <a:xfrm>
          <a:off x="0" y="0"/>
          <a:ext cx="0" cy="0"/>
          <a:chOff x="0" y="0"/>
          <a:chExt cx="0" cy="0"/>
        </a:xfrm>
      </p:grpSpPr>
      <p:sp>
        <p:nvSpPr>
          <p:cNvPr id="99" name="Google Shape;99;p4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00" name="Google Shape;100;p4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01" name="Google Shape;101;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2" name="Shape 102"/>
        <p:cNvGrpSpPr/>
        <p:nvPr/>
      </p:nvGrpSpPr>
      <p:grpSpPr>
        <a:xfrm>
          <a:off x="0" y="0"/>
          <a:ext cx="0" cy="0"/>
          <a:chOff x="0" y="0"/>
          <a:chExt cx="0" cy="0"/>
        </a:xfrm>
      </p:grpSpPr>
      <p:sp>
        <p:nvSpPr>
          <p:cNvPr id="103" name="Google Shape;103;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4.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9" name="Shape 59"/>
        <p:cNvGrpSpPr/>
        <p:nvPr/>
      </p:nvGrpSpPr>
      <p:grpSpPr>
        <a:xfrm>
          <a:off x="0" y="0"/>
          <a:ext cx="0" cy="0"/>
          <a:chOff x="0" y="0"/>
          <a:chExt cx="0" cy="0"/>
        </a:xfrm>
      </p:grpSpPr>
      <p:sp>
        <p:nvSpPr>
          <p:cNvPr id="60" name="Google Shape;60;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61" name="Google Shape;61;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62" name="Google Shape;6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ransition>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
          <p:cNvSpPr txBox="1"/>
          <p:nvPr/>
        </p:nvSpPr>
        <p:spPr>
          <a:xfrm>
            <a:off x="386875" y="572175"/>
            <a:ext cx="8249400" cy="87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1" i="0" lang="en" sz="3500" u="none" cap="none" strike="noStrike">
                <a:solidFill>
                  <a:srgbClr val="1155CC"/>
                </a:solidFill>
                <a:latin typeface="Didact Gothic"/>
                <a:ea typeface="Didact Gothic"/>
                <a:cs typeface="Didact Gothic"/>
                <a:sym typeface="Didact Gothic"/>
              </a:rPr>
              <a:t>Introduction to Generative AI in Python</a:t>
            </a:r>
            <a:endParaRPr b="1" i="0" sz="3500" u="none" cap="none" strike="noStrike">
              <a:solidFill>
                <a:srgbClr val="1155CC"/>
              </a:solidFill>
              <a:latin typeface="Didact Gothic"/>
              <a:ea typeface="Didact Gothic"/>
              <a:cs typeface="Didact Gothic"/>
              <a:sym typeface="Didact Gothic"/>
            </a:endParaRPr>
          </a:p>
        </p:txBody>
      </p:sp>
      <p:sp>
        <p:nvSpPr>
          <p:cNvPr id="109" name="Google Shape;109;p1"/>
          <p:cNvSpPr txBox="1"/>
          <p:nvPr/>
        </p:nvSpPr>
        <p:spPr>
          <a:xfrm>
            <a:off x="514525" y="1534483"/>
            <a:ext cx="630300" cy="4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1155CC"/>
                </a:solidFill>
                <a:latin typeface="Didact Gothic"/>
                <a:ea typeface="Didact Gothic"/>
                <a:cs typeface="Didact Gothic"/>
                <a:sym typeface="Didact Gothic"/>
              </a:rPr>
              <a:t>01</a:t>
            </a:r>
            <a:endParaRPr b="1" i="0" sz="2200" u="none" cap="none" strike="noStrike">
              <a:solidFill>
                <a:srgbClr val="1155CC"/>
              </a:solidFill>
              <a:latin typeface="Didact Gothic"/>
              <a:ea typeface="Didact Gothic"/>
              <a:cs typeface="Didact Gothic"/>
              <a:sym typeface="Didact Gothic"/>
            </a:endParaRPr>
          </a:p>
        </p:txBody>
      </p:sp>
      <p:sp>
        <p:nvSpPr>
          <p:cNvPr id="110" name="Google Shape;110;p1"/>
          <p:cNvSpPr txBox="1"/>
          <p:nvPr/>
        </p:nvSpPr>
        <p:spPr>
          <a:xfrm>
            <a:off x="1124725" y="1534495"/>
            <a:ext cx="6174300" cy="4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A64D79"/>
                </a:solidFill>
                <a:latin typeface="Didact Gothic"/>
                <a:ea typeface="Didact Gothic"/>
                <a:cs typeface="Didact Gothic"/>
                <a:sym typeface="Didact Gothic"/>
              </a:rPr>
              <a:t>Absolute Python Essentials </a:t>
            </a:r>
            <a:endParaRPr b="0" i="0" sz="2200" u="none" cap="none" strike="noStrike">
              <a:solidFill>
                <a:srgbClr val="A64D79"/>
              </a:solidFill>
              <a:latin typeface="Didact Gothic"/>
              <a:ea typeface="Didact Gothic"/>
              <a:cs typeface="Didact Gothic"/>
              <a:sym typeface="Didact Gothic"/>
            </a:endParaRPr>
          </a:p>
        </p:txBody>
      </p:sp>
      <p:sp>
        <p:nvSpPr>
          <p:cNvPr id="111" name="Google Shape;111;p1"/>
          <p:cNvSpPr/>
          <p:nvPr/>
        </p:nvSpPr>
        <p:spPr>
          <a:xfrm>
            <a:off x="0" y="0"/>
            <a:ext cx="9144000" cy="104700"/>
          </a:xfrm>
          <a:prstGeom prst="rect">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
          <p:cNvSpPr txBox="1"/>
          <p:nvPr/>
        </p:nvSpPr>
        <p:spPr>
          <a:xfrm>
            <a:off x="514525" y="2150659"/>
            <a:ext cx="630300" cy="4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1155CC"/>
                </a:solidFill>
                <a:latin typeface="Didact Gothic"/>
                <a:ea typeface="Didact Gothic"/>
                <a:cs typeface="Didact Gothic"/>
                <a:sym typeface="Didact Gothic"/>
              </a:rPr>
              <a:t>02</a:t>
            </a:r>
            <a:endParaRPr b="1" i="0" sz="2200" u="none" cap="none" strike="noStrike">
              <a:solidFill>
                <a:srgbClr val="1155CC"/>
              </a:solidFill>
              <a:latin typeface="Didact Gothic"/>
              <a:ea typeface="Didact Gothic"/>
              <a:cs typeface="Didact Gothic"/>
              <a:sym typeface="Didact Gothic"/>
            </a:endParaRPr>
          </a:p>
        </p:txBody>
      </p:sp>
      <p:sp>
        <p:nvSpPr>
          <p:cNvPr id="113" name="Google Shape;113;p1"/>
          <p:cNvSpPr txBox="1"/>
          <p:nvPr/>
        </p:nvSpPr>
        <p:spPr>
          <a:xfrm>
            <a:off x="514525" y="2766835"/>
            <a:ext cx="630300" cy="4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1155CC"/>
                </a:solidFill>
                <a:latin typeface="Didact Gothic"/>
                <a:ea typeface="Didact Gothic"/>
                <a:cs typeface="Didact Gothic"/>
                <a:sym typeface="Didact Gothic"/>
              </a:rPr>
              <a:t>03</a:t>
            </a:r>
            <a:endParaRPr b="1" i="0" sz="2200" u="none" cap="none" strike="noStrike">
              <a:solidFill>
                <a:srgbClr val="1155CC"/>
              </a:solidFill>
              <a:latin typeface="Didact Gothic"/>
              <a:ea typeface="Didact Gothic"/>
              <a:cs typeface="Didact Gothic"/>
              <a:sym typeface="Didact Gothic"/>
            </a:endParaRPr>
          </a:p>
        </p:txBody>
      </p:sp>
      <p:sp>
        <p:nvSpPr>
          <p:cNvPr id="114" name="Google Shape;114;p1"/>
          <p:cNvSpPr txBox="1"/>
          <p:nvPr/>
        </p:nvSpPr>
        <p:spPr>
          <a:xfrm>
            <a:off x="1124725" y="2150670"/>
            <a:ext cx="6691800" cy="4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A64D79"/>
                </a:solidFill>
                <a:latin typeface="Didact Gothic"/>
                <a:ea typeface="Didact Gothic"/>
                <a:cs typeface="Didact Gothic"/>
                <a:sym typeface="Didact Gothic"/>
              </a:rPr>
              <a:t>Commercial API Platform &amp; HuggingFace Basics</a:t>
            </a:r>
            <a:endParaRPr b="0" i="0" sz="2200" u="none" cap="none" strike="noStrike">
              <a:solidFill>
                <a:srgbClr val="A64D79"/>
              </a:solidFill>
              <a:latin typeface="Didact Gothic"/>
              <a:ea typeface="Didact Gothic"/>
              <a:cs typeface="Didact Gothic"/>
              <a:sym typeface="Didact Gothic"/>
            </a:endParaRPr>
          </a:p>
        </p:txBody>
      </p:sp>
      <p:sp>
        <p:nvSpPr>
          <p:cNvPr id="115" name="Google Shape;115;p1"/>
          <p:cNvSpPr txBox="1"/>
          <p:nvPr/>
        </p:nvSpPr>
        <p:spPr>
          <a:xfrm>
            <a:off x="1124725" y="2766845"/>
            <a:ext cx="5138100" cy="4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A64D79"/>
                </a:solidFill>
                <a:latin typeface="Didact Gothic"/>
                <a:ea typeface="Didact Gothic"/>
                <a:cs typeface="Didact Gothic"/>
                <a:sym typeface="Didact Gothic"/>
              </a:rPr>
              <a:t>Basic Model Usage</a:t>
            </a:r>
            <a:endParaRPr b="0" i="0" sz="2200" u="none" cap="none" strike="noStrike">
              <a:solidFill>
                <a:srgbClr val="A64D79"/>
              </a:solidFill>
              <a:latin typeface="Didact Gothic"/>
              <a:ea typeface="Didact Gothic"/>
              <a:cs typeface="Didact Gothic"/>
              <a:sym typeface="Didact Gothic"/>
            </a:endParaRPr>
          </a:p>
        </p:txBody>
      </p:sp>
      <p:sp>
        <p:nvSpPr>
          <p:cNvPr id="116" name="Google Shape;116;p1"/>
          <p:cNvSpPr txBox="1"/>
          <p:nvPr/>
        </p:nvSpPr>
        <p:spPr>
          <a:xfrm>
            <a:off x="514525" y="3383010"/>
            <a:ext cx="630300" cy="4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1155CC"/>
                </a:solidFill>
                <a:latin typeface="Didact Gothic"/>
                <a:ea typeface="Didact Gothic"/>
                <a:cs typeface="Didact Gothic"/>
                <a:sym typeface="Didact Gothic"/>
              </a:rPr>
              <a:t>04</a:t>
            </a:r>
            <a:endParaRPr b="1" i="0" sz="2200" u="none" cap="none" strike="noStrike">
              <a:solidFill>
                <a:srgbClr val="1155CC"/>
              </a:solidFill>
              <a:latin typeface="Didact Gothic"/>
              <a:ea typeface="Didact Gothic"/>
              <a:cs typeface="Didact Gothic"/>
              <a:sym typeface="Didact Gothic"/>
            </a:endParaRPr>
          </a:p>
        </p:txBody>
      </p:sp>
      <p:sp>
        <p:nvSpPr>
          <p:cNvPr id="117" name="Google Shape;117;p1"/>
          <p:cNvSpPr txBox="1"/>
          <p:nvPr/>
        </p:nvSpPr>
        <p:spPr>
          <a:xfrm>
            <a:off x="1124725" y="3383020"/>
            <a:ext cx="5138100" cy="4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A64D79"/>
                </a:solidFill>
                <a:latin typeface="Didact Gothic"/>
                <a:ea typeface="Didact Gothic"/>
                <a:cs typeface="Didact Gothic"/>
                <a:sym typeface="Didact Gothic"/>
              </a:rPr>
              <a:t>Simple App Examples</a:t>
            </a:r>
            <a:endParaRPr b="0" i="0" sz="2200" u="none" cap="none" strike="noStrike">
              <a:solidFill>
                <a:srgbClr val="A64D79"/>
              </a:solidFill>
              <a:latin typeface="Didact Gothic"/>
              <a:ea typeface="Didact Gothic"/>
              <a:cs typeface="Didact Gothic"/>
              <a:sym typeface="Didact Gothic"/>
            </a:endParaRPr>
          </a:p>
        </p:txBody>
      </p:sp>
      <p:sp>
        <p:nvSpPr>
          <p:cNvPr id="118" name="Google Shape;118;p1"/>
          <p:cNvSpPr txBox="1"/>
          <p:nvPr/>
        </p:nvSpPr>
        <p:spPr>
          <a:xfrm>
            <a:off x="514525" y="3999183"/>
            <a:ext cx="630300" cy="4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1155CC"/>
                </a:solidFill>
                <a:latin typeface="Didact Gothic"/>
                <a:ea typeface="Didact Gothic"/>
                <a:cs typeface="Didact Gothic"/>
                <a:sym typeface="Didact Gothic"/>
              </a:rPr>
              <a:t>05</a:t>
            </a:r>
            <a:endParaRPr b="1" i="0" sz="2200" u="none" cap="none" strike="noStrike">
              <a:solidFill>
                <a:srgbClr val="1155CC"/>
              </a:solidFill>
              <a:latin typeface="Didact Gothic"/>
              <a:ea typeface="Didact Gothic"/>
              <a:cs typeface="Didact Gothic"/>
              <a:sym typeface="Didact Gothic"/>
            </a:endParaRPr>
          </a:p>
        </p:txBody>
      </p:sp>
      <p:sp>
        <p:nvSpPr>
          <p:cNvPr id="119" name="Google Shape;119;p1"/>
          <p:cNvSpPr txBox="1"/>
          <p:nvPr/>
        </p:nvSpPr>
        <p:spPr>
          <a:xfrm>
            <a:off x="1124725" y="3999195"/>
            <a:ext cx="5138100" cy="4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A64D79"/>
                </a:solidFill>
                <a:latin typeface="Didact Gothic"/>
                <a:ea typeface="Didact Gothic"/>
                <a:cs typeface="Didact Gothic"/>
                <a:sym typeface="Didact Gothic"/>
              </a:rPr>
              <a:t>Advanced Concepts (RAG, fine-tuning, ….)</a:t>
            </a:r>
            <a:endParaRPr b="0" i="0" sz="2200" u="none" cap="none" strike="noStrike">
              <a:solidFill>
                <a:srgbClr val="A64D79"/>
              </a:solidFill>
              <a:latin typeface="Didact Gothic"/>
              <a:ea typeface="Didact Gothic"/>
              <a:cs typeface="Didact Gothic"/>
              <a:sym typeface="Didact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24" name="Shape 124"/>
        <p:cNvGrpSpPr/>
        <p:nvPr/>
      </p:nvGrpSpPr>
      <p:grpSpPr>
        <a:xfrm>
          <a:off x="0" y="0"/>
          <a:ext cx="0" cy="0"/>
          <a:chOff x="0" y="0"/>
          <a:chExt cx="0" cy="0"/>
        </a:xfrm>
      </p:grpSpPr>
      <p:sp>
        <p:nvSpPr>
          <p:cNvPr id="125" name="Google Shape;125;p2"/>
          <p:cNvSpPr/>
          <p:nvPr/>
        </p:nvSpPr>
        <p:spPr>
          <a:xfrm>
            <a:off x="350950" y="3718100"/>
            <a:ext cx="37059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744"/>
              </a:buClr>
              <a:buSzPts val="2800"/>
              <a:buFont typeface="Trebuchet MS"/>
              <a:buNone/>
            </a:pPr>
            <a:r>
              <a:rPr b="1" i="0" lang="en" sz="2800" u="none" cap="none" strike="noStrike">
                <a:solidFill>
                  <a:srgbClr val="1A2744"/>
                </a:solidFill>
                <a:latin typeface="Trebuchet MS"/>
                <a:ea typeface="Trebuchet MS"/>
                <a:cs typeface="Trebuchet MS"/>
                <a:sym typeface="Trebuchet MS"/>
              </a:rPr>
              <a:t>The GenAI Landscape</a:t>
            </a:r>
            <a:endParaRPr b="0" i="0" sz="2800" u="none" cap="none" strike="noStrike">
              <a:solidFill>
                <a:schemeClr val="dk1"/>
              </a:solidFill>
              <a:latin typeface="Calibri"/>
              <a:ea typeface="Calibri"/>
              <a:cs typeface="Calibri"/>
              <a:sym typeface="Calibri"/>
            </a:endParaRPr>
          </a:p>
        </p:txBody>
      </p:sp>
      <p:sp>
        <p:nvSpPr>
          <p:cNvPr id="126" name="Google Shape;126;p2"/>
          <p:cNvSpPr/>
          <p:nvPr/>
        </p:nvSpPr>
        <p:spPr>
          <a:xfrm>
            <a:off x="350950" y="193175"/>
            <a:ext cx="6217800" cy="100590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579550" y="467495"/>
            <a:ext cx="457200" cy="457200"/>
          </a:xfrm>
          <a:prstGeom prst="ellipse">
            <a:avLst/>
          </a:prstGeom>
          <a:solidFill>
            <a:srgbClr val="1A27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8" name="Google Shape;128;p2"/>
          <p:cNvPicPr preferRelativeResize="0"/>
          <p:nvPr/>
        </p:nvPicPr>
        <p:blipFill rotWithShape="1">
          <a:blip r:embed="rId3">
            <a:alphaModFix/>
          </a:blip>
          <a:srcRect b="0" l="0" r="0" t="0"/>
          <a:stretch/>
        </p:blipFill>
        <p:spPr>
          <a:xfrm>
            <a:off x="670990" y="558935"/>
            <a:ext cx="274320" cy="274320"/>
          </a:xfrm>
          <a:prstGeom prst="rect">
            <a:avLst/>
          </a:prstGeom>
          <a:noFill/>
          <a:ln>
            <a:noFill/>
          </a:ln>
        </p:spPr>
      </p:pic>
      <p:sp>
        <p:nvSpPr>
          <p:cNvPr id="129" name="Google Shape;129;p2"/>
          <p:cNvSpPr/>
          <p:nvPr/>
        </p:nvSpPr>
        <p:spPr>
          <a:xfrm>
            <a:off x="1265350" y="330335"/>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744"/>
              </a:buClr>
              <a:buSzPts val="1600"/>
              <a:buFont typeface="Trebuchet MS"/>
              <a:buNone/>
            </a:pPr>
            <a:r>
              <a:rPr b="1" i="0" lang="en" sz="1600" u="none" cap="none" strike="noStrike">
                <a:solidFill>
                  <a:srgbClr val="1A2744"/>
                </a:solidFill>
                <a:latin typeface="Trebuchet MS"/>
                <a:ea typeface="Trebuchet MS"/>
                <a:cs typeface="Trebuchet MS"/>
                <a:sym typeface="Trebuchet MS"/>
              </a:rPr>
              <a:t>Raw Layer</a:t>
            </a:r>
            <a:endParaRPr b="0" i="0" sz="1600" u="none" cap="none" strike="noStrike">
              <a:solidFill>
                <a:schemeClr val="dk1"/>
              </a:solidFill>
              <a:latin typeface="Calibri"/>
              <a:ea typeface="Calibri"/>
              <a:cs typeface="Calibri"/>
              <a:sym typeface="Calibri"/>
            </a:endParaRPr>
          </a:p>
        </p:txBody>
      </p:sp>
      <p:sp>
        <p:nvSpPr>
          <p:cNvPr id="130" name="Google Shape;130;p2"/>
          <p:cNvSpPr/>
          <p:nvPr/>
        </p:nvSpPr>
        <p:spPr>
          <a:xfrm>
            <a:off x="1265350" y="632087"/>
            <a:ext cx="25602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APIs &amp; open-source models.</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You build everything yourself.</a:t>
            </a:r>
            <a:endParaRPr b="0" i="0" sz="1000" u="none" cap="none" strike="noStrike">
              <a:solidFill>
                <a:schemeClr val="dk1"/>
              </a:solidFill>
              <a:latin typeface="Calibri"/>
              <a:ea typeface="Calibri"/>
              <a:cs typeface="Calibri"/>
              <a:sym typeface="Calibri"/>
            </a:endParaRPr>
          </a:p>
        </p:txBody>
      </p:sp>
      <p:sp>
        <p:nvSpPr>
          <p:cNvPr id="131" name="Google Shape;131;p2"/>
          <p:cNvSpPr/>
          <p:nvPr/>
        </p:nvSpPr>
        <p:spPr>
          <a:xfrm>
            <a:off x="4008550" y="330335"/>
            <a:ext cx="23775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OpenAI API, Anthropic API,</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Vertex AI, Hugging Face,</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self-hosted models</a:t>
            </a:r>
            <a:endParaRPr b="0" i="0" sz="1000" u="none" cap="none" strike="noStrike">
              <a:solidFill>
                <a:schemeClr val="dk1"/>
              </a:solidFill>
              <a:latin typeface="Calibri"/>
              <a:ea typeface="Calibri"/>
              <a:cs typeface="Calibri"/>
              <a:sym typeface="Calibri"/>
            </a:endParaRPr>
          </a:p>
        </p:txBody>
      </p:sp>
      <p:sp>
        <p:nvSpPr>
          <p:cNvPr id="132" name="Google Shape;132;p2"/>
          <p:cNvSpPr/>
          <p:nvPr/>
        </p:nvSpPr>
        <p:spPr>
          <a:xfrm>
            <a:off x="350950" y="1336175"/>
            <a:ext cx="6217800" cy="100590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
          <p:cNvSpPr/>
          <p:nvPr/>
        </p:nvSpPr>
        <p:spPr>
          <a:xfrm>
            <a:off x="579550" y="1610495"/>
            <a:ext cx="457200" cy="457200"/>
          </a:xfrm>
          <a:prstGeom prst="ellipse">
            <a:avLst/>
          </a:prstGeom>
          <a:solidFill>
            <a:srgbClr val="1A27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4" name="Google Shape;134;p2"/>
          <p:cNvPicPr preferRelativeResize="0"/>
          <p:nvPr/>
        </p:nvPicPr>
        <p:blipFill rotWithShape="1">
          <a:blip r:embed="rId4">
            <a:alphaModFix/>
          </a:blip>
          <a:srcRect b="0" l="0" r="0" t="0"/>
          <a:stretch/>
        </p:blipFill>
        <p:spPr>
          <a:xfrm>
            <a:off x="670990" y="1701935"/>
            <a:ext cx="274320" cy="274320"/>
          </a:xfrm>
          <a:prstGeom prst="rect">
            <a:avLst/>
          </a:prstGeom>
          <a:noFill/>
          <a:ln>
            <a:noFill/>
          </a:ln>
        </p:spPr>
      </p:pic>
      <p:sp>
        <p:nvSpPr>
          <p:cNvPr id="135" name="Google Shape;135;p2"/>
          <p:cNvSpPr/>
          <p:nvPr/>
        </p:nvSpPr>
        <p:spPr>
          <a:xfrm>
            <a:off x="1265350" y="1473335"/>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744"/>
              </a:buClr>
              <a:buSzPts val="1600"/>
              <a:buFont typeface="Trebuchet MS"/>
              <a:buNone/>
            </a:pPr>
            <a:r>
              <a:rPr b="1" i="0" lang="en" sz="1600" u="none" cap="none" strike="noStrike">
                <a:solidFill>
                  <a:srgbClr val="1A2744"/>
                </a:solidFill>
                <a:latin typeface="Trebuchet MS"/>
                <a:ea typeface="Trebuchet MS"/>
                <a:cs typeface="Trebuchet MS"/>
                <a:sym typeface="Trebuchet MS"/>
              </a:rPr>
              <a:t>Conversational Layer</a:t>
            </a:r>
            <a:endParaRPr b="0" i="0" sz="1600" u="none" cap="none" strike="noStrike">
              <a:solidFill>
                <a:schemeClr val="dk1"/>
              </a:solidFill>
              <a:latin typeface="Calibri"/>
              <a:ea typeface="Calibri"/>
              <a:cs typeface="Calibri"/>
              <a:sym typeface="Calibri"/>
            </a:endParaRPr>
          </a:p>
        </p:txBody>
      </p:sp>
      <p:sp>
        <p:nvSpPr>
          <p:cNvPr id="136" name="Google Shape;136;p2"/>
          <p:cNvSpPr/>
          <p:nvPr/>
        </p:nvSpPr>
        <p:spPr>
          <a:xfrm>
            <a:off x="1265350" y="1775087"/>
            <a:ext cx="25602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General-purpose chat interfaces.</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The default mental model for most people.</a:t>
            </a:r>
            <a:endParaRPr b="0" i="0" sz="1000" u="none" cap="none" strike="noStrike">
              <a:solidFill>
                <a:schemeClr val="dk1"/>
              </a:solidFill>
              <a:latin typeface="Calibri"/>
              <a:ea typeface="Calibri"/>
              <a:cs typeface="Calibri"/>
              <a:sym typeface="Calibri"/>
            </a:endParaRPr>
          </a:p>
        </p:txBody>
      </p:sp>
      <p:sp>
        <p:nvSpPr>
          <p:cNvPr id="137" name="Google Shape;137;p2"/>
          <p:cNvSpPr/>
          <p:nvPr/>
        </p:nvSpPr>
        <p:spPr>
          <a:xfrm>
            <a:off x="4008550" y="1473335"/>
            <a:ext cx="23775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ChatGPT, Claude, Gemini,</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Copilot, Perplexity</a:t>
            </a:r>
            <a:endParaRPr b="0" i="0" sz="1000" u="none" cap="none" strike="noStrike">
              <a:solidFill>
                <a:schemeClr val="dk1"/>
              </a:solidFill>
              <a:latin typeface="Calibri"/>
              <a:ea typeface="Calibri"/>
              <a:cs typeface="Calibri"/>
              <a:sym typeface="Calibri"/>
            </a:endParaRPr>
          </a:p>
        </p:txBody>
      </p:sp>
      <p:sp>
        <p:nvSpPr>
          <p:cNvPr id="138" name="Google Shape;138;p2"/>
          <p:cNvSpPr/>
          <p:nvPr/>
        </p:nvSpPr>
        <p:spPr>
          <a:xfrm>
            <a:off x="350950" y="2479175"/>
            <a:ext cx="6217800" cy="100590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
          <p:cNvSpPr/>
          <p:nvPr/>
        </p:nvSpPr>
        <p:spPr>
          <a:xfrm>
            <a:off x="579550" y="2753495"/>
            <a:ext cx="457200" cy="457200"/>
          </a:xfrm>
          <a:prstGeom prst="ellipse">
            <a:avLst/>
          </a:prstGeom>
          <a:solidFill>
            <a:srgbClr val="1A27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0" name="Google Shape;140;p2"/>
          <p:cNvPicPr preferRelativeResize="0"/>
          <p:nvPr/>
        </p:nvPicPr>
        <p:blipFill rotWithShape="1">
          <a:blip r:embed="rId5">
            <a:alphaModFix/>
          </a:blip>
          <a:srcRect b="0" l="0" r="0" t="0"/>
          <a:stretch/>
        </p:blipFill>
        <p:spPr>
          <a:xfrm>
            <a:off x="670990" y="2844935"/>
            <a:ext cx="274320" cy="274320"/>
          </a:xfrm>
          <a:prstGeom prst="rect">
            <a:avLst/>
          </a:prstGeom>
          <a:noFill/>
          <a:ln>
            <a:noFill/>
          </a:ln>
        </p:spPr>
      </p:pic>
      <p:sp>
        <p:nvSpPr>
          <p:cNvPr id="141" name="Google Shape;141;p2"/>
          <p:cNvSpPr/>
          <p:nvPr/>
        </p:nvSpPr>
        <p:spPr>
          <a:xfrm>
            <a:off x="1265350" y="2616335"/>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744"/>
              </a:buClr>
              <a:buSzPts val="1600"/>
              <a:buFont typeface="Trebuchet MS"/>
              <a:buNone/>
            </a:pPr>
            <a:r>
              <a:rPr b="1" i="0" lang="en" sz="1600" u="none" cap="none" strike="noStrike">
                <a:solidFill>
                  <a:srgbClr val="1A2744"/>
                </a:solidFill>
                <a:latin typeface="Trebuchet MS"/>
                <a:ea typeface="Trebuchet MS"/>
                <a:cs typeface="Trebuchet MS"/>
                <a:sym typeface="Trebuchet MS"/>
              </a:rPr>
              <a:t>Agentic Layer</a:t>
            </a:r>
            <a:endParaRPr b="0" i="0" sz="1600" u="none" cap="none" strike="noStrike">
              <a:solidFill>
                <a:schemeClr val="dk1"/>
              </a:solidFill>
              <a:latin typeface="Calibri"/>
              <a:ea typeface="Calibri"/>
              <a:cs typeface="Calibri"/>
              <a:sym typeface="Calibri"/>
            </a:endParaRPr>
          </a:p>
        </p:txBody>
      </p:sp>
      <p:sp>
        <p:nvSpPr>
          <p:cNvPr id="142" name="Google Shape;142;p2"/>
          <p:cNvSpPr/>
          <p:nvPr/>
        </p:nvSpPr>
        <p:spPr>
          <a:xfrm>
            <a:off x="1265350" y="2918087"/>
            <a:ext cx="25602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Autonomous multi-step execution.</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The model uses tools &amp; acts on your behalf.</a:t>
            </a:r>
            <a:endParaRPr b="0" i="0" sz="1000" u="none" cap="none" strike="noStrike">
              <a:solidFill>
                <a:schemeClr val="dk1"/>
              </a:solidFill>
              <a:latin typeface="Calibri"/>
              <a:ea typeface="Calibri"/>
              <a:cs typeface="Calibri"/>
              <a:sym typeface="Calibri"/>
            </a:endParaRPr>
          </a:p>
        </p:txBody>
      </p:sp>
      <p:sp>
        <p:nvSpPr>
          <p:cNvPr id="143" name="Google Shape;143;p2"/>
          <p:cNvSpPr/>
          <p:nvPr/>
        </p:nvSpPr>
        <p:spPr>
          <a:xfrm>
            <a:off x="4008550" y="2616335"/>
            <a:ext cx="23775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Deep Research, Computer Use,</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Claude Code, Copilot Agents,</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Cursor, Devin</a:t>
            </a:r>
            <a:endParaRPr b="0" i="0" sz="1000" u="none" cap="none" strike="noStrike">
              <a:solidFill>
                <a:schemeClr val="dk1"/>
              </a:solidFill>
              <a:latin typeface="Calibri"/>
              <a:ea typeface="Calibri"/>
              <a:cs typeface="Calibri"/>
              <a:sym typeface="Calibri"/>
            </a:endParaRPr>
          </a:p>
        </p:txBody>
      </p:sp>
      <p:sp>
        <p:nvSpPr>
          <p:cNvPr id="144" name="Google Shape;144;p2"/>
          <p:cNvSpPr/>
          <p:nvPr/>
        </p:nvSpPr>
        <p:spPr>
          <a:xfrm>
            <a:off x="789862" y="1199015"/>
            <a:ext cx="73200" cy="137100"/>
          </a:xfrm>
          <a:prstGeom prst="rect">
            <a:avLst/>
          </a:prstGeom>
          <a:solidFill>
            <a:srgbClr val="C0D6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
          <p:cNvSpPr/>
          <p:nvPr/>
        </p:nvSpPr>
        <p:spPr>
          <a:xfrm>
            <a:off x="789862" y="2342015"/>
            <a:ext cx="73200" cy="137100"/>
          </a:xfrm>
          <a:prstGeom prst="rect">
            <a:avLst/>
          </a:prstGeom>
          <a:solidFill>
            <a:srgbClr val="C0D6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
          <p:cNvSpPr/>
          <p:nvPr/>
        </p:nvSpPr>
        <p:spPr>
          <a:xfrm>
            <a:off x="6888900" y="386375"/>
            <a:ext cx="1828800" cy="2777100"/>
          </a:xfrm>
          <a:prstGeom prst="roundRect">
            <a:avLst>
              <a:gd fmla="val 5000" name="adj"/>
            </a:avLst>
          </a:prstGeom>
          <a:solidFill>
            <a:srgbClr val="FDF0E6"/>
          </a:solidFill>
          <a:ln cap="flat" cmpd="sng" w="19050">
            <a:solidFill>
              <a:srgbClr val="E07B39"/>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
          <p:cNvSpPr/>
          <p:nvPr/>
        </p:nvSpPr>
        <p:spPr>
          <a:xfrm>
            <a:off x="7597445" y="490330"/>
            <a:ext cx="411600" cy="411600"/>
          </a:xfrm>
          <a:prstGeom prst="ellipse">
            <a:avLst/>
          </a:prstGeom>
          <a:solidFill>
            <a:srgbClr val="E07B3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8" name="Google Shape;148;p2"/>
          <p:cNvPicPr preferRelativeResize="0"/>
          <p:nvPr/>
        </p:nvPicPr>
        <p:blipFill rotWithShape="1">
          <a:blip r:embed="rId6">
            <a:alphaModFix/>
          </a:blip>
          <a:srcRect b="0" l="0" r="0" t="0"/>
          <a:stretch/>
        </p:blipFill>
        <p:spPr>
          <a:xfrm>
            <a:off x="7670597" y="563482"/>
            <a:ext cx="265176" cy="265176"/>
          </a:xfrm>
          <a:prstGeom prst="rect">
            <a:avLst/>
          </a:prstGeom>
          <a:noFill/>
          <a:ln>
            <a:noFill/>
          </a:ln>
        </p:spPr>
      </p:pic>
      <p:sp>
        <p:nvSpPr>
          <p:cNvPr id="149" name="Google Shape;149;p2"/>
          <p:cNvSpPr/>
          <p:nvPr/>
        </p:nvSpPr>
        <p:spPr>
          <a:xfrm>
            <a:off x="6980350" y="878975"/>
            <a:ext cx="1645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07B39"/>
              </a:buClr>
              <a:buSzPts val="1400"/>
              <a:buFont typeface="Trebuchet MS"/>
              <a:buNone/>
            </a:pPr>
            <a:r>
              <a:rPr b="1" i="0" lang="en" sz="1400" u="none" cap="none" strike="noStrike">
                <a:solidFill>
                  <a:srgbClr val="E07B39"/>
                </a:solidFill>
                <a:latin typeface="Trebuchet MS"/>
                <a:ea typeface="Trebuchet MS"/>
                <a:cs typeface="Trebuchet MS"/>
                <a:sym typeface="Trebuchet MS"/>
              </a:rPr>
              <a:t>Customization</a:t>
            </a:r>
            <a:endParaRPr b="0" i="0" sz="1400" u="none" cap="none" strike="noStrike">
              <a:solidFill>
                <a:schemeClr val="dk1"/>
              </a:solidFill>
              <a:latin typeface="Calibri"/>
              <a:ea typeface="Calibri"/>
              <a:cs typeface="Calibri"/>
              <a:sym typeface="Calibri"/>
            </a:endParaRPr>
          </a:p>
        </p:txBody>
      </p:sp>
      <p:sp>
        <p:nvSpPr>
          <p:cNvPr id="150" name="Google Shape;150;p2"/>
          <p:cNvSpPr/>
          <p:nvPr/>
        </p:nvSpPr>
        <p:spPr>
          <a:xfrm>
            <a:off x="6980350" y="1125863"/>
            <a:ext cx="164580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5568"/>
              </a:buClr>
              <a:buSzPts val="900"/>
              <a:buFont typeface="Calibri"/>
              <a:buNone/>
            </a:pPr>
            <a:r>
              <a:rPr b="0" i="1" lang="en" sz="900" u="none" cap="none" strike="noStrike">
                <a:solidFill>
                  <a:srgbClr val="4A5568"/>
                </a:solidFill>
                <a:latin typeface="Calibri"/>
                <a:ea typeface="Calibri"/>
                <a:cs typeface="Calibri"/>
                <a:sym typeface="Calibri"/>
              </a:rPr>
              <a:t>Applies across layers</a:t>
            </a:r>
            <a:endParaRPr b="0" i="0" sz="900" u="none" cap="none" strike="noStrike">
              <a:solidFill>
                <a:schemeClr val="dk1"/>
              </a:solidFill>
              <a:latin typeface="Calibri"/>
              <a:ea typeface="Calibri"/>
              <a:cs typeface="Calibri"/>
              <a:sym typeface="Calibri"/>
            </a:endParaRPr>
          </a:p>
        </p:txBody>
      </p:sp>
      <p:sp>
        <p:nvSpPr>
          <p:cNvPr id="151" name="Google Shape;151;p2"/>
          <p:cNvSpPr/>
          <p:nvPr/>
        </p:nvSpPr>
        <p:spPr>
          <a:xfrm>
            <a:off x="7071790" y="1427615"/>
            <a:ext cx="1463100" cy="14631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System prompts</a:t>
            </a:r>
            <a:endParaRPr b="0" i="0" sz="1000" u="none" cap="none" strike="noStrike">
              <a:solidFill>
                <a:schemeClr val="dk1"/>
              </a:solidFill>
              <a:latin typeface="Calibri"/>
              <a:ea typeface="Calibri"/>
              <a:cs typeface="Calibri"/>
              <a:sym typeface="Calibri"/>
            </a:endParaRPr>
          </a:p>
          <a:p>
            <a:pPr indent="0" lvl="0" marL="0" marR="0" rtl="0" algn="ctr">
              <a:lnSpc>
                <a:spcPct val="15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Projects / Gems / GPTs</a:t>
            </a:r>
            <a:endParaRPr b="0" i="0" sz="1000" u="none" cap="none" strike="noStrike">
              <a:solidFill>
                <a:schemeClr val="dk1"/>
              </a:solidFill>
              <a:latin typeface="Calibri"/>
              <a:ea typeface="Calibri"/>
              <a:cs typeface="Calibri"/>
              <a:sym typeface="Calibri"/>
            </a:endParaRPr>
          </a:p>
          <a:p>
            <a:pPr indent="0" lvl="0" marL="0" marR="0" rtl="0" algn="ctr">
              <a:lnSpc>
                <a:spcPct val="15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MCP integrations</a:t>
            </a:r>
            <a:endParaRPr b="0" i="0" sz="1000" u="none" cap="none" strike="noStrike">
              <a:solidFill>
                <a:schemeClr val="dk1"/>
              </a:solidFill>
              <a:latin typeface="Calibri"/>
              <a:ea typeface="Calibri"/>
              <a:cs typeface="Calibri"/>
              <a:sym typeface="Calibri"/>
            </a:endParaRPr>
          </a:p>
          <a:p>
            <a:pPr indent="0" lvl="0" marL="0" marR="0" rtl="0" algn="ctr">
              <a:lnSpc>
                <a:spcPct val="15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RAG pipelines</a:t>
            </a:r>
            <a:endParaRPr b="0" i="0" sz="1000" u="none" cap="none" strike="noStrike">
              <a:solidFill>
                <a:schemeClr val="dk1"/>
              </a:solidFill>
              <a:latin typeface="Calibri"/>
              <a:ea typeface="Calibri"/>
              <a:cs typeface="Calibri"/>
              <a:sym typeface="Calibri"/>
            </a:endParaRPr>
          </a:p>
          <a:p>
            <a:pPr indent="0" lvl="0" marL="0" marR="0" rtl="0" algn="ctr">
              <a:lnSpc>
                <a:spcPct val="150000"/>
              </a:lnSpc>
              <a:spcBef>
                <a:spcPts val="0"/>
              </a:spcBef>
              <a:spcAft>
                <a:spcPts val="0"/>
              </a:spcAft>
              <a:buClr>
                <a:srgbClr val="4A5568"/>
              </a:buClr>
              <a:buSzPts val="1000"/>
              <a:buFont typeface="Calibri"/>
              <a:buNone/>
            </a:pPr>
            <a:r>
              <a:rPr b="0" i="0" lang="en" sz="1000" u="none" cap="none" strike="noStrike">
                <a:solidFill>
                  <a:srgbClr val="4A5568"/>
                </a:solidFill>
                <a:latin typeface="Calibri"/>
                <a:ea typeface="Calibri"/>
                <a:cs typeface="Calibri"/>
                <a:sym typeface="Calibri"/>
              </a:rPr>
              <a:t>Fine-tuning</a:t>
            </a:r>
            <a:endParaRPr b="0" i="0" sz="1000" u="none" cap="none" strike="noStrike">
              <a:solidFill>
                <a:schemeClr val="dk1"/>
              </a:solidFill>
              <a:latin typeface="Calibri"/>
              <a:ea typeface="Calibri"/>
              <a:cs typeface="Calibri"/>
              <a:sym typeface="Calibri"/>
            </a:endParaRPr>
          </a:p>
        </p:txBody>
      </p:sp>
      <p:cxnSp>
        <p:nvCxnSpPr>
          <p:cNvPr id="152" name="Google Shape;152;p2"/>
          <p:cNvCxnSpPr/>
          <p:nvPr/>
        </p:nvCxnSpPr>
        <p:spPr>
          <a:xfrm>
            <a:off x="6568870" y="696095"/>
            <a:ext cx="320100" cy="0"/>
          </a:xfrm>
          <a:prstGeom prst="straightConnector1">
            <a:avLst/>
          </a:prstGeom>
          <a:noFill/>
          <a:ln cap="flat" cmpd="sng" w="10150">
            <a:solidFill>
              <a:srgbClr val="E07B39"/>
            </a:solidFill>
            <a:prstDash val="dash"/>
            <a:round/>
            <a:headEnd len="sm" w="sm" type="none"/>
            <a:tailEnd len="sm" w="sm" type="none"/>
          </a:ln>
        </p:spPr>
      </p:cxnSp>
      <p:cxnSp>
        <p:nvCxnSpPr>
          <p:cNvPr id="153" name="Google Shape;153;p2"/>
          <p:cNvCxnSpPr/>
          <p:nvPr/>
        </p:nvCxnSpPr>
        <p:spPr>
          <a:xfrm>
            <a:off x="6568870" y="1839095"/>
            <a:ext cx="320100" cy="0"/>
          </a:xfrm>
          <a:prstGeom prst="straightConnector1">
            <a:avLst/>
          </a:prstGeom>
          <a:noFill/>
          <a:ln cap="flat" cmpd="sng" w="10150">
            <a:solidFill>
              <a:srgbClr val="E07B39"/>
            </a:solidFill>
            <a:prstDash val="dash"/>
            <a:round/>
            <a:headEnd len="sm" w="sm" type="none"/>
            <a:tailEnd len="sm" w="sm" type="none"/>
          </a:ln>
        </p:spPr>
      </p:cxnSp>
      <p:cxnSp>
        <p:nvCxnSpPr>
          <p:cNvPr id="154" name="Google Shape;154;p2"/>
          <p:cNvCxnSpPr/>
          <p:nvPr/>
        </p:nvCxnSpPr>
        <p:spPr>
          <a:xfrm>
            <a:off x="6568870" y="2982095"/>
            <a:ext cx="320100" cy="0"/>
          </a:xfrm>
          <a:prstGeom prst="straightConnector1">
            <a:avLst/>
          </a:prstGeom>
          <a:noFill/>
          <a:ln cap="flat" cmpd="sng" w="10150">
            <a:solidFill>
              <a:srgbClr val="E07B39"/>
            </a:solidFill>
            <a:prstDash val="dash"/>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
          <p:cNvSpPr/>
          <p:nvPr/>
        </p:nvSpPr>
        <p:spPr>
          <a:xfrm>
            <a:off x="0" y="0"/>
            <a:ext cx="9144000" cy="104700"/>
          </a:xfrm>
          <a:prstGeom prst="rect">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
          <p:cNvSpPr/>
          <p:nvPr/>
        </p:nvSpPr>
        <p:spPr>
          <a:xfrm>
            <a:off x="415175" y="3352500"/>
            <a:ext cx="4366200" cy="14928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3"/>
          <p:cNvSpPr/>
          <p:nvPr/>
        </p:nvSpPr>
        <p:spPr>
          <a:xfrm>
            <a:off x="253550" y="454050"/>
            <a:ext cx="6263700" cy="13269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
          <p:cNvSpPr txBox="1"/>
          <p:nvPr/>
        </p:nvSpPr>
        <p:spPr>
          <a:xfrm>
            <a:off x="415175" y="575925"/>
            <a:ext cx="2545200" cy="10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Nunito"/>
                <a:ea typeface="Nunito"/>
                <a:cs typeface="Nunito"/>
                <a:sym typeface="Nunito"/>
              </a:rPr>
              <a:t>platform.openai.com</a:t>
            </a:r>
            <a:endParaRPr b="1" i="0" sz="1500" u="none" cap="none" strike="noStrike">
              <a:solidFill>
                <a:schemeClr val="dk1"/>
              </a:solidFill>
              <a:latin typeface="Nunito"/>
              <a:ea typeface="Nunito"/>
              <a:cs typeface="Nunito"/>
              <a:sym typeface="Nunito"/>
            </a:endParaRPr>
          </a:p>
          <a:p>
            <a:pPr indent="-323850" lvl="0" marL="457200" marR="0" rtl="0" algn="l">
              <a:lnSpc>
                <a:spcPct val="100000"/>
              </a:lnSpc>
              <a:spcBef>
                <a:spcPts val="0"/>
              </a:spcBef>
              <a:spcAft>
                <a:spcPts val="0"/>
              </a:spcAft>
              <a:buClr>
                <a:schemeClr val="dk1"/>
              </a:buClr>
              <a:buSzPts val="1500"/>
              <a:buFont typeface="Nunito"/>
              <a:buChar char="●"/>
            </a:pPr>
            <a:r>
              <a:rPr b="0" i="0" lang="en" sz="1500" u="none" cap="none" strike="noStrike">
                <a:solidFill>
                  <a:schemeClr val="dk1"/>
                </a:solidFill>
                <a:latin typeface="Nunito"/>
                <a:ea typeface="Nunito"/>
                <a:cs typeface="Nunito"/>
                <a:sym typeface="Nunito"/>
              </a:rPr>
              <a:t>Account + budget</a:t>
            </a:r>
            <a:endParaRPr b="0" i="0" sz="1500" u="none" cap="none" strike="noStrike">
              <a:solidFill>
                <a:schemeClr val="dk1"/>
              </a:solidFill>
              <a:latin typeface="Nunito"/>
              <a:ea typeface="Nunito"/>
              <a:cs typeface="Nunito"/>
              <a:sym typeface="Nunito"/>
            </a:endParaRPr>
          </a:p>
          <a:p>
            <a:pPr indent="-323850" lvl="0" marL="457200" marR="0" rtl="0" algn="l">
              <a:lnSpc>
                <a:spcPct val="100000"/>
              </a:lnSpc>
              <a:spcBef>
                <a:spcPts val="0"/>
              </a:spcBef>
              <a:spcAft>
                <a:spcPts val="0"/>
              </a:spcAft>
              <a:buClr>
                <a:schemeClr val="dk1"/>
              </a:buClr>
              <a:buSzPts val="1500"/>
              <a:buFont typeface="Nunito"/>
              <a:buChar char="●"/>
            </a:pPr>
            <a:r>
              <a:rPr b="0" i="0" lang="en" sz="1500" u="none" cap="none" strike="noStrike">
                <a:solidFill>
                  <a:schemeClr val="dk1"/>
                </a:solidFill>
                <a:latin typeface="Nunito"/>
                <a:ea typeface="Nunito"/>
                <a:cs typeface="Nunito"/>
                <a:sym typeface="Nunito"/>
              </a:rPr>
              <a:t>Test in dashboard</a:t>
            </a:r>
            <a:endParaRPr b="0" i="0" sz="1500" u="none" cap="none" strike="noStrike">
              <a:solidFill>
                <a:schemeClr val="dk1"/>
              </a:solidFill>
              <a:latin typeface="Nunito"/>
              <a:ea typeface="Nunito"/>
              <a:cs typeface="Nunito"/>
              <a:sym typeface="Nunito"/>
            </a:endParaRPr>
          </a:p>
          <a:p>
            <a:pPr indent="-323850" lvl="0" marL="457200" marR="0" rtl="0" algn="l">
              <a:lnSpc>
                <a:spcPct val="100000"/>
              </a:lnSpc>
              <a:spcBef>
                <a:spcPts val="0"/>
              </a:spcBef>
              <a:spcAft>
                <a:spcPts val="0"/>
              </a:spcAft>
              <a:buClr>
                <a:schemeClr val="dk1"/>
              </a:buClr>
              <a:buSzPts val="1500"/>
              <a:buFont typeface="Nunito"/>
              <a:buChar char="●"/>
            </a:pPr>
            <a:r>
              <a:rPr b="0" i="0" lang="en" sz="1500" u="none" cap="none" strike="noStrike">
                <a:solidFill>
                  <a:schemeClr val="dk1"/>
                </a:solidFill>
                <a:latin typeface="Nunito"/>
                <a:ea typeface="Nunito"/>
                <a:cs typeface="Nunito"/>
                <a:sym typeface="Nunito"/>
              </a:rPr>
              <a:t>Generate API key</a:t>
            </a:r>
            <a:endParaRPr b="0" i="0" sz="15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Nunito"/>
              <a:ea typeface="Nunito"/>
              <a:cs typeface="Nunito"/>
              <a:sym typeface="Nunito"/>
            </a:endParaRPr>
          </a:p>
        </p:txBody>
      </p:sp>
      <p:pic>
        <p:nvPicPr>
          <p:cNvPr id="163" name="Google Shape;163;p3"/>
          <p:cNvPicPr preferRelativeResize="0"/>
          <p:nvPr/>
        </p:nvPicPr>
        <p:blipFill rotWithShape="1">
          <a:blip r:embed="rId3">
            <a:alphaModFix/>
          </a:blip>
          <a:srcRect b="0" l="21220" r="19507" t="0"/>
          <a:stretch/>
        </p:blipFill>
        <p:spPr>
          <a:xfrm>
            <a:off x="3101050" y="618525"/>
            <a:ext cx="568704" cy="539700"/>
          </a:xfrm>
          <a:prstGeom prst="rect">
            <a:avLst/>
          </a:prstGeom>
          <a:noFill/>
          <a:ln>
            <a:noFill/>
          </a:ln>
        </p:spPr>
      </p:pic>
      <p:sp>
        <p:nvSpPr>
          <p:cNvPr id="164" name="Google Shape;164;p3"/>
          <p:cNvSpPr txBox="1"/>
          <p:nvPr/>
        </p:nvSpPr>
        <p:spPr>
          <a:xfrm>
            <a:off x="3652550" y="574800"/>
            <a:ext cx="2917800" cy="10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Nunito"/>
                <a:ea typeface="Nunito"/>
                <a:cs typeface="Nunito"/>
                <a:sym typeface="Nunito"/>
              </a:rPr>
              <a:t>The same models which are behind ChatGPT are accessible in raw form via API.</a:t>
            </a:r>
            <a:endParaRPr b="0" i="0" sz="1500" u="none" cap="none" strike="noStrike">
              <a:solidFill>
                <a:schemeClr val="dk1"/>
              </a:solidFill>
              <a:latin typeface="Nunito"/>
              <a:ea typeface="Nunito"/>
              <a:cs typeface="Nunito"/>
              <a:sym typeface="Nunito"/>
            </a:endParaRPr>
          </a:p>
        </p:txBody>
      </p:sp>
      <p:pic>
        <p:nvPicPr>
          <p:cNvPr id="165" name="Google Shape;165;p3" title="laptop-icon.png"/>
          <p:cNvPicPr preferRelativeResize="0"/>
          <p:nvPr/>
        </p:nvPicPr>
        <p:blipFill rotWithShape="1">
          <a:blip r:embed="rId4">
            <a:alphaModFix/>
          </a:blip>
          <a:srcRect b="0" l="0" r="0" t="0"/>
          <a:stretch/>
        </p:blipFill>
        <p:spPr>
          <a:xfrm>
            <a:off x="523350" y="3441750"/>
            <a:ext cx="899850" cy="899850"/>
          </a:xfrm>
          <a:prstGeom prst="rect">
            <a:avLst/>
          </a:prstGeom>
          <a:noFill/>
          <a:ln>
            <a:noFill/>
          </a:ln>
        </p:spPr>
      </p:pic>
      <p:sp>
        <p:nvSpPr>
          <p:cNvPr id="166" name="Google Shape;166;p3"/>
          <p:cNvSpPr txBox="1"/>
          <p:nvPr/>
        </p:nvSpPr>
        <p:spPr>
          <a:xfrm>
            <a:off x="1423200" y="3556200"/>
            <a:ext cx="2917800" cy="10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Nunito"/>
                <a:ea typeface="Nunito"/>
                <a:cs typeface="Nunito"/>
                <a:sym typeface="Nunito"/>
              </a:rPr>
              <a:t>Our </a:t>
            </a:r>
            <a:r>
              <a:rPr b="1" i="0" lang="en" sz="1500" u="none" cap="none" strike="noStrike">
                <a:solidFill>
                  <a:schemeClr val="dk1"/>
                </a:solidFill>
                <a:latin typeface="Nunito"/>
                <a:ea typeface="Nunito"/>
                <a:cs typeface="Nunito"/>
                <a:sym typeface="Nunito"/>
              </a:rPr>
              <a:t>compute</a:t>
            </a:r>
            <a:r>
              <a:rPr b="0" i="0" lang="en" sz="1500" u="none" cap="none" strike="noStrike">
                <a:solidFill>
                  <a:schemeClr val="dk1"/>
                </a:solidFill>
                <a:latin typeface="Nunito"/>
                <a:ea typeface="Nunito"/>
                <a:cs typeface="Nunito"/>
                <a:sym typeface="Nunito"/>
              </a:rPr>
              <a:t> (laptop, server, Colab instance). We will call API via Python thanks to having the API key. </a:t>
            </a:r>
            <a:endParaRPr b="0" i="0" sz="1500" u="none" cap="none" strike="noStrike">
              <a:solidFill>
                <a:schemeClr val="dk1"/>
              </a:solidFill>
              <a:latin typeface="Nunito"/>
              <a:ea typeface="Nunito"/>
              <a:cs typeface="Nunito"/>
              <a:sym typeface="Nunito"/>
            </a:endParaRPr>
          </a:p>
        </p:txBody>
      </p:sp>
      <p:sp>
        <p:nvSpPr>
          <p:cNvPr id="167" name="Google Shape;167;p3"/>
          <p:cNvSpPr/>
          <p:nvPr/>
        </p:nvSpPr>
        <p:spPr>
          <a:xfrm>
            <a:off x="1215804" y="1884875"/>
            <a:ext cx="338950" cy="1416325"/>
          </a:xfrm>
          <a:custGeom>
            <a:rect b="b" l="l" r="r" t="t"/>
            <a:pathLst>
              <a:path extrusionOk="0" h="56653" w="13558">
                <a:moveTo>
                  <a:pt x="354" y="0"/>
                </a:moveTo>
                <a:cubicBezTo>
                  <a:pt x="354" y="14642"/>
                  <a:pt x="-1061" y="29668"/>
                  <a:pt x="2484" y="43875"/>
                </a:cubicBezTo>
                <a:cubicBezTo>
                  <a:pt x="3849" y="49344"/>
                  <a:pt x="9571" y="52670"/>
                  <a:pt x="13559" y="56653"/>
                </a:cubicBezTo>
              </a:path>
            </a:pathLst>
          </a:cu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txBox="1"/>
          <p:nvPr/>
        </p:nvSpPr>
        <p:spPr>
          <a:xfrm>
            <a:off x="1150075" y="2353125"/>
            <a:ext cx="1546200" cy="4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1" lang="en" sz="1500" u="none" cap="none" strike="noStrike">
                <a:solidFill>
                  <a:schemeClr val="dk1"/>
                </a:solidFill>
                <a:latin typeface="Nunito"/>
                <a:ea typeface="Nunito"/>
                <a:cs typeface="Nunito"/>
                <a:sym typeface="Nunito"/>
              </a:rPr>
              <a:t>Bring API key.</a:t>
            </a:r>
            <a:endParaRPr b="0" i="1" sz="1500" u="none" cap="none" strike="noStrike">
              <a:solidFill>
                <a:schemeClr val="dk1"/>
              </a:solidFill>
              <a:latin typeface="Nunito"/>
              <a:ea typeface="Nunito"/>
              <a:cs typeface="Nunito"/>
              <a:sym typeface="Nunito"/>
            </a:endParaRPr>
          </a:p>
        </p:txBody>
      </p:sp>
      <p:sp>
        <p:nvSpPr>
          <p:cNvPr id="169" name="Google Shape;169;p3"/>
          <p:cNvSpPr/>
          <p:nvPr/>
        </p:nvSpPr>
        <p:spPr>
          <a:xfrm>
            <a:off x="2779400" y="1869213"/>
            <a:ext cx="1001000" cy="1395025"/>
          </a:xfrm>
          <a:custGeom>
            <a:rect b="b" l="l" r="r" t="t"/>
            <a:pathLst>
              <a:path extrusionOk="0" h="55801" w="40040">
                <a:moveTo>
                  <a:pt x="0" y="55801"/>
                </a:moveTo>
                <a:cubicBezTo>
                  <a:pt x="0" y="32908"/>
                  <a:pt x="19564" y="10238"/>
                  <a:pt x="40040" y="0"/>
                </a:cubicBezTo>
              </a:path>
            </a:pathLst>
          </a:cu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txBox="1"/>
          <p:nvPr/>
        </p:nvSpPr>
        <p:spPr>
          <a:xfrm>
            <a:off x="2960375" y="2481850"/>
            <a:ext cx="2094600" cy="78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1" lang="en" sz="1500" u="none" cap="none" strike="noStrike">
                <a:solidFill>
                  <a:schemeClr val="dk1"/>
                </a:solidFill>
                <a:latin typeface="Nunito"/>
                <a:ea typeface="Nunito"/>
                <a:cs typeface="Nunito"/>
                <a:sym typeface="Nunito"/>
              </a:rPr>
              <a:t>Call model with text prompt like: “Hey what are you?”</a:t>
            </a:r>
            <a:endParaRPr b="0" i="1" sz="1500" u="none" cap="none" strike="noStrike">
              <a:solidFill>
                <a:schemeClr val="dk1"/>
              </a:solidFill>
              <a:latin typeface="Nunito"/>
              <a:ea typeface="Nunito"/>
              <a:cs typeface="Nunito"/>
              <a:sym typeface="Nunito"/>
            </a:endParaRPr>
          </a:p>
        </p:txBody>
      </p:sp>
      <p:sp>
        <p:nvSpPr>
          <p:cNvPr id="171" name="Google Shape;171;p3"/>
          <p:cNvSpPr/>
          <p:nvPr/>
        </p:nvSpPr>
        <p:spPr>
          <a:xfrm rot="10800000">
            <a:off x="4781375" y="1869200"/>
            <a:ext cx="1001000" cy="1395025"/>
          </a:xfrm>
          <a:custGeom>
            <a:rect b="b" l="l" r="r" t="t"/>
            <a:pathLst>
              <a:path extrusionOk="0" h="55801" w="40040">
                <a:moveTo>
                  <a:pt x="0" y="55801"/>
                </a:moveTo>
                <a:cubicBezTo>
                  <a:pt x="0" y="32908"/>
                  <a:pt x="19564" y="10238"/>
                  <a:pt x="40040" y="0"/>
                </a:cubicBezTo>
              </a:path>
            </a:pathLst>
          </a:cu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txBox="1"/>
          <p:nvPr/>
        </p:nvSpPr>
        <p:spPr>
          <a:xfrm>
            <a:off x="5924150" y="1931400"/>
            <a:ext cx="2094600" cy="78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1" lang="en" sz="1500" u="none" cap="none" strike="noStrike">
                <a:solidFill>
                  <a:schemeClr val="dk1"/>
                </a:solidFill>
                <a:latin typeface="Nunito"/>
                <a:ea typeface="Nunito"/>
                <a:cs typeface="Nunito"/>
                <a:sym typeface="Nunito"/>
              </a:rPr>
              <a:t>Receive response like: “I am an LLM built by OpenAI…”</a:t>
            </a:r>
            <a:endParaRPr b="0" i="1" sz="1500" u="none" cap="none" strike="noStrike">
              <a:solidFill>
                <a:schemeClr val="dk1"/>
              </a:solidFill>
              <a:latin typeface="Nunito"/>
              <a:ea typeface="Nunito"/>
              <a:cs typeface="Nunito"/>
              <a:sym typeface="Nunito"/>
            </a:endParaRPr>
          </a:p>
        </p:txBody>
      </p:sp>
      <p:sp>
        <p:nvSpPr>
          <p:cNvPr id="173" name="Google Shape;173;p3"/>
          <p:cNvSpPr/>
          <p:nvPr/>
        </p:nvSpPr>
        <p:spPr>
          <a:xfrm>
            <a:off x="4781375" y="3352475"/>
            <a:ext cx="4284300" cy="14928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
          <p:cNvSpPr txBox="1"/>
          <p:nvPr/>
        </p:nvSpPr>
        <p:spPr>
          <a:xfrm>
            <a:off x="5100950" y="3397050"/>
            <a:ext cx="3716400" cy="124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Nunito"/>
                <a:ea typeface="Nunito"/>
                <a:cs typeface="Nunito"/>
                <a:sym typeface="Nunito"/>
              </a:rPr>
              <a:t>Thanks to this raw and programmatic access, we have much more freedom with these models! Custom functions, access to other systems, loops and much more gives us the power to build apps.  </a:t>
            </a:r>
            <a:endParaRPr b="0" i="0" sz="1500" u="none" cap="none" strike="noStrike">
              <a:solidFill>
                <a:schemeClr val="dk1"/>
              </a:solidFill>
              <a:latin typeface="Nunito"/>
              <a:ea typeface="Nunito"/>
              <a:cs typeface="Nunito"/>
              <a:sym typeface="Nunito"/>
            </a:endParaRPr>
          </a:p>
        </p:txBody>
      </p:sp>
      <p:sp>
        <p:nvSpPr>
          <p:cNvPr id="175" name="Google Shape;175;p3"/>
          <p:cNvSpPr txBox="1"/>
          <p:nvPr/>
        </p:nvSpPr>
        <p:spPr>
          <a:xfrm>
            <a:off x="6772800" y="454050"/>
            <a:ext cx="2186400" cy="6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dk1"/>
                </a:solidFill>
                <a:latin typeface="Nunito"/>
                <a:ea typeface="Nunito"/>
                <a:cs typeface="Nunito"/>
                <a:sym typeface="Nunito"/>
              </a:rPr>
              <a:t>Billed per token, not monthly subscription.</a:t>
            </a:r>
            <a:endParaRPr b="1" i="0" sz="1500" u="none" cap="none" strike="noStrike">
              <a:solidFill>
                <a:schemeClr val="dk1"/>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4"/>
          <p:cNvSpPr/>
          <p:nvPr/>
        </p:nvSpPr>
        <p:spPr>
          <a:xfrm>
            <a:off x="0" y="0"/>
            <a:ext cx="9144000" cy="104700"/>
          </a:xfrm>
          <a:prstGeom prst="rect">
            <a:avLst/>
          </a:prstGeom>
          <a:solidFill>
            <a:srgbClr val="EAD1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4"/>
          <p:cNvSpPr/>
          <p:nvPr/>
        </p:nvSpPr>
        <p:spPr>
          <a:xfrm>
            <a:off x="415175" y="3352500"/>
            <a:ext cx="4366200" cy="14928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4"/>
          <p:cNvSpPr/>
          <p:nvPr/>
        </p:nvSpPr>
        <p:spPr>
          <a:xfrm>
            <a:off x="253550" y="454050"/>
            <a:ext cx="6263700" cy="13269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4"/>
          <p:cNvSpPr txBox="1"/>
          <p:nvPr/>
        </p:nvSpPr>
        <p:spPr>
          <a:xfrm>
            <a:off x="415175" y="575925"/>
            <a:ext cx="2545200" cy="10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Nunito"/>
              <a:ea typeface="Nunito"/>
              <a:cs typeface="Nunito"/>
              <a:sym typeface="Nunito"/>
            </a:endParaRPr>
          </a:p>
          <a:p>
            <a:pPr indent="-323850" lvl="0" marL="457200" marR="0" rtl="0" algn="l">
              <a:lnSpc>
                <a:spcPct val="100000"/>
              </a:lnSpc>
              <a:spcBef>
                <a:spcPts val="0"/>
              </a:spcBef>
              <a:spcAft>
                <a:spcPts val="0"/>
              </a:spcAft>
              <a:buClr>
                <a:schemeClr val="dk1"/>
              </a:buClr>
              <a:buSzPts val="1500"/>
              <a:buFont typeface="Nunito"/>
              <a:buChar char="●"/>
            </a:pPr>
            <a:r>
              <a:rPr b="0" i="0" lang="en" sz="1500" u="none" cap="none" strike="noStrike">
                <a:solidFill>
                  <a:schemeClr val="dk1"/>
                </a:solidFill>
                <a:latin typeface="Nunito"/>
                <a:ea typeface="Nunito"/>
                <a:cs typeface="Nunito"/>
                <a:sym typeface="Nunito"/>
              </a:rPr>
              <a:t>Account</a:t>
            </a:r>
            <a:endParaRPr b="0" i="0" sz="1500" u="none" cap="none" strike="noStrike">
              <a:solidFill>
                <a:schemeClr val="dk1"/>
              </a:solidFill>
              <a:latin typeface="Nunito"/>
              <a:ea typeface="Nunito"/>
              <a:cs typeface="Nunito"/>
              <a:sym typeface="Nunito"/>
            </a:endParaRPr>
          </a:p>
          <a:p>
            <a:pPr indent="-323850" lvl="0" marL="457200" marR="0" rtl="0" algn="l">
              <a:lnSpc>
                <a:spcPct val="100000"/>
              </a:lnSpc>
              <a:spcBef>
                <a:spcPts val="0"/>
              </a:spcBef>
              <a:spcAft>
                <a:spcPts val="0"/>
              </a:spcAft>
              <a:buClr>
                <a:schemeClr val="dk1"/>
              </a:buClr>
              <a:buSzPts val="1500"/>
              <a:buFont typeface="Nunito"/>
              <a:buChar char="●"/>
            </a:pPr>
            <a:r>
              <a:rPr b="0" i="0" lang="en" sz="1500" u="none" cap="none" strike="noStrike">
                <a:solidFill>
                  <a:schemeClr val="dk1"/>
                </a:solidFill>
                <a:latin typeface="Nunito"/>
                <a:ea typeface="Nunito"/>
                <a:cs typeface="Nunito"/>
                <a:sym typeface="Nunito"/>
              </a:rPr>
              <a:t>Test in Spaces</a:t>
            </a:r>
            <a:endParaRPr b="0" i="0" sz="1500" u="none" cap="none" strike="noStrike">
              <a:solidFill>
                <a:schemeClr val="dk1"/>
              </a:solidFill>
              <a:latin typeface="Nunito"/>
              <a:ea typeface="Nunito"/>
              <a:cs typeface="Nunito"/>
              <a:sym typeface="Nunito"/>
            </a:endParaRPr>
          </a:p>
          <a:p>
            <a:pPr indent="-323850" lvl="0" marL="457200" marR="0" rtl="0" algn="l">
              <a:lnSpc>
                <a:spcPct val="100000"/>
              </a:lnSpc>
              <a:spcBef>
                <a:spcPts val="0"/>
              </a:spcBef>
              <a:spcAft>
                <a:spcPts val="0"/>
              </a:spcAft>
              <a:buClr>
                <a:schemeClr val="dk1"/>
              </a:buClr>
              <a:buSzPts val="1500"/>
              <a:buFont typeface="Nunito"/>
              <a:buChar char="●"/>
            </a:pPr>
            <a:r>
              <a:rPr b="0" i="0" lang="en" sz="1500" u="none" cap="none" strike="noStrike">
                <a:solidFill>
                  <a:schemeClr val="dk1"/>
                </a:solidFill>
                <a:latin typeface="Nunito"/>
                <a:ea typeface="Nunito"/>
                <a:cs typeface="Nunito"/>
                <a:sym typeface="Nunito"/>
              </a:rPr>
              <a:t>Generate API key</a:t>
            </a:r>
            <a:endParaRPr b="0" i="0" sz="15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Nunito"/>
              <a:ea typeface="Nunito"/>
              <a:cs typeface="Nunito"/>
              <a:sym typeface="Nunito"/>
            </a:endParaRPr>
          </a:p>
        </p:txBody>
      </p:sp>
      <p:pic>
        <p:nvPicPr>
          <p:cNvPr id="184" name="Google Shape;184;p4"/>
          <p:cNvPicPr preferRelativeResize="0"/>
          <p:nvPr/>
        </p:nvPicPr>
        <p:blipFill rotWithShape="1">
          <a:blip r:embed="rId3">
            <a:alphaModFix/>
          </a:blip>
          <a:srcRect b="0" l="21220" r="19507" t="0"/>
          <a:stretch/>
        </p:blipFill>
        <p:spPr>
          <a:xfrm>
            <a:off x="3101050" y="618525"/>
            <a:ext cx="450156" cy="427199"/>
          </a:xfrm>
          <a:prstGeom prst="rect">
            <a:avLst/>
          </a:prstGeom>
          <a:noFill/>
          <a:ln>
            <a:noFill/>
          </a:ln>
        </p:spPr>
      </p:pic>
      <p:sp>
        <p:nvSpPr>
          <p:cNvPr id="185" name="Google Shape;185;p4"/>
          <p:cNvSpPr txBox="1"/>
          <p:nvPr/>
        </p:nvSpPr>
        <p:spPr>
          <a:xfrm>
            <a:off x="3652550" y="574800"/>
            <a:ext cx="2917800" cy="10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Nunito"/>
                <a:ea typeface="Nunito"/>
                <a:cs typeface="Nunito"/>
                <a:sym typeface="Nunito"/>
              </a:rPr>
              <a:t>OpenAI and other vendors are publishing open-weights versions of their models that we can freely work with.</a:t>
            </a:r>
            <a:endParaRPr b="0" i="0" sz="1500" u="none" cap="none" strike="noStrike">
              <a:solidFill>
                <a:schemeClr val="dk1"/>
              </a:solidFill>
              <a:latin typeface="Nunito"/>
              <a:ea typeface="Nunito"/>
              <a:cs typeface="Nunito"/>
              <a:sym typeface="Nunito"/>
            </a:endParaRPr>
          </a:p>
        </p:txBody>
      </p:sp>
      <p:pic>
        <p:nvPicPr>
          <p:cNvPr id="186" name="Google Shape;186;p4" title="laptop-icon.png"/>
          <p:cNvPicPr preferRelativeResize="0"/>
          <p:nvPr/>
        </p:nvPicPr>
        <p:blipFill rotWithShape="1">
          <a:blip r:embed="rId4">
            <a:alphaModFix/>
          </a:blip>
          <a:srcRect b="0" l="0" r="0" t="0"/>
          <a:stretch/>
        </p:blipFill>
        <p:spPr>
          <a:xfrm>
            <a:off x="523350" y="3441750"/>
            <a:ext cx="899850" cy="899850"/>
          </a:xfrm>
          <a:prstGeom prst="rect">
            <a:avLst/>
          </a:prstGeom>
          <a:noFill/>
          <a:ln>
            <a:noFill/>
          </a:ln>
        </p:spPr>
      </p:pic>
      <p:sp>
        <p:nvSpPr>
          <p:cNvPr id="187" name="Google Shape;187;p4"/>
          <p:cNvSpPr txBox="1"/>
          <p:nvPr/>
        </p:nvSpPr>
        <p:spPr>
          <a:xfrm>
            <a:off x="1423200" y="3556200"/>
            <a:ext cx="3148800" cy="10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Nunito"/>
                <a:ea typeface="Nunito"/>
                <a:cs typeface="Nunito"/>
                <a:sym typeface="Nunito"/>
              </a:rPr>
              <a:t>Our </a:t>
            </a:r>
            <a:r>
              <a:rPr b="1" i="0" lang="en" sz="1500" u="none" cap="none" strike="noStrike">
                <a:solidFill>
                  <a:schemeClr val="dk1"/>
                </a:solidFill>
                <a:latin typeface="Nunito"/>
                <a:ea typeface="Nunito"/>
                <a:cs typeface="Nunito"/>
                <a:sym typeface="Nunito"/>
              </a:rPr>
              <a:t>compute</a:t>
            </a:r>
            <a:r>
              <a:rPr b="0" i="0" lang="en" sz="1500" u="none" cap="none" strike="noStrike">
                <a:solidFill>
                  <a:schemeClr val="dk1"/>
                </a:solidFill>
                <a:latin typeface="Nunito"/>
                <a:ea typeface="Nunito"/>
                <a:cs typeface="Nunito"/>
                <a:sym typeface="Nunito"/>
              </a:rPr>
              <a:t> (laptop, server, Colab instance). We will host both the model and (optionally) also the app that we want to build.</a:t>
            </a:r>
            <a:endParaRPr b="0" i="0" sz="1500" u="none" cap="none" strike="noStrike">
              <a:solidFill>
                <a:schemeClr val="dk1"/>
              </a:solidFill>
              <a:latin typeface="Nunito"/>
              <a:ea typeface="Nunito"/>
              <a:cs typeface="Nunito"/>
              <a:sym typeface="Nunito"/>
            </a:endParaRPr>
          </a:p>
        </p:txBody>
      </p:sp>
      <p:sp>
        <p:nvSpPr>
          <p:cNvPr id="188" name="Google Shape;188;p4"/>
          <p:cNvSpPr/>
          <p:nvPr/>
        </p:nvSpPr>
        <p:spPr>
          <a:xfrm>
            <a:off x="1215804" y="1884875"/>
            <a:ext cx="338950" cy="1416325"/>
          </a:xfrm>
          <a:custGeom>
            <a:rect b="b" l="l" r="r" t="t"/>
            <a:pathLst>
              <a:path extrusionOk="0" h="56653" w="13558">
                <a:moveTo>
                  <a:pt x="354" y="0"/>
                </a:moveTo>
                <a:cubicBezTo>
                  <a:pt x="354" y="14642"/>
                  <a:pt x="-1061" y="29668"/>
                  <a:pt x="2484" y="43875"/>
                </a:cubicBezTo>
                <a:cubicBezTo>
                  <a:pt x="3849" y="49344"/>
                  <a:pt x="9571" y="52670"/>
                  <a:pt x="13559" y="56653"/>
                </a:cubicBezTo>
              </a:path>
            </a:pathLst>
          </a:cu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4"/>
          <p:cNvSpPr txBox="1"/>
          <p:nvPr/>
        </p:nvSpPr>
        <p:spPr>
          <a:xfrm>
            <a:off x="1150075" y="2353125"/>
            <a:ext cx="1546200" cy="4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1" lang="en" sz="1500" u="none" cap="none" strike="noStrike">
                <a:solidFill>
                  <a:schemeClr val="dk1"/>
                </a:solidFill>
                <a:latin typeface="Nunito"/>
                <a:ea typeface="Nunito"/>
                <a:cs typeface="Nunito"/>
                <a:sym typeface="Nunito"/>
              </a:rPr>
              <a:t>Bring API key.</a:t>
            </a:r>
            <a:endParaRPr b="0" i="1" sz="1500" u="none" cap="none" strike="noStrike">
              <a:solidFill>
                <a:schemeClr val="dk1"/>
              </a:solidFill>
              <a:latin typeface="Nunito"/>
              <a:ea typeface="Nunito"/>
              <a:cs typeface="Nunito"/>
              <a:sym typeface="Nunito"/>
            </a:endParaRPr>
          </a:p>
        </p:txBody>
      </p:sp>
      <p:sp>
        <p:nvSpPr>
          <p:cNvPr id="190" name="Google Shape;190;p4"/>
          <p:cNvSpPr/>
          <p:nvPr/>
        </p:nvSpPr>
        <p:spPr>
          <a:xfrm>
            <a:off x="2779400" y="1869213"/>
            <a:ext cx="1001000" cy="1395025"/>
          </a:xfrm>
          <a:custGeom>
            <a:rect b="b" l="l" r="r" t="t"/>
            <a:pathLst>
              <a:path extrusionOk="0" h="55801" w="40040">
                <a:moveTo>
                  <a:pt x="0" y="55801"/>
                </a:moveTo>
                <a:cubicBezTo>
                  <a:pt x="0" y="32908"/>
                  <a:pt x="19564" y="10238"/>
                  <a:pt x="40040" y="0"/>
                </a:cubicBezTo>
              </a:path>
            </a:pathLst>
          </a:cu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
          <p:cNvSpPr txBox="1"/>
          <p:nvPr/>
        </p:nvSpPr>
        <p:spPr>
          <a:xfrm>
            <a:off x="2960375" y="2481850"/>
            <a:ext cx="2094600" cy="78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1" lang="en" sz="1500" u="none" cap="none" strike="noStrike">
                <a:solidFill>
                  <a:schemeClr val="dk1"/>
                </a:solidFill>
                <a:latin typeface="Nunito"/>
                <a:ea typeface="Nunito"/>
                <a:cs typeface="Nunito"/>
                <a:sym typeface="Nunito"/>
              </a:rPr>
              <a:t>Download model gpt-oss-20b</a:t>
            </a:r>
            <a:endParaRPr b="0" i="1" sz="1500" u="none" cap="none" strike="noStrike">
              <a:solidFill>
                <a:schemeClr val="dk1"/>
              </a:solidFill>
              <a:latin typeface="Nunito"/>
              <a:ea typeface="Nunito"/>
              <a:cs typeface="Nunito"/>
              <a:sym typeface="Nunito"/>
            </a:endParaRPr>
          </a:p>
        </p:txBody>
      </p:sp>
      <p:sp>
        <p:nvSpPr>
          <p:cNvPr id="192" name="Google Shape;192;p4"/>
          <p:cNvSpPr/>
          <p:nvPr/>
        </p:nvSpPr>
        <p:spPr>
          <a:xfrm rot="10800000">
            <a:off x="4781375" y="1869200"/>
            <a:ext cx="1001000" cy="1395025"/>
          </a:xfrm>
          <a:custGeom>
            <a:rect b="b" l="l" r="r" t="t"/>
            <a:pathLst>
              <a:path extrusionOk="0" h="55801" w="40040">
                <a:moveTo>
                  <a:pt x="0" y="55801"/>
                </a:moveTo>
                <a:cubicBezTo>
                  <a:pt x="0" y="32908"/>
                  <a:pt x="19564" y="10238"/>
                  <a:pt x="40040" y="0"/>
                </a:cubicBezTo>
              </a:path>
            </a:pathLst>
          </a:cu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4"/>
          <p:cNvSpPr txBox="1"/>
          <p:nvPr/>
        </p:nvSpPr>
        <p:spPr>
          <a:xfrm>
            <a:off x="5924150" y="1931400"/>
            <a:ext cx="2094600" cy="78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1" lang="en" sz="1500" u="none" cap="none" strike="noStrike">
                <a:solidFill>
                  <a:schemeClr val="dk1"/>
                </a:solidFill>
                <a:latin typeface="Nunito"/>
                <a:ea typeface="Nunito"/>
                <a:cs typeface="Nunito"/>
                <a:sym typeface="Nunito"/>
              </a:rPr>
              <a:t>Download the model (e.g. 20GB s)</a:t>
            </a:r>
            <a:endParaRPr b="0" i="1" sz="1500" u="none" cap="none" strike="noStrike">
              <a:solidFill>
                <a:schemeClr val="dk1"/>
              </a:solidFill>
              <a:latin typeface="Nunito"/>
              <a:ea typeface="Nunito"/>
              <a:cs typeface="Nunito"/>
              <a:sym typeface="Nunito"/>
            </a:endParaRPr>
          </a:p>
        </p:txBody>
      </p:sp>
      <p:sp>
        <p:nvSpPr>
          <p:cNvPr id="194" name="Google Shape;194;p4"/>
          <p:cNvSpPr/>
          <p:nvPr/>
        </p:nvSpPr>
        <p:spPr>
          <a:xfrm>
            <a:off x="4781375" y="3352475"/>
            <a:ext cx="4284300" cy="14928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4"/>
          <p:cNvSpPr txBox="1"/>
          <p:nvPr/>
        </p:nvSpPr>
        <p:spPr>
          <a:xfrm>
            <a:off x="5100950" y="3397050"/>
            <a:ext cx="3716400" cy="124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Nunito"/>
                <a:ea typeface="Nunito"/>
                <a:cs typeface="Nunito"/>
                <a:sym typeface="Nunito"/>
              </a:rPr>
              <a:t>We have all the freedom! Once the download is finished, our data don't have to leave our machine!</a:t>
            </a:r>
            <a:endParaRPr b="0" i="0" sz="1500" u="none" cap="none" strike="noStrike">
              <a:solidFill>
                <a:schemeClr val="dk1"/>
              </a:solidFill>
              <a:latin typeface="Nunito"/>
              <a:ea typeface="Nunito"/>
              <a:cs typeface="Nunito"/>
              <a:sym typeface="Nunito"/>
            </a:endParaRPr>
          </a:p>
        </p:txBody>
      </p:sp>
      <p:sp>
        <p:nvSpPr>
          <p:cNvPr id="196" name="Google Shape;196;p4"/>
          <p:cNvSpPr txBox="1"/>
          <p:nvPr/>
        </p:nvSpPr>
        <p:spPr>
          <a:xfrm>
            <a:off x="6772800" y="454050"/>
            <a:ext cx="2186400" cy="6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dk1"/>
                </a:solidFill>
                <a:latin typeface="Nunito"/>
                <a:ea typeface="Nunito"/>
                <a:cs typeface="Nunito"/>
                <a:sym typeface="Nunito"/>
              </a:rPr>
              <a:t>The cost is in the necessary hardware for our compute.</a:t>
            </a:r>
            <a:endParaRPr b="1" i="0" sz="1500" u="none" cap="none" strike="noStrike">
              <a:solidFill>
                <a:schemeClr val="dk1"/>
              </a:solidFill>
              <a:latin typeface="Nunito"/>
              <a:ea typeface="Nunito"/>
              <a:cs typeface="Nunito"/>
              <a:sym typeface="Nunito"/>
            </a:endParaRPr>
          </a:p>
        </p:txBody>
      </p:sp>
      <p:pic>
        <p:nvPicPr>
          <p:cNvPr id="197" name="Google Shape;197;p4"/>
          <p:cNvPicPr preferRelativeResize="0"/>
          <p:nvPr/>
        </p:nvPicPr>
        <p:blipFill rotWithShape="1">
          <a:blip r:embed="rId5">
            <a:alphaModFix/>
          </a:blip>
          <a:srcRect b="0" l="0" r="0" t="0"/>
          <a:stretch/>
        </p:blipFill>
        <p:spPr>
          <a:xfrm>
            <a:off x="626350" y="454050"/>
            <a:ext cx="1607001" cy="427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